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a099af05ec4e0b" /><Relationship Type="http://schemas.openxmlformats.org/officeDocument/2006/relationships/extended-properties" Target="/docProps/app.xml" Id="R3a51b0b13d2c44a3" /><Relationship Type="http://schemas.openxmlformats.org/officeDocument/2006/relationships/officeDocument" Target="/ppt/presentation.xml" Id="R9b51c307819047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edd54f277646bc"/>
  </p:sldMasterIdLst>
  <p:notesMasterIdLst>
    <p:notesMasterId xmlns:r="http://schemas.openxmlformats.org/officeDocument/2006/relationships" r:id="R76875e598d8b4293"/>
  </p:notesMasterIdLst>
  <p:sldIdLst>
    <p:sldId xmlns:r="http://schemas.openxmlformats.org/officeDocument/2006/relationships" id="256" r:id="R52a36d7ee40e4eb7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82d4b3fcfe4fef" /><Relationship Type="http://schemas.openxmlformats.org/officeDocument/2006/relationships/slideMaster" Target="/ppt/slideMasters/slideMaster1.xml" Id="R76edd54f277646bc" /><Relationship Type="http://schemas.openxmlformats.org/officeDocument/2006/relationships/notesMaster" Target="/ppt/notesMasters/notesMaster1.xml" Id="R76875e598d8b4293" /><Relationship Type="http://schemas.openxmlformats.org/officeDocument/2006/relationships/presProps" Target="/ppt/presProps.xml" Id="R52a95e8451524155" /><Relationship Type="http://schemas.openxmlformats.org/officeDocument/2006/relationships/tableStyles" Target="/ppt/tableStyles.xml" Id="Rcb9dbd37c87b4011" /><Relationship Type="http://schemas.openxmlformats.org/officeDocument/2006/relationships/slide" Target="/ppt/slides/slide1.xml" Id="R52a36d7ee40e4e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0a9370221e42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746b0602b14a13" /><Relationship Type="http://schemas.openxmlformats.org/officeDocument/2006/relationships/notesMaster" Target="/ppt/notesMasters/notesMaster1.xml" Id="Rfaa1d42b1c4044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local research paper and completed experiment metrics (output/poster-narrative-3). Logo: https://www.uni-trier.de/typo3conf/ext/zimktheme_unitrier/Resources/Public/Logos/Logo_Universitaet.svg . References: https://arxiv.org/abs/2005.11401 ; https://arxiv.org/abs/2408.10343 ; https://doi.org/10.18653/v1/2023.emnlp-main.398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fe4b75909c4f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9124f42f2c4907" /><Relationship Type="http://schemas.openxmlformats.org/officeDocument/2006/relationships/slideLayout" Target="/ppt/slideLayouts/slideLayout1.xml" Id="R02cf64c404e54a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cf64c404e54a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bd592c20b4357" /><Relationship Type="http://schemas.openxmlformats.org/officeDocument/2006/relationships/image" Target="/ppt/media/image.png" Id="Rd4eb76f49c344548" /><Relationship Type="http://schemas.openxmlformats.org/officeDocument/2006/relationships/image" Target="/ppt/media/image.svg" Id="R916aedd61a074cfc" /><Relationship Type="http://schemas.openxmlformats.org/officeDocument/2006/relationships/image" Target="/ppt/media/image2.png" Id="R86284fc567444c2a" /><Relationship Type="http://schemas.openxmlformats.org/officeDocument/2006/relationships/image" Target="/ppt/media/image2.svg" Id="R2526bf30296e4a0e" /><Relationship Type="http://schemas.openxmlformats.org/officeDocument/2006/relationships/image" Target="/ppt/media/image3.png" Id="R6ad5d098b80f4167" /><Relationship Type="http://schemas.openxmlformats.org/officeDocument/2006/relationships/image" Target="/ppt/media/image3.svg" Id="R9f67cc8da3a84c4c" /><Relationship Type="http://schemas.openxmlformats.org/officeDocument/2006/relationships/notesSlide" Target="/ppt/notesSlides/notesSlide1.xml" Id="R90494c16f96a48af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6" name="Rule section-title" descr="s0">
            <a:extLst>
              <a:ext uri="{FF2B5EF4-FFF2-40B4-BE49-F238E27FC236}">
                <ns2:creationId id="{9AF8DE91-AD7B-4970-B87B-03BEA995C971}"/>
              </a:ext>
            </a:extLst>
          </p:cNvPr>
          <p:cNvSpPr>
            <a:spLocks noGrp="1"/>
          </p:cNvSpPr>
          <p:nvPr/>
        </p:nvSpPr>
        <p:spPr>
          <a:xfrm>
            <a:off x="647998" y="3088779"/>
            <a:ext cx="20087927" cy="28575"/>
          </a:xfrm>
          <a:prstGeom prst="rect">
            <a:avLst/>
          </a:prstGeom>
          <a:solidFill>
            <a:srgbClr val="0069AA"/>
          </a:solidFill>
          <a:ln w="0">
            <a:noFill/>
          </a:ln>
        </p:spPr>
      </p:sp>
      <p:sp>
        <p:nvSpPr>
          <p:cNvPr id="2" name="Panel hypothesis" descr="s1">
            <a:extLst>
              <a:ext uri="{FF2B5EF4-FFF2-40B4-BE49-F238E27FC236}">
                <ns2:creationId id="{1E1A1023-713E-427D-838C-CF621D741360}"/>
              </a:ext>
            </a:extLst>
          </p:cNvPr>
          <p:cNvSpPr>
            <a:spLocks noGrp="1"/>
          </p:cNvSpPr>
          <p:nvPr/>
        </p:nvSpPr>
        <p:spPr>
          <a:xfrm>
            <a:off x="10999887" y="3805535"/>
            <a:ext cx="9736038" cy="1730425"/>
          </a:xfrm>
          <a:prstGeom prst="rect">
            <a:avLst/>
          </a:prstGeom>
          <a:solidFill>
            <a:srgbClr val="EFF6FA"/>
          </a:solidFill>
          <a:ln w="0">
            <a:noFill/>
          </a:ln>
        </p:spPr>
      </p:sp>
      <p:sp>
        <p:nvSpPr>
          <p:cNvPr id="3" name="Rule hypothesis" descr="s2">
            <a:extLst>
              <a:ext uri="{FF2B5EF4-FFF2-40B4-BE49-F238E27FC236}">
                <ns2:creationId id="{2877F9C9-E23A-47DA-A496-5C56F97B2CBD}"/>
              </a:ext>
            </a:extLst>
          </p:cNvPr>
          <p:cNvSpPr>
            <a:spLocks noGrp="1"/>
          </p:cNvSpPr>
          <p:nvPr/>
        </p:nvSpPr>
        <p:spPr>
          <a:xfrm>
            <a:off x="10999887" y="3805535"/>
            <a:ext cx="47625" cy="1730425"/>
          </a:xfrm>
          <a:prstGeom prst="rect">
            <a:avLst/>
          </a:prstGeom>
          <a:solidFill>
            <a:srgbClr val="007AC3"/>
          </a:solidFill>
          <a:ln w="0">
            <a:noFill/>
          </a:ln>
        </p:spPr>
      </p:sp>
      <p:sp>
        <p:nvSpPr>
          <p:cNvPr id="4" name="Rule section-title" descr="s3">
            <a:extLst>
              <a:ext uri="{FF2B5EF4-FFF2-40B4-BE49-F238E27FC236}">
                <ns2:creationId id="{86183CFB-1847-48AF-ACC7-3DA8AA103A3E}"/>
              </a:ext>
            </a:extLst>
          </p:cNvPr>
          <p:cNvSpPr>
            <a:spLocks noGrp="1"/>
          </p:cNvSpPr>
          <p:nvPr/>
        </p:nvSpPr>
        <p:spPr>
          <a:xfrm>
            <a:off x="647998" y="6153448"/>
            <a:ext cx="20087927" cy="28575"/>
          </a:xfrm>
          <a:prstGeom prst="rect">
            <a:avLst/>
          </a:prstGeom>
          <a:solidFill>
            <a:srgbClr val="0069AA"/>
          </a:solidFill>
          <a:ln w="0">
            <a:noFill/>
          </a:ln>
        </p:spPr>
      </p:sp>
      <p:sp>
        <p:nvSpPr>
          <p:cNvPr id="5" name="Panel baseline" descr="s4">
            <a:extLst>
              <a:ext uri="{FF2B5EF4-FFF2-40B4-BE49-F238E27FC236}">
                <ns2:creationId id="{F8D1BD05-16AB-4C7F-807C-1801C6D60674}"/>
              </a:ext>
            </a:extLst>
          </p:cNvPr>
          <p:cNvSpPr>
            <a:spLocks noGrp="1"/>
          </p:cNvSpPr>
          <p:nvPr/>
        </p:nvSpPr>
        <p:spPr>
          <a:xfrm>
            <a:off x="647998" y="6870204"/>
            <a:ext cx="20087927" cy="617488"/>
          </a:xfrm>
          <a:prstGeom prst="rect">
            <a:avLst/>
          </a:prstGeom>
          <a:solidFill>
            <a:srgbClr val="EFF6FA"/>
          </a:solidFill>
          <a:ln w="0">
            <a:noFill/>
          </a:ln>
        </p:spPr>
      </p:sp>
      <p:sp>
        <p:nvSpPr>
          <p:cNvPr id="6" name="Rule models" descr="s5">
            <a:extLst>
              <a:ext uri="{FF2B5EF4-FFF2-40B4-BE49-F238E27FC236}">
                <ns2:creationId id="{7DAFC90F-5454-4960-A920-11211790001B}"/>
              </a:ext>
            </a:extLst>
          </p:cNvPr>
          <p:cNvSpPr>
            <a:spLocks noGrp="1"/>
          </p:cNvSpPr>
          <p:nvPr/>
        </p:nvSpPr>
        <p:spPr>
          <a:xfrm>
            <a:off x="647998" y="12804577"/>
            <a:ext cx="20087927" cy="9525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</p:sp>
      <p:sp>
        <p:nvSpPr>
          <p:cNvPr id="7" name="Rule section-title" descr="s6">
            <a:extLst>
              <a:ext uri="{FF2B5EF4-FFF2-40B4-BE49-F238E27FC236}">
                <ns2:creationId id="{012023B5-E610-4EE5-9DE8-F0889B7A8099}"/>
              </a:ext>
            </a:extLst>
          </p:cNvPr>
          <p:cNvSpPr>
            <a:spLocks noGrp="1"/>
          </p:cNvSpPr>
          <p:nvPr/>
        </p:nvSpPr>
        <p:spPr>
          <a:xfrm>
            <a:off x="647998" y="13431589"/>
            <a:ext cx="20087927" cy="28575"/>
          </a:xfrm>
          <a:prstGeom prst="rect">
            <a:avLst/>
          </a:prstGeom>
          <a:solidFill>
            <a:srgbClr val="0069AA"/>
          </a:solidFill>
          <a:ln w="0">
            <a:noFill/>
          </a:ln>
        </p:spPr>
      </p:sp>
      <p:sp>
        <p:nvSpPr>
          <p:cNvPr id="8" name="Rule metric" descr="s7">
            <a:extLst>
              <a:ext uri="{FF2B5EF4-FFF2-40B4-BE49-F238E27FC236}">
                <ns2:creationId id="{0E4E3E5A-2927-4DF8-9A14-643CF0AD37F3}"/>
              </a:ext>
            </a:extLst>
          </p:cNvPr>
          <p:cNvSpPr>
            <a:spLocks noGrp="1"/>
          </p:cNvSpPr>
          <p:nvPr/>
        </p:nvSpPr>
        <p:spPr>
          <a:xfrm>
            <a:off x="647998" y="14148346"/>
            <a:ext cx="38100" cy="901005"/>
          </a:xfrm>
          <a:prstGeom prst="rect">
            <a:avLst/>
          </a:prstGeom>
          <a:solidFill>
            <a:srgbClr val="007AC3"/>
          </a:solidFill>
          <a:ln w="0">
            <a:noFill/>
          </a:ln>
        </p:spPr>
      </p:sp>
      <p:sp>
        <p:nvSpPr>
          <p:cNvPr id="9" name="Rule metric" descr="s8">
            <a:extLst>
              <a:ext uri="{FF2B5EF4-FFF2-40B4-BE49-F238E27FC236}">
                <ns2:creationId id="{E3171F31-8936-40AC-B3E8-F7230181EE6F}"/>
              </a:ext>
            </a:extLst>
          </p:cNvPr>
          <p:cNvSpPr>
            <a:spLocks noGrp="1"/>
          </p:cNvSpPr>
          <p:nvPr/>
        </p:nvSpPr>
        <p:spPr>
          <a:xfrm>
            <a:off x="7439918" y="14148346"/>
            <a:ext cx="38100" cy="901005"/>
          </a:xfrm>
          <a:prstGeom prst="rect">
            <a:avLst/>
          </a:prstGeom>
          <a:solidFill>
            <a:srgbClr val="007AC3"/>
          </a:solidFill>
          <a:ln w="0">
            <a:noFill/>
          </a:ln>
        </p:spPr>
      </p:sp>
      <p:sp>
        <p:nvSpPr>
          <p:cNvPr id="10" name="Rule metric" descr="s9">
            <a:extLst>
              <a:ext uri="{FF2B5EF4-FFF2-40B4-BE49-F238E27FC236}">
                <ns2:creationId id="{84B7B253-02D8-4D2D-B2F1-5112B501BECF}"/>
              </a:ext>
            </a:extLst>
          </p:cNvPr>
          <p:cNvSpPr>
            <a:spLocks noGrp="1"/>
          </p:cNvSpPr>
          <p:nvPr/>
        </p:nvSpPr>
        <p:spPr>
          <a:xfrm>
            <a:off x="14231987" y="14148346"/>
            <a:ext cx="38100" cy="901005"/>
          </a:xfrm>
          <a:prstGeom prst="rect">
            <a:avLst/>
          </a:prstGeom>
          <a:solidFill>
            <a:srgbClr val="007AC3"/>
          </a:solidFill>
          <a:ln w="0">
            <a:noFill/>
          </a:ln>
        </p:spPr>
      </p:sp>
      <p:sp>
        <p:nvSpPr>
          <p:cNvPr id="11" name="Rule " descr="s10">
            <a:extLst>
              <a:ext uri="{FF2B5EF4-FFF2-40B4-BE49-F238E27FC236}">
                <ns2:creationId id="{803DD2A1-D657-45BA-BF43-193EFB0C5363}"/>
              </a:ext>
            </a:extLst>
          </p:cNvPr>
          <p:cNvSpPr>
            <a:spLocks noGrp="1"/>
          </p:cNvSpPr>
          <p:nvPr/>
        </p:nvSpPr>
        <p:spPr>
          <a:xfrm>
            <a:off x="10871895" y="22208133"/>
            <a:ext cx="9525" cy="3503861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</p:sp>
      <p:sp>
        <p:nvSpPr>
          <p:cNvPr id="12" name="Panel conclusion" descr="s11">
            <a:extLst>
              <a:ext uri="{FF2B5EF4-FFF2-40B4-BE49-F238E27FC236}">
                <ns2:creationId id="{5D4C65AB-9B75-471D-9A48-8F9CA5138721}"/>
              </a:ext>
            </a:extLst>
          </p:cNvPr>
          <p:cNvSpPr>
            <a:spLocks noGrp="1"/>
          </p:cNvSpPr>
          <p:nvPr/>
        </p:nvSpPr>
        <p:spPr>
          <a:xfrm>
            <a:off x="647998" y="25927943"/>
            <a:ext cx="20087927" cy="1574453"/>
          </a:xfrm>
          <a:prstGeom prst="rect">
            <a:avLst/>
          </a:prstGeom>
          <a:solidFill>
            <a:srgbClr val="07568A"/>
          </a:solidFill>
          <a:ln w="0">
            <a:noFill/>
          </a:ln>
        </p:spPr>
      </p:sp>
      <p:sp>
        <p:nvSpPr>
          <p:cNvPr id="13" name="Rule " descr="s12">
            <a:extLst>
              <a:ext uri="{FF2B5EF4-FFF2-40B4-BE49-F238E27FC236}">
                <ns2:creationId id="{C96356D0-DD28-4896-85C3-58A1FC937A59}"/>
              </a:ext>
            </a:extLst>
          </p:cNvPr>
          <p:cNvSpPr>
            <a:spLocks noGrp="1"/>
          </p:cNvSpPr>
          <p:nvPr/>
        </p:nvSpPr>
        <p:spPr>
          <a:xfrm>
            <a:off x="647998" y="28083867"/>
            <a:ext cx="20087927" cy="9525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</p:sp>
      <p:sp>
        <p:nvSpPr>
          <p:cNvPr id="14" name="TRENDS IN MACHINE LEARNING II&#10;[AUTHOR NAME]" descr="s13">
            <a:extLst>
              <a:ext uri="{FF2B5EF4-FFF2-40B4-BE49-F238E27FC236}">
                <ns2:creationId id="{B6FEA011-BC10-4AE5-A403-18B2A20CB505}"/>
              </a:ext>
            </a:extLst>
          </p:cNvPr>
          <p:cNvSpPr>
            <a:spLocks noGrp="1"/>
          </p:cNvSpPr>
          <p:nvPr/>
        </p:nvSpPr>
        <p:spPr>
          <a:xfrm>
            <a:off x="647998" y="647998"/>
            <a:ext cx="5192613" cy="8533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72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TRENDS IN MACHINE LEARNING II</a:t>
            </a:r>
            <a:endParaRPr lang="en-GB" sz="2400"/>
          </a:p>
          <a:p>
            <a:pPr algn="l" marL="0" marR="0" indent="0" fontAlgn="base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[AUTHOR NAME]</a:t>
            </a:r>
            <a:endParaRPr lang="en-GB" sz="2400"/>
          </a:p>
        </p:txBody>
      </p:sp>
      <p:sp>
        <p:nvSpPr>
          <p:cNvPr id="15" name="Building Legal RAG:&#10;what each component contributes" descr="s14">
            <a:extLst>
              <a:ext uri="{FF2B5EF4-FFF2-40B4-BE49-F238E27FC236}">
                <ns2:creationId id="{398E42EF-8CEE-4CC0-AC0B-587292E0B1DC}"/>
              </a:ext>
            </a:extLst>
          </p:cNvPr>
          <p:cNvSpPr>
            <a:spLocks noGrp="1"/>
          </p:cNvSpPr>
          <p:nvPr/>
        </p:nvSpPr>
        <p:spPr>
          <a:xfrm>
            <a:off x="647998" y="1478012"/>
            <a:ext cx="19648438" cy="1552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5000" b="1" spc="-175" kern="0" dirty="0">
                <a:solidFill>
                  <a:srgbClr val="073d65"/>
                </a:solidFill>
                <a:latin typeface="Noto Sans"/>
                <a:ea typeface="Noto Sans"/>
                <a:cs typeface="Noto Sans"/>
              </a:rPr>
              <a:t>Building Legal RAG:</a:t>
            </a:r>
            <a:endParaRPr lang="en-GB" sz="5000"/>
          </a:p>
          <a:p>
            <a:pPr algn="l" marL="0" marR="0" indent="0" fontAlgn="base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5000" b="1" spc="-175" kern="0" dirty="0">
                <a:solidFill>
                  <a:srgbClr val="073d65"/>
                </a:solidFill>
                <a:latin typeface="Noto Sans"/>
                <a:ea typeface="Noto Sans"/>
                <a:cs typeface="Noto Sans"/>
              </a:rPr>
              <a:t>what each component contributes</a:t>
            </a:r>
            <a:endParaRPr lang="en-GB" sz="5000"/>
          </a:p>
        </p:txBody>
      </p:sp>
      <p:sp>
        <p:nvSpPr>
          <p:cNvPr id="16" name="01" descr="s15">
            <a:extLst>
              <a:ext uri="{FF2B5EF4-FFF2-40B4-BE49-F238E27FC236}">
                <ns2:creationId id="{741E129C-311A-423F-BB49-549B665AAEEB}"/>
              </a:ext>
            </a:extLst>
          </p:cNvPr>
          <p:cNvSpPr>
            <a:spLocks noGrp="1"/>
          </p:cNvSpPr>
          <p:nvPr/>
        </p:nvSpPr>
        <p:spPr>
          <a:xfrm>
            <a:off x="647998" y="3234779"/>
            <a:ext cx="406301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01</a:t>
            </a:r>
            <a:endParaRPr lang="en-GB" sz="2600"/>
          </a:p>
        </p:txBody>
      </p:sp>
      <p:sp>
        <p:nvSpPr>
          <p:cNvPr id="17" name="HYPOTHESIS" descr="s16">
            <a:extLst>
              <a:ext uri="{FF2B5EF4-FFF2-40B4-BE49-F238E27FC236}">
                <ns2:creationId id="{F733374C-280E-4E6B-AD60-E2BD3090B394}"/>
              </a:ext>
            </a:extLst>
          </p:cNvPr>
          <p:cNvSpPr>
            <a:spLocks noGrp="1"/>
          </p:cNvSpPr>
          <p:nvPr/>
        </p:nvSpPr>
        <p:spPr>
          <a:xfrm>
            <a:off x="1169640" y="3187154"/>
            <a:ext cx="2613422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72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3100" b="1" spc="124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HYPOTHESIS</a:t>
            </a:r>
            <a:endParaRPr lang="en-GB" sz="3100"/>
          </a:p>
        </p:txBody>
      </p:sp>
      <p:sp>
        <p:nvSpPr>
          <p:cNvPr id="18" name="Research question &amp; rationale" descr="s17">
            <a:extLst>
              <a:ext uri="{FF2B5EF4-FFF2-40B4-BE49-F238E27FC236}">
                <ns2:creationId id="{496FB75E-7411-41A9-B538-F2BC8684883E}"/>
              </a:ext>
            </a:extLst>
          </p:cNvPr>
          <p:cNvSpPr>
            <a:spLocks noGrp="1"/>
          </p:cNvSpPr>
          <p:nvPr/>
        </p:nvSpPr>
        <p:spPr>
          <a:xfrm>
            <a:off x="16441192" y="3249960"/>
            <a:ext cx="4323308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Research question &amp; rationale</a:t>
            </a:r>
            <a:endParaRPr lang="en-GB" sz="2400"/>
          </a:p>
        </p:txBody>
      </p:sp>
      <p:sp>
        <p:nvSpPr>
          <p:cNvPr id="19" name="How can we build Legal RAG with better answers and precise, complete citations?" descr="s18">
            <a:extLst>
              <a:ext uri="{FF2B5EF4-FFF2-40B4-BE49-F238E27FC236}">
                <ns2:creationId id="{08B9C295-E7AD-4DAC-A10C-1775AB021365}"/>
              </a:ext>
            </a:extLst>
          </p:cNvPr>
          <p:cNvSpPr>
            <a:spLocks noGrp="1"/>
          </p:cNvSpPr>
          <p:nvPr/>
        </p:nvSpPr>
        <p:spPr>
          <a:xfrm>
            <a:off x="647998" y="3776960"/>
            <a:ext cx="10056465" cy="940891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509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How can we build Legal RAG with better answers and</a:t>
            </a:r>
            <a:endParaRPr lang="en-GB" sz="2900"/>
          </a:p>
          <a:p>
            <a:pPr algn="l" marL="0" marR="0" indent="0" fontAlgn="base">
              <a:lnSpc>
                <a:spcPts val="3509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precise, complete citations?</a:t>
            </a:r>
            <a:endParaRPr lang="en-GB" sz="2900"/>
          </a:p>
        </p:txBody>
      </p:sp>
      <p:sp>
        <p:nvSpPr>
          <p:cNvPr id="20" name="Legal answers need evidence: readable documents, relevant passages and verifiabl" descr="s19">
            <a:extLst>
              <a:ext uri="{FF2B5EF4-FFF2-40B4-BE49-F238E27FC236}">
                <ns2:creationId id="{F2BFEB59-65D5-4DD7-8C2F-5D04E0DE6114}"/>
              </a:ext>
            </a:extLst>
          </p:cNvPr>
          <p:cNvSpPr>
            <a:spLocks noGrp="1"/>
          </p:cNvSpPr>
          <p:nvPr/>
        </p:nvSpPr>
        <p:spPr>
          <a:xfrm>
            <a:off x="647998" y="4776043"/>
            <a:ext cx="10056465" cy="77524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Legal answers need evidence: readable documents, relevant passages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and verifiable page citations.</a:t>
            </a:r>
            <a:endParaRPr lang="en-GB" sz="2400"/>
          </a:p>
        </p:txBody>
      </p:sp>
      <p:sp>
        <p:nvSpPr>
          <p:cNvPr id="21" name="Testing the complete pipeline" descr="s20">
            <a:extLst>
              <a:ext uri="{FF2B5EF4-FFF2-40B4-BE49-F238E27FC236}">
                <ns2:creationId id="{339FA573-69BD-4FEE-AF79-2C8CE8CEB983}"/>
              </a:ext>
            </a:extLst>
          </p:cNvPr>
          <p:cNvSpPr>
            <a:spLocks noGrp="1"/>
          </p:cNvSpPr>
          <p:nvPr/>
        </p:nvSpPr>
        <p:spPr>
          <a:xfrm>
            <a:off x="11263461" y="3956893"/>
            <a:ext cx="9285089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7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Testing the complete pipeline</a:t>
            </a:r>
            <a:endParaRPr lang="en-GB" sz="2700"/>
          </a:p>
        </p:txBody>
      </p:sp>
      <p:sp>
        <p:nvSpPr>
          <p:cNvPr id="22" name="We expect the full pipeline to outperform baseline. H1–H6 test whether each addi" descr="s21">
            <a:extLst>
              <a:ext uri="{FF2B5EF4-FFF2-40B4-BE49-F238E27FC236}">
                <ns2:creationId id="{783EA407-F89F-4153-AF04-933938859985}"/>
              </a:ext>
            </a:extLst>
          </p:cNvPr>
          <p:cNvSpPr>
            <a:spLocks noGrp="1"/>
          </p:cNvSpPr>
          <p:nvPr/>
        </p:nvSpPr>
        <p:spPr>
          <a:xfrm>
            <a:off x="11263461" y="4476155"/>
            <a:ext cx="9285089" cy="77524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We expect the full pipeline to outperform baseline. H1–H6 test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whether each addition improves answer quality or citations.</a:t>
            </a:r>
            <a:endParaRPr lang="en-GB" sz="2400"/>
          </a:p>
        </p:txBody>
      </p:sp>
      <p:sp>
        <p:nvSpPr>
          <p:cNvPr id="23" name="Prior work: RAG [1], legal retrieval [2], citation evaluation [3]. We test one p" descr="s22">
            <a:extLst>
              <a:ext uri="{FF2B5EF4-FFF2-40B4-BE49-F238E27FC236}">
                <ns2:creationId id="{F605E3D8-EA90-4B0E-8794-51BF21ABB5A6}"/>
              </a:ext>
            </a:extLst>
          </p:cNvPr>
          <p:cNvSpPr>
            <a:spLocks noGrp="1"/>
          </p:cNvSpPr>
          <p:nvPr/>
        </p:nvSpPr>
        <p:spPr>
          <a:xfrm>
            <a:off x="647998" y="5615285"/>
            <a:ext cx="2011650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Prior work: RAG [1], legal retrieval [2], citation evaluation [3]. We test one pipeline, component by component.</a:t>
            </a:r>
            <a:endParaRPr lang="en-GB" sz="2400"/>
          </a:p>
        </p:txBody>
      </p:sp>
      <p:sp>
        <p:nvSpPr>
          <p:cNvPr id="24" name="02" descr="s23">
            <a:extLst>
              <a:ext uri="{FF2B5EF4-FFF2-40B4-BE49-F238E27FC236}">
                <ns2:creationId id="{7FF803C5-2C94-4712-83ED-5ACB6C47B770}"/>
              </a:ext>
            </a:extLst>
          </p:cNvPr>
          <p:cNvSpPr>
            <a:spLocks noGrp="1"/>
          </p:cNvSpPr>
          <p:nvPr/>
        </p:nvSpPr>
        <p:spPr>
          <a:xfrm>
            <a:off x="647998" y="6299448"/>
            <a:ext cx="406301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02</a:t>
            </a:r>
            <a:endParaRPr lang="en-GB" sz="2600"/>
          </a:p>
        </p:txBody>
      </p:sp>
      <p:sp>
        <p:nvSpPr>
          <p:cNvPr id="25" name="METHODOLOGY" descr="s24">
            <a:extLst>
              <a:ext uri="{FF2B5EF4-FFF2-40B4-BE49-F238E27FC236}">
                <ns2:creationId id="{CEE6E690-2156-4D72-AE19-51C47BE24B82}"/>
              </a:ext>
            </a:extLst>
          </p:cNvPr>
          <p:cNvSpPr>
            <a:spLocks noGrp="1"/>
          </p:cNvSpPr>
          <p:nvPr/>
        </p:nvSpPr>
        <p:spPr>
          <a:xfrm>
            <a:off x="1169640" y="6251823"/>
            <a:ext cx="3287762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72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3100" b="1" spc="124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METHODOLOGY</a:t>
            </a:r>
            <a:endParaRPr lang="en-GB" sz="3100"/>
          </a:p>
        </p:txBody>
      </p:sp>
      <p:sp>
        <p:nvSpPr>
          <p:cNvPr id="26" name="Sequential component additions" descr="s25">
            <a:extLst>
              <a:ext uri="{FF2B5EF4-FFF2-40B4-BE49-F238E27FC236}">
                <ns2:creationId id="{948FF038-7D55-4EAD-B451-66F4E6A00A59}"/>
              </a:ext>
            </a:extLst>
          </p:cNvPr>
          <p:cNvSpPr>
            <a:spLocks noGrp="1"/>
          </p:cNvSpPr>
          <p:nvPr/>
        </p:nvSpPr>
        <p:spPr>
          <a:xfrm>
            <a:off x="16085493" y="6314629"/>
            <a:ext cx="4679007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Sequential component additions</a:t>
            </a:r>
            <a:endParaRPr lang="en-GB" sz="2400"/>
          </a:p>
        </p:txBody>
      </p:sp>
      <p:sp>
        <p:nvSpPr>
          <p:cNvPr id="27" name="R0 · Baseline. PDF text → 300-token chunks → dense retrieval → answer. Citations" descr="s26">
            <a:extLst>
              <a:ext uri="{FF2B5EF4-FFF2-40B4-BE49-F238E27FC236}">
                <ns2:creationId id="{1395F00A-B0E4-4648-A6FD-D6304656AE30}"/>
              </a:ext>
            </a:extLst>
          </p:cNvPr>
          <p:cNvSpPr>
            <a:spLocks noGrp="1"/>
          </p:cNvSpPr>
          <p:nvPr/>
        </p:nvSpPr>
        <p:spPr>
          <a:xfrm>
            <a:off x="827931" y="6967538"/>
            <a:ext cx="19756503" cy="61748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R0 · Baseline.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PDF text → 300-token chunks → dense retrieval → answer. Citations include all pages in the supplied context.</a:t>
            </a:r>
            <a:endParaRPr lang="en-GB" sz="2400"/>
          </a:p>
        </p:txBody>
      </p:sp>
      <p:sp>
        <p:nvSpPr>
          <p:cNvPr id="28" name="Dataset &amp; comparisons" descr="s27">
            <a:extLst>
              <a:ext uri="{FF2B5EF4-FFF2-40B4-BE49-F238E27FC236}">
                <ns2:creationId id="{C64BDAC9-76C2-4B66-A26E-3AE4D12CECC4}"/>
              </a:ext>
            </a:extLst>
          </p:cNvPr>
          <p:cNvSpPr>
            <a:spLocks noGrp="1"/>
          </p:cNvSpPr>
          <p:nvPr/>
        </p:nvSpPr>
        <p:spPr>
          <a:xfrm>
            <a:off x="647998" y="10176570"/>
            <a:ext cx="991046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700" b="1" spc="0" kern="0" dirty="0">
                <a:solidFill>
                  <a:srgbClr val="07568a"/>
                </a:solidFill>
                <a:latin typeface="Noto Sans"/>
                <a:ea typeface="Noto Sans"/>
                <a:cs typeface="Noto Sans"/>
              </a:rPr>
              <a:t>Dataset &amp; comparisons</a:t>
            </a:r>
            <a:endParaRPr lang="en-GB" sz="2700"/>
          </a:p>
        </p:txBody>
      </p:sp>
      <p:sp>
        <p:nvSpPr>
          <p:cNvPr id="29" name="30 DIFC PDFs · 590 pages · 100 questions.&#10;70 structured / 30 free-text answers;&#10;" descr="s28">
            <a:extLst>
              <a:ext uri="{FF2B5EF4-FFF2-40B4-BE49-F238E27FC236}">
                <ns2:creationId id="{5413E996-F652-4C30-90B7-80259D09726B}"/>
              </a:ext>
            </a:extLst>
          </p:cNvPr>
          <p:cNvSpPr>
            <a:spLocks noGrp="1"/>
          </p:cNvSpPr>
          <p:nvPr/>
        </p:nvSpPr>
        <p:spPr>
          <a:xfrm>
            <a:off x="647998" y="10695831"/>
            <a:ext cx="9910465" cy="114091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30 DIFC PDFs · 590 pages · 100 questions.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70 structured / 30 free-text answers;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95 questions with gold source pages.</a:t>
            </a:r>
            <a:endParaRPr lang="en-GB" sz="2400"/>
          </a:p>
        </p:txBody>
      </p:sp>
      <p:sp>
        <p:nvSpPr>
          <p:cNvPr id="30" name="Mixed corpus: 10 PDFs / 107 pages rasterised at 300 DPI. R0–R6 on mixed; R0/R1 a" descr="s29">
            <a:extLst>
              <a:ext uri="{FF2B5EF4-FFF2-40B4-BE49-F238E27FC236}">
                <ns2:creationId id="{39C7BDED-9098-4F04-8C49-85CE501A29D8}"/>
              </a:ext>
            </a:extLst>
          </p:cNvPr>
          <p:cNvSpPr>
            <a:spLocks noGrp="1"/>
          </p:cNvSpPr>
          <p:nvPr/>
        </p:nvSpPr>
        <p:spPr>
          <a:xfrm>
            <a:off x="647998" y="11900743"/>
            <a:ext cx="9910465" cy="77524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Mixed corpus: 10 PDFs / 107 pages rasterised at 300 DPI. R0–R6 on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mixed; R0/R1 also on originals.</a:t>
            </a:r>
            <a:endParaRPr lang="en-GB" sz="2400"/>
          </a:p>
        </p:txBody>
      </p:sp>
      <p:sp>
        <p:nvSpPr>
          <p:cNvPr id="31" name="Evaluation" descr="s30">
            <a:extLst>
              <a:ext uri="{FF2B5EF4-FFF2-40B4-BE49-F238E27FC236}">
                <ns2:creationId id="{B8E22021-45B2-4307-9530-E8FD05056D4A}"/>
              </a:ext>
            </a:extLst>
          </p:cNvPr>
          <p:cNvSpPr>
            <a:spLocks noGrp="1"/>
          </p:cNvSpPr>
          <p:nvPr/>
        </p:nvSpPr>
        <p:spPr>
          <a:xfrm>
            <a:off x="10853886" y="10176570"/>
            <a:ext cx="9910614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700" b="1" spc="0" kern="0" dirty="0">
                <a:solidFill>
                  <a:srgbClr val="07568a"/>
                </a:solidFill>
                <a:latin typeface="Noto Sans"/>
                <a:ea typeface="Noto Sans"/>
                <a:cs typeface="Noto Sans"/>
              </a:rPr>
              <a:t>Evaluation</a:t>
            </a:r>
            <a:endParaRPr lang="en-GB" sz="2700"/>
          </a:p>
        </p:txBody>
      </p:sp>
      <p:sp>
        <p:nvSpPr>
          <p:cNvPr id="32" name="Q = 0.7 × S + 0.3 × F. S / F: mean structured / free-text scores; free text is e" descr="s31">
            <a:extLst>
              <a:ext uri="{FF2B5EF4-FFF2-40B4-BE49-F238E27FC236}">
                <ns2:creationId id="{70CCC5D6-24EF-4AF8-9BF3-4ED0C8D20D61}"/>
              </a:ext>
            </a:extLst>
          </p:cNvPr>
          <p:cNvSpPr>
            <a:spLocks noGrp="1"/>
          </p:cNvSpPr>
          <p:nvPr/>
        </p:nvSpPr>
        <p:spPr>
          <a:xfrm>
            <a:off x="10853886" y="10695831"/>
            <a:ext cx="9910614" cy="77524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Q = 0.7 × S + 0.3 × F.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S / F: mean structured / free-text scores; free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text is evaluated by an LLM.</a:t>
            </a:r>
            <a:endParaRPr lang="en-GB" sz="2400"/>
          </a:p>
        </p:txBody>
      </p:sp>
      <p:sp>
        <p:nvSpPr>
          <p:cNvPr id="33" name="Precision: share of cited pages that are gold pages. Recall: share of gold pages" descr="s32">
            <a:extLst>
              <a:ext uri="{FF2B5EF4-FFF2-40B4-BE49-F238E27FC236}">
                <ns2:creationId id="{99C994C8-46B2-459F-8A52-1031A6C5840B}"/>
              </a:ext>
            </a:extLst>
          </p:cNvPr>
          <p:cNvSpPr>
            <a:spLocks noGrp="1"/>
          </p:cNvSpPr>
          <p:nvPr/>
        </p:nvSpPr>
        <p:spPr>
          <a:xfrm>
            <a:off x="10853886" y="11535073"/>
            <a:ext cx="9910614" cy="114091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Precision: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share of cited pages that are gold pages. </a:t>
            </a:r>
            <a:r>
              <a:rPr lang="en-GB" sz="24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Recall: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share of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gold pages that are cited. Both metrics are averaged across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questions.</a:t>
            </a:r>
            <a:endParaRPr lang="en-GB" sz="2400"/>
          </a:p>
        </p:txBody>
      </p:sp>
      <p:sp>
        <p:nvSpPr>
          <p:cNvPr id="34" name="Fixed: GPT-5.4-mini / high; 24 candidates; ≤ 2,400 context tokens. OCR: PP-OCRv5" descr="s33">
            <a:extLst>
              <a:ext uri="{FF2B5EF4-FFF2-40B4-BE49-F238E27FC236}">
                <ns2:creationId id="{2BD61F66-4389-4F1F-B677-4A1EDAEA54BF}"/>
              </a:ext>
            </a:extLst>
          </p:cNvPr>
          <p:cNvSpPr>
            <a:spLocks noGrp="1"/>
          </p:cNvSpPr>
          <p:nvPr/>
        </p:nvSpPr>
        <p:spPr>
          <a:xfrm>
            <a:off x="647998" y="12893427"/>
            <a:ext cx="20116502" cy="48309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Fixed:</a:t>
            </a: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 GPT-5.4-mini / high; 24 candidates; ≤ 2,400 context tokens. OCR: PP-OCRv5. Embedding / reranker: Qwen3-0.6B.</a:t>
            </a:r>
            <a:endParaRPr lang="en-GB" sz="2400"/>
          </a:p>
        </p:txBody>
      </p:sp>
      <p:sp>
        <p:nvSpPr>
          <p:cNvPr id="35" name="03" descr="s34">
            <a:extLst>
              <a:ext uri="{FF2B5EF4-FFF2-40B4-BE49-F238E27FC236}">
                <ns2:creationId id="{7EBD01F5-572E-4990-8787-7DC8622F5AB8}"/>
              </a:ext>
            </a:extLst>
          </p:cNvPr>
          <p:cNvSpPr>
            <a:spLocks noGrp="1"/>
          </p:cNvSpPr>
          <p:nvPr/>
        </p:nvSpPr>
        <p:spPr>
          <a:xfrm>
            <a:off x="647998" y="13577590"/>
            <a:ext cx="406301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03</a:t>
            </a:r>
            <a:endParaRPr lang="en-GB" sz="2600"/>
          </a:p>
        </p:txBody>
      </p:sp>
      <p:sp>
        <p:nvSpPr>
          <p:cNvPr id="36" name="RESULTS" descr="s35">
            <a:extLst>
              <a:ext uri="{FF2B5EF4-FFF2-40B4-BE49-F238E27FC236}">
                <ns2:creationId id="{F8934E3F-68AD-40B6-8B1D-020A9C1A53C5}"/>
              </a:ext>
            </a:extLst>
          </p:cNvPr>
          <p:cNvSpPr>
            <a:spLocks noGrp="1"/>
          </p:cNvSpPr>
          <p:nvPr/>
        </p:nvSpPr>
        <p:spPr>
          <a:xfrm>
            <a:off x="1169640" y="13529965"/>
            <a:ext cx="1788319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72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3100" b="1" spc="124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RESULTS</a:t>
            </a:r>
            <a:endParaRPr lang="en-GB" sz="3100"/>
          </a:p>
        </p:txBody>
      </p:sp>
      <p:sp>
        <p:nvSpPr>
          <p:cNvPr id="37" name="Baseline R0 → complete pipeline R6" descr="s36">
            <a:extLst>
              <a:ext uri="{FF2B5EF4-FFF2-40B4-BE49-F238E27FC236}">
                <ns2:creationId id="{ECD04276-4139-4E38-9FAA-8D589D1FC9D0}"/>
              </a:ext>
            </a:extLst>
          </p:cNvPr>
          <p:cNvSpPr>
            <a:spLocks noGrp="1"/>
          </p:cNvSpPr>
          <p:nvPr/>
        </p:nvSpPr>
        <p:spPr>
          <a:xfrm>
            <a:off x="15623679" y="13592770"/>
            <a:ext cx="5140821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Baseline R0 → complete pipeline R6</a:t>
            </a:r>
            <a:endParaRPr lang="en-GB" sz="2400"/>
          </a:p>
        </p:txBody>
      </p:sp>
      <p:sp>
        <p:nvSpPr>
          <p:cNvPr id="38" name="46.2 → 84.4" descr="s37">
            <a:extLst>
              <a:ext uri="{FF2B5EF4-FFF2-40B4-BE49-F238E27FC236}">
                <ns2:creationId id="{1265932E-3563-459D-8D1A-943AED3F4C59}"/>
              </a:ext>
            </a:extLst>
          </p:cNvPr>
          <p:cNvSpPr>
            <a:spLocks noGrp="1"/>
          </p:cNvSpPr>
          <p:nvPr/>
        </p:nvSpPr>
        <p:spPr>
          <a:xfrm>
            <a:off x="830014" y="14100721"/>
            <a:ext cx="6350496" cy="5810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876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3400" b="1" spc="-119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46.2 → 84.4</a:t>
            </a:r>
            <a:endParaRPr lang="en-GB" sz="3400"/>
          </a:p>
        </p:txBody>
      </p:sp>
      <p:sp>
        <p:nvSpPr>
          <p:cNvPr id="39" name="Answer quality Q, %" descr="s38">
            <a:extLst>
              <a:ext uri="{FF2B5EF4-FFF2-40B4-BE49-F238E27FC236}">
                <ns2:creationId id="{1AA628A0-423E-458C-AFA6-EA43113548F0}"/>
              </a:ext>
            </a:extLst>
          </p:cNvPr>
          <p:cNvSpPr>
            <a:spLocks noGrp="1"/>
          </p:cNvSpPr>
          <p:nvPr/>
        </p:nvSpPr>
        <p:spPr>
          <a:xfrm>
            <a:off x="830014" y="14655105"/>
            <a:ext cx="6350496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Answer quality Q, %</a:t>
            </a:r>
            <a:endParaRPr lang="en-GB" sz="2400"/>
          </a:p>
        </p:txBody>
      </p:sp>
      <p:sp>
        <p:nvSpPr>
          <p:cNvPr id="40" name="7.6 → 61.8" descr="s39">
            <a:extLst>
              <a:ext uri="{FF2B5EF4-FFF2-40B4-BE49-F238E27FC236}">
                <ns2:creationId id="{4503DCC5-1011-4CD4-B9D3-0DC955F34291}"/>
              </a:ext>
            </a:extLst>
          </p:cNvPr>
          <p:cNvSpPr>
            <a:spLocks noGrp="1"/>
          </p:cNvSpPr>
          <p:nvPr/>
        </p:nvSpPr>
        <p:spPr>
          <a:xfrm>
            <a:off x="7621935" y="14100721"/>
            <a:ext cx="6350645" cy="5810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876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3400" b="1" spc="-119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7.6 → 61.8</a:t>
            </a:r>
            <a:endParaRPr lang="en-GB" sz="3400"/>
          </a:p>
        </p:txBody>
      </p:sp>
      <p:sp>
        <p:nvSpPr>
          <p:cNvPr id="41" name="Citation precision, %" descr="s40">
            <a:extLst>
              <a:ext uri="{FF2B5EF4-FFF2-40B4-BE49-F238E27FC236}">
                <ns2:creationId id="{D2F4AB42-9FE6-492A-AEC6-349CB2490872}"/>
              </a:ext>
            </a:extLst>
          </p:cNvPr>
          <p:cNvSpPr>
            <a:spLocks noGrp="1"/>
          </p:cNvSpPr>
          <p:nvPr/>
        </p:nvSpPr>
        <p:spPr>
          <a:xfrm>
            <a:off x="7621935" y="14655105"/>
            <a:ext cx="6350645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Citation precision, %</a:t>
            </a:r>
            <a:endParaRPr lang="en-GB" sz="2400"/>
          </a:p>
        </p:txBody>
      </p:sp>
      <p:sp>
        <p:nvSpPr>
          <p:cNvPr id="42" name="38.5 → 74.7" descr="s41">
            <a:extLst>
              <a:ext uri="{FF2B5EF4-FFF2-40B4-BE49-F238E27FC236}">
                <ns2:creationId id="{C91241E9-1951-45BB-A816-7949F8F91743}"/>
              </a:ext>
            </a:extLst>
          </p:cNvPr>
          <p:cNvSpPr>
            <a:spLocks noGrp="1"/>
          </p:cNvSpPr>
          <p:nvPr/>
        </p:nvSpPr>
        <p:spPr>
          <a:xfrm>
            <a:off x="14414004" y="14100721"/>
            <a:ext cx="6350496" cy="5810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876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3400" b="1" spc="-119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38.5 → 74.7</a:t>
            </a:r>
            <a:endParaRPr lang="en-GB" sz="3400"/>
          </a:p>
        </p:txBody>
      </p:sp>
      <p:sp>
        <p:nvSpPr>
          <p:cNvPr id="43" name="Citation recall, %" descr="s42">
            <a:extLst>
              <a:ext uri="{FF2B5EF4-FFF2-40B4-BE49-F238E27FC236}">
                <ns2:creationId id="{C937B504-1DFF-49B8-B2CB-051309B12269}"/>
              </a:ext>
            </a:extLst>
          </p:cNvPr>
          <p:cNvSpPr>
            <a:spLocks noGrp="1"/>
          </p:cNvSpPr>
          <p:nvPr/>
        </p:nvSpPr>
        <p:spPr>
          <a:xfrm>
            <a:off x="14414004" y="14655105"/>
            <a:ext cx="6350496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Citation recall, %</a:t>
            </a:r>
            <a:endParaRPr lang="en-GB" sz="2400"/>
          </a:p>
        </p:txBody>
      </p:sp>
      <p:sp>
        <p:nvSpPr>
          <p:cNvPr id="44" name="Gains are not monotonic. Sequential additions on the mixed corpus:" descr="s43">
            <a:extLst>
              <a:ext uri="{FF2B5EF4-FFF2-40B4-BE49-F238E27FC236}">
                <ns2:creationId id="{87EFF9EC-5382-44B3-9056-6891400D2E53}"/>
              </a:ext>
            </a:extLst>
          </p:cNvPr>
          <p:cNvSpPr>
            <a:spLocks noGrp="1"/>
          </p:cNvSpPr>
          <p:nvPr/>
        </p:nvSpPr>
        <p:spPr>
          <a:xfrm>
            <a:off x="647998" y="15200709"/>
            <a:ext cx="2011650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Gains are not monotonic.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Sequential additions on the mixed corpus:</a:t>
            </a:r>
            <a:endParaRPr lang="en-GB" sz="2400"/>
          </a:p>
        </p:txBody>
      </p:sp>
      <p:sp>
        <p:nvSpPr>
          <p:cNvPr id="45" name="R0 → R6: Q +38.2 percentage points; precision +54.2; recall +36.2." descr="s44">
            <a:extLst>
              <a:ext uri="{FF2B5EF4-FFF2-40B4-BE49-F238E27FC236}">
                <ns2:creationId id="{B06B95B1-5B00-4591-AECB-A944668688CE}"/>
              </a:ext>
            </a:extLst>
          </p:cNvPr>
          <p:cNvSpPr>
            <a:spLocks noGrp="1"/>
          </p:cNvSpPr>
          <p:nvPr/>
        </p:nvSpPr>
        <p:spPr>
          <a:xfrm>
            <a:off x="647998" y="21597938"/>
            <a:ext cx="2011650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R0 → R6: Q +38.2 percentage points; precision +54.2; recall +36.2.</a:t>
            </a:r>
            <a:endParaRPr lang="en-GB" sz="2400"/>
          </a:p>
        </p:txBody>
      </p:sp>
      <p:sp>
        <p:nvSpPr>
          <p:cNvPr id="46" name="OCR recovers answer quality" descr="s45">
            <a:extLst>
              <a:ext uri="{FF2B5EF4-FFF2-40B4-BE49-F238E27FC236}">
                <ns2:creationId id="{0110AA45-9B34-4579-B6C5-140C528D3E88}"/>
              </a:ext>
            </a:extLst>
          </p:cNvPr>
          <p:cNvSpPr>
            <a:spLocks noGrp="1"/>
          </p:cNvSpPr>
          <p:nvPr/>
        </p:nvSpPr>
        <p:spPr>
          <a:xfrm>
            <a:off x="647998" y="22179558"/>
            <a:ext cx="989260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700" b="1" spc="0" kern="0" dirty="0">
                <a:solidFill>
                  <a:srgbClr val="07568a"/>
                </a:solidFill>
                <a:latin typeface="Noto Sans"/>
                <a:ea typeface="Noto Sans"/>
                <a:cs typeface="Noto Sans"/>
              </a:rPr>
              <a:t>OCR recovers answer quality</a:t>
            </a:r>
            <a:endParaRPr lang="en-GB" sz="2700"/>
          </a:p>
        </p:txBody>
      </p:sp>
      <p:sp>
        <p:nvSpPr>
          <p:cNvPr id="47" name="Replacing text PDFs with scans reduces Q from 65.4% to 46.2%. OCR restores it to" descr="s46">
            <a:extLst>
              <a:ext uri="{FF2B5EF4-FFF2-40B4-BE49-F238E27FC236}">
                <ns2:creationId id="{49573D45-076B-4662-B41B-0A7060DAEA56}"/>
              </a:ext>
            </a:extLst>
          </p:cNvPr>
          <p:cNvSpPr>
            <a:spLocks noGrp="1"/>
          </p:cNvSpPr>
          <p:nvPr/>
        </p:nvSpPr>
        <p:spPr>
          <a:xfrm>
            <a:off x="647998" y="24952077"/>
            <a:ext cx="9892605" cy="77524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Replacing text PDFs with scans reduces Q from 65.4% to 46.2%. OCR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restores it to 63.2%, with no change on the original PDFs.</a:t>
            </a:r>
            <a:endParaRPr lang="en-GB" sz="2400"/>
          </a:p>
        </p:txBody>
      </p:sp>
      <p:sp>
        <p:nvSpPr>
          <p:cNvPr id="48" name="Hypothesis checks" descr="s47">
            <a:extLst>
              <a:ext uri="{FF2B5EF4-FFF2-40B4-BE49-F238E27FC236}">
                <ns2:creationId id="{7137D7E6-AC1E-45DB-B59A-94F08A0533A1}"/>
              </a:ext>
            </a:extLst>
          </p:cNvPr>
          <p:cNvSpPr>
            <a:spLocks noGrp="1"/>
          </p:cNvSpPr>
          <p:nvPr/>
        </p:nvSpPr>
        <p:spPr>
          <a:xfrm>
            <a:off x="11133386" y="22179558"/>
            <a:ext cx="9631114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700" b="1" spc="0" kern="0" dirty="0">
                <a:solidFill>
                  <a:srgbClr val="07568a"/>
                </a:solidFill>
                <a:latin typeface="Noto Sans"/>
                <a:ea typeface="Noto Sans"/>
                <a:cs typeface="Noto Sans"/>
              </a:rPr>
              <a:t>Hypothesis checks</a:t>
            </a:r>
            <a:endParaRPr lang="en-GB" sz="2700"/>
          </a:p>
        </p:txBody>
      </p:sp>
      <p:sp>
        <p:nvSpPr>
          <p:cNvPr id="49" name="H1" descr="s48">
            <a:extLst>
              <a:ext uri="{FF2B5EF4-FFF2-40B4-BE49-F238E27FC236}">
                <ns2:creationId id="{E767A928-B846-48A3-8FE5-BC019A574B67}"/>
              </a:ext>
            </a:extLst>
          </p:cNvPr>
          <p:cNvSpPr>
            <a:spLocks noGrp="1"/>
          </p:cNvSpPr>
          <p:nvPr/>
        </p:nvSpPr>
        <p:spPr>
          <a:xfrm>
            <a:off x="11133386" y="22698819"/>
            <a:ext cx="568523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H1</a:t>
            </a:r>
            <a:endParaRPr lang="en-GB" sz="2400"/>
          </a:p>
        </p:txBody>
      </p:sp>
      <p:sp>
        <p:nvSpPr>
          <p:cNvPr id="50" name="OCR: Q and recall increase." descr="s49">
            <a:extLst>
              <a:ext uri="{FF2B5EF4-FFF2-40B4-BE49-F238E27FC236}">
                <ns2:creationId id="{BF7A125E-F9A9-421E-B92B-2FF6F9445554}"/>
              </a:ext>
            </a:extLst>
          </p:cNvPr>
          <p:cNvSpPr>
            <a:spLocks noGrp="1"/>
          </p:cNvSpPr>
          <p:nvPr/>
        </p:nvSpPr>
        <p:spPr>
          <a:xfrm>
            <a:off x="11745218" y="22698819"/>
            <a:ext cx="901928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OCR: Q and recall increase.</a:t>
            </a:r>
            <a:endParaRPr lang="en-GB" sz="2400"/>
          </a:p>
        </p:txBody>
      </p:sp>
      <p:sp>
        <p:nvSpPr>
          <p:cNvPr id="51" name="H2" descr="s50">
            <a:extLst>
              <a:ext uri="{FF2B5EF4-FFF2-40B4-BE49-F238E27FC236}">
                <ns2:creationId id="{E7F4F1B2-0C84-44EE-94F7-0D0CEFD4C532}"/>
              </a:ext>
            </a:extLst>
          </p:cNvPr>
          <p:cNvSpPr>
            <a:spLocks noGrp="1"/>
          </p:cNvSpPr>
          <p:nvPr/>
        </p:nvSpPr>
        <p:spPr>
          <a:xfrm>
            <a:off x="11133386" y="23107650"/>
            <a:ext cx="568523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H2</a:t>
            </a:r>
            <a:endParaRPr lang="en-GB" sz="2400"/>
          </a:p>
        </p:txBody>
      </p:sp>
      <p:sp>
        <p:nvSpPr>
          <p:cNvPr id="52" name="Multiscale: Q and recall decrease." descr="s51">
            <a:extLst>
              <a:ext uri="{FF2B5EF4-FFF2-40B4-BE49-F238E27FC236}">
                <ns2:creationId id="{54B1CA16-8E20-437A-A71B-5B3622F6B488}"/>
              </a:ext>
            </a:extLst>
          </p:cNvPr>
          <p:cNvSpPr>
            <a:spLocks noGrp="1"/>
          </p:cNvSpPr>
          <p:nvPr/>
        </p:nvSpPr>
        <p:spPr>
          <a:xfrm>
            <a:off x="11745218" y="23107650"/>
            <a:ext cx="901928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Multiscale: Q and recall decrease.</a:t>
            </a:r>
            <a:endParaRPr lang="en-GB" sz="2400"/>
          </a:p>
        </p:txBody>
      </p:sp>
      <p:sp>
        <p:nvSpPr>
          <p:cNvPr id="53" name="H3" descr="s52">
            <a:extLst>
              <a:ext uri="{FF2B5EF4-FFF2-40B4-BE49-F238E27FC236}">
                <ns2:creationId id="{41F9226B-0B4E-498A-9ACC-D647C32C9C02}"/>
              </a:ext>
            </a:extLst>
          </p:cNvPr>
          <p:cNvSpPr>
            <a:spLocks noGrp="1"/>
          </p:cNvSpPr>
          <p:nvPr/>
        </p:nvSpPr>
        <p:spPr>
          <a:xfrm>
            <a:off x="11133386" y="23516481"/>
            <a:ext cx="568523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H3</a:t>
            </a:r>
            <a:endParaRPr lang="en-GB" sz="2400"/>
          </a:p>
        </p:txBody>
      </p:sp>
      <p:sp>
        <p:nvSpPr>
          <p:cNvPr id="54" name="Lexical search: Q and recall increase." descr="s53">
            <a:extLst>
              <a:ext uri="{FF2B5EF4-FFF2-40B4-BE49-F238E27FC236}">
                <ns2:creationId id="{FF5F0FA2-6E14-4538-9236-4CE488D9D8EC}"/>
              </a:ext>
            </a:extLst>
          </p:cNvPr>
          <p:cNvSpPr>
            <a:spLocks noGrp="1"/>
          </p:cNvSpPr>
          <p:nvPr/>
        </p:nvSpPr>
        <p:spPr>
          <a:xfrm>
            <a:off x="11745218" y="23516481"/>
            <a:ext cx="901928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Lexical search: Q and recall increase.</a:t>
            </a:r>
            <a:endParaRPr lang="en-GB" sz="2400"/>
          </a:p>
        </p:txBody>
      </p:sp>
      <p:sp>
        <p:nvSpPr>
          <p:cNvPr id="55" name="H4" descr="s54">
            <a:extLst>
              <a:ext uri="{FF2B5EF4-FFF2-40B4-BE49-F238E27FC236}">
                <ns2:creationId id="{E3DF2750-3FFB-49D0-B2CE-D2CBA779B996}"/>
              </a:ext>
            </a:extLst>
          </p:cNvPr>
          <p:cNvSpPr>
            <a:spLocks noGrp="1"/>
          </p:cNvSpPr>
          <p:nvPr/>
        </p:nvSpPr>
        <p:spPr>
          <a:xfrm>
            <a:off x="11133386" y="23925312"/>
            <a:ext cx="568523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H4</a:t>
            </a:r>
            <a:endParaRPr lang="en-GB" sz="2400"/>
          </a:p>
        </p:txBody>
      </p:sp>
      <p:sp>
        <p:nvSpPr>
          <p:cNvPr id="56" name="Reranker: Q increases by 9.8 pp." descr="s55">
            <a:extLst>
              <a:ext uri="{FF2B5EF4-FFF2-40B4-BE49-F238E27FC236}">
                <ns2:creationId id="{0E9E1F2F-02B8-4AE8-B2E3-5556DC9B50DF}"/>
              </a:ext>
            </a:extLst>
          </p:cNvPr>
          <p:cNvSpPr>
            <a:spLocks noGrp="1"/>
          </p:cNvSpPr>
          <p:nvPr/>
        </p:nvSpPr>
        <p:spPr>
          <a:xfrm>
            <a:off x="11745218" y="23925312"/>
            <a:ext cx="901928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Reranker: Q increases by 9.8 pp.</a:t>
            </a:r>
            <a:endParaRPr lang="en-GB" sz="2400"/>
          </a:p>
        </p:txBody>
      </p:sp>
      <p:sp>
        <p:nvSpPr>
          <p:cNvPr id="57" name="H5" descr="s56">
            <a:extLst>
              <a:ext uri="{FF2B5EF4-FFF2-40B4-BE49-F238E27FC236}">
                <ns2:creationId id="{74E7C49D-2863-40AB-9A78-AA8558502750}"/>
              </a:ext>
            </a:extLst>
          </p:cNvPr>
          <p:cNvSpPr>
            <a:spLocks noGrp="1"/>
          </p:cNvSpPr>
          <p:nvPr/>
        </p:nvSpPr>
        <p:spPr>
          <a:xfrm>
            <a:off x="11133386" y="24334143"/>
            <a:ext cx="568523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H5</a:t>
            </a:r>
            <a:endParaRPr lang="en-GB" sz="2400"/>
          </a:p>
        </p:txBody>
      </p:sp>
      <p:sp>
        <p:nvSpPr>
          <p:cNvPr id="58" name="Typed processing: no score gain." descr="s57">
            <a:extLst>
              <a:ext uri="{FF2B5EF4-FFF2-40B4-BE49-F238E27FC236}">
                <ns2:creationId id="{C8CD6BCA-2C25-4523-8917-0A828B09C742}"/>
              </a:ext>
            </a:extLst>
          </p:cNvPr>
          <p:cNvSpPr>
            <a:spLocks noGrp="1"/>
          </p:cNvSpPr>
          <p:nvPr/>
        </p:nvSpPr>
        <p:spPr>
          <a:xfrm>
            <a:off x="11745218" y="24334143"/>
            <a:ext cx="901928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Typed processing: no score gain.</a:t>
            </a:r>
            <a:endParaRPr lang="en-GB" sz="2400"/>
          </a:p>
        </p:txBody>
      </p:sp>
      <p:sp>
        <p:nvSpPr>
          <p:cNvPr id="59" name="H6" descr="s58">
            <a:extLst>
              <a:ext uri="{FF2B5EF4-FFF2-40B4-BE49-F238E27FC236}">
                <ns2:creationId id="{144F88AD-8463-4EAA-9AA4-DCB9CC0EF875}"/>
              </a:ext>
            </a:extLst>
          </p:cNvPr>
          <p:cNvSpPr>
            <a:spLocks noGrp="1"/>
          </p:cNvSpPr>
          <p:nvPr/>
        </p:nvSpPr>
        <p:spPr>
          <a:xfrm>
            <a:off x="11133386" y="24742973"/>
            <a:ext cx="568523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H6</a:t>
            </a:r>
            <a:endParaRPr lang="en-GB" sz="2400"/>
          </a:p>
        </p:txBody>
      </p:sp>
      <p:sp>
        <p:nvSpPr>
          <p:cNvPr id="60" name="Citation selection: precision ↑, recall ↓." descr="s59">
            <a:extLst>
              <a:ext uri="{FF2B5EF4-FFF2-40B4-BE49-F238E27FC236}">
                <ns2:creationId id="{E7132E77-CE5C-4C75-A070-8E7EC788AFA8}"/>
              </a:ext>
            </a:extLst>
          </p:cNvPr>
          <p:cNvSpPr>
            <a:spLocks noGrp="1"/>
          </p:cNvSpPr>
          <p:nvPr/>
        </p:nvSpPr>
        <p:spPr>
          <a:xfrm>
            <a:off x="11745218" y="24742973"/>
            <a:ext cx="901928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Citation selection: precision ↑, recall ↓.</a:t>
            </a:r>
            <a:endParaRPr lang="en-GB" sz="2400"/>
          </a:p>
        </p:txBody>
      </p:sp>
      <p:sp>
        <p:nvSpPr>
          <p:cNvPr id="61" name="Supported: H1, H3, H4, H6; not H2 or H5." descr="s60">
            <a:extLst>
              <a:ext uri="{FF2B5EF4-FFF2-40B4-BE49-F238E27FC236}">
                <ns2:creationId id="{85D1A728-89B6-4001-841F-778D14D0F83A}"/>
              </a:ext>
            </a:extLst>
          </p:cNvPr>
          <p:cNvSpPr>
            <a:spLocks noGrp="1"/>
          </p:cNvSpPr>
          <p:nvPr/>
        </p:nvSpPr>
        <p:spPr>
          <a:xfrm>
            <a:off x="11133386" y="25216545"/>
            <a:ext cx="9631114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Supported: H1, H3, H4, H6; not H2 or H5.</a:t>
            </a:r>
            <a:endParaRPr lang="en-GB" sz="2400"/>
          </a:p>
        </p:txBody>
      </p:sp>
      <p:sp>
        <p:nvSpPr>
          <p:cNvPr id="62" name="Conclusion" descr="s61">
            <a:extLst>
              <a:ext uri="{FF2B5EF4-FFF2-40B4-BE49-F238E27FC236}">
                <ns2:creationId id="{80CC53AF-3E07-483C-BC82-4D47FD738C89}"/>
              </a:ext>
            </a:extLst>
          </p:cNvPr>
          <p:cNvSpPr>
            <a:spLocks noGrp="1"/>
          </p:cNvSpPr>
          <p:nvPr/>
        </p:nvSpPr>
        <p:spPr>
          <a:xfrm>
            <a:off x="863947" y="26079301"/>
            <a:ext cx="19684603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700" b="1" spc="0" kern="0" dirty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Conclusion</a:t>
            </a:r>
            <a:endParaRPr lang="en-GB" sz="2700"/>
          </a:p>
        </p:txBody>
      </p:sp>
      <p:sp>
        <p:nvSpPr>
          <p:cNvPr id="63" name="Components address different failures: OCR recovers scans; hybrid retrieval and " descr="s62">
            <a:extLst>
              <a:ext uri="{FF2B5EF4-FFF2-40B4-BE49-F238E27FC236}">
                <ns2:creationId id="{33D13190-660A-4226-8E31-FEFFFC1C095A}"/>
              </a:ext>
            </a:extLst>
          </p:cNvPr>
          <p:cNvSpPr>
            <a:spLocks noGrp="1"/>
          </p:cNvSpPr>
          <p:nvPr/>
        </p:nvSpPr>
        <p:spPr>
          <a:xfrm>
            <a:off x="863947" y="26562546"/>
            <a:ext cx="19684603" cy="775246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Components address different failures: OCR recovers scans; hybrid retrieval and reranking improve answers; citation selection trades</a:t>
            </a:r>
            <a:endParaRPr lang="en-GB" sz="2400"/>
          </a:p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some recall for higher precision. Evaluate answers and citations separately.</a:t>
            </a:r>
            <a:endParaRPr lang="en-GB" sz="2400"/>
          </a:p>
        </p:txBody>
      </p:sp>
      <p:sp>
        <p:nvSpPr>
          <p:cNvPr id="64" name="Scope: development dataset; synthetic scans; LLM-scored free text. One run per c" descr="s63">
            <a:extLst>
              <a:ext uri="{FF2B5EF4-FFF2-40B4-BE49-F238E27FC236}">
                <ns2:creationId id="{1E630F75-4B77-4F8D-8509-8B24175EADDF}"/>
              </a:ext>
            </a:extLst>
          </p:cNvPr>
          <p:cNvSpPr>
            <a:spLocks noGrp="1"/>
          </p:cNvSpPr>
          <p:nvPr/>
        </p:nvSpPr>
        <p:spPr>
          <a:xfrm>
            <a:off x="647998" y="27617738"/>
            <a:ext cx="20116502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Scope:</a:t>
            </a:r>
            <a:r>
              <a:rPr lang="en-GB" sz="2400" b="0" spc="0" kern="0" dirty="0">
                <a:solidFill>
                  <a:srgbClr val="516578"/>
                </a:solidFill>
                <a:latin typeface="Noto Sans"/>
                <a:ea typeface="Noto Sans"/>
                <a:cs typeface="Noto Sans"/>
              </a:rPr>
              <a:t> development dataset; synthetic scans; LLM-scored free text. One run per condition; statistical significance was not assessed.</a:t>
            </a:r>
            <a:endParaRPr lang="en-GB" sz="2400"/>
          </a:p>
        </p:txBody>
      </p:sp>
      <p:sp>
        <p:nvSpPr>
          <p:cNvPr id="65" name="References" descr="s64">
            <a:extLst>
              <a:ext uri="{FF2B5EF4-FFF2-40B4-BE49-F238E27FC236}">
                <ns2:creationId id="{F7CBC0FD-C9DF-4C1E-844A-B509DD2B9D34}"/>
              </a:ext>
            </a:extLst>
          </p:cNvPr>
          <p:cNvSpPr>
            <a:spLocks noGrp="1"/>
          </p:cNvSpPr>
          <p:nvPr/>
        </p:nvSpPr>
        <p:spPr>
          <a:xfrm>
            <a:off x="647998" y="28136701"/>
            <a:ext cx="11219706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7568a"/>
                </a:solidFill>
                <a:latin typeface="Noto Sans"/>
                <a:ea typeface="Noto Sans"/>
                <a:cs typeface="Noto Sans"/>
              </a:rPr>
              <a:t>References</a:t>
            </a:r>
            <a:endParaRPr lang="en-GB" sz="2400"/>
          </a:p>
        </p:txBody>
      </p:sp>
      <p:sp>
        <p:nvSpPr>
          <p:cNvPr id="66" name="[1] Lewis et al. RAG. NeurIPS, 2020." descr="s65">
            <a:extLst>
              <a:ext uri="{FF2B5EF4-FFF2-40B4-BE49-F238E27FC236}">
                <ns2:creationId id="{FFFFF24D-91F0-4C02-913E-8B69782ABE65}"/>
              </a:ext>
            </a:extLst>
          </p:cNvPr>
          <p:cNvSpPr>
            <a:spLocks noGrp="1"/>
          </p:cNvSpPr>
          <p:nvPr/>
        </p:nvSpPr>
        <p:spPr>
          <a:xfrm>
            <a:off x="647998" y="28574256"/>
            <a:ext cx="11219706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 u="sng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[1] Lewis et al. RAG. NeurIPS, 2020.</a:t>
            </a:r>
            <a:endParaRPr lang="en-GB" sz="2400"/>
          </a:p>
        </p:txBody>
      </p:sp>
      <p:sp>
        <p:nvSpPr>
          <p:cNvPr id="67" name="[2] Pipitone &amp; Alami. LegalBench-RAG, 2024." descr="s66">
            <a:extLst>
              <a:ext uri="{FF2B5EF4-FFF2-40B4-BE49-F238E27FC236}">
                <ns2:creationId id="{0DD82686-F910-4C25-B658-77B05F6540CE}"/>
              </a:ext>
            </a:extLst>
          </p:cNvPr>
          <p:cNvSpPr>
            <a:spLocks noGrp="1"/>
          </p:cNvSpPr>
          <p:nvPr/>
        </p:nvSpPr>
        <p:spPr>
          <a:xfrm>
            <a:off x="647998" y="28975794"/>
            <a:ext cx="11219706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 u="sng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[2] Pipitone &amp; Alami. LegalBench-RAG, 2024.</a:t>
            </a:r>
            <a:endParaRPr lang="en-GB" sz="2400"/>
          </a:p>
        </p:txBody>
      </p:sp>
      <p:sp>
        <p:nvSpPr>
          <p:cNvPr id="68" name="[3] Gao et al. ALCE. EMNLP, 2023." descr="s67">
            <a:extLst>
              <a:ext uri="{FF2B5EF4-FFF2-40B4-BE49-F238E27FC236}">
                <ns2:creationId id="{7A14566F-C8EE-4C47-B6A7-2FF5E535A677}"/>
              </a:ext>
            </a:extLst>
          </p:cNvPr>
          <p:cNvSpPr>
            <a:spLocks noGrp="1"/>
          </p:cNvSpPr>
          <p:nvPr/>
        </p:nvSpPr>
        <p:spPr>
          <a:xfrm>
            <a:off x="647998" y="29377332"/>
            <a:ext cx="11219706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 u="sng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[3] Gao et al. ALCE. EMNLP, 2023.</a:t>
            </a:r>
            <a:endParaRPr lang="en-GB" sz="2400"/>
          </a:p>
        </p:txBody>
      </p:sp>
      <p:sp>
        <p:nvSpPr>
          <p:cNvPr id="69" name="Code &amp; materials" descr="s68">
            <a:extLst>
              <a:ext uri="{FF2B5EF4-FFF2-40B4-BE49-F238E27FC236}">
                <ns2:creationId id="{8784053A-398A-4451-9240-E01E6CC9E90F}"/>
              </a:ext>
            </a:extLst>
          </p:cNvPr>
          <p:cNvSpPr>
            <a:spLocks noGrp="1"/>
          </p:cNvSpPr>
          <p:nvPr/>
        </p:nvSpPr>
        <p:spPr>
          <a:xfrm>
            <a:off x="12127111" y="28136701"/>
            <a:ext cx="863724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1" spc="0" kern="0" dirty="0">
                <a:solidFill>
                  <a:srgbClr val="07568a"/>
                </a:solidFill>
                <a:latin typeface="Noto Sans"/>
                <a:ea typeface="Noto Sans"/>
                <a:cs typeface="Noto Sans"/>
              </a:rPr>
              <a:t>Code &amp; materials</a:t>
            </a:r>
            <a:endParaRPr lang="en-GB" sz="2400"/>
          </a:p>
        </p:txBody>
      </p:sp>
      <p:sp>
        <p:nvSpPr>
          <p:cNvPr id="70" name="github.com/SteinVR/Trends-in-NLP-Poster" descr="s69">
            <a:extLst>
              <a:ext uri="{FF2B5EF4-FFF2-40B4-BE49-F238E27FC236}">
                <ns2:creationId id="{C1A31D14-40D1-446D-9526-62BB6823CD56}"/>
              </a:ext>
            </a:extLst>
          </p:cNvPr>
          <p:cNvSpPr>
            <a:spLocks noGrp="1"/>
          </p:cNvSpPr>
          <p:nvPr/>
        </p:nvSpPr>
        <p:spPr>
          <a:xfrm>
            <a:off x="12127111" y="28574256"/>
            <a:ext cx="863724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github.com/SteinVR/Trends-in-NLP-Poster</a:t>
            </a:r>
            <a:endParaRPr lang="en-GB" sz="2400"/>
          </a:p>
        </p:txBody>
      </p:sp>
      <p:sp>
        <p:nvSpPr>
          <p:cNvPr id="71" name="Research implementation and results" descr="s70">
            <a:extLst>
              <a:ext uri="{FF2B5EF4-FFF2-40B4-BE49-F238E27FC236}">
                <ns2:creationId id="{C076D7E0-0DE8-4789-A3F3-33C5008D4C67}"/>
              </a:ext>
            </a:extLst>
          </p:cNvPr>
          <p:cNvSpPr>
            <a:spLocks noGrp="1"/>
          </p:cNvSpPr>
          <p:nvPr/>
        </p:nvSpPr>
        <p:spPr>
          <a:xfrm>
            <a:off x="12127111" y="28975794"/>
            <a:ext cx="863724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Research implementation and results</a:t>
            </a:r>
            <a:endParaRPr lang="en-GB" sz="2400"/>
          </a:p>
        </p:txBody>
      </p:sp>
      <p:sp>
        <p:nvSpPr>
          <p:cNvPr id="72" name="Research paper · Metrics · Protocol" descr="s71">
            <a:extLst>
              <a:ext uri="{FF2B5EF4-FFF2-40B4-BE49-F238E27FC236}">
                <ns2:creationId id="{29998F03-4D5A-4F68-A02F-9E45D54EBC27}"/>
              </a:ext>
            </a:extLst>
          </p:cNvPr>
          <p:cNvSpPr>
            <a:spLocks noGrp="1"/>
          </p:cNvSpPr>
          <p:nvPr/>
        </p:nvSpPr>
        <p:spPr>
          <a:xfrm>
            <a:off x="12127111" y="29377332"/>
            <a:ext cx="863724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Research paper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· 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Metrics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· </a:t>
            </a:r>
            <a:r>
              <a:rPr lang="en-GB" sz="240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Protocol</a:t>
            </a:r>
            <a:endParaRPr lang="en-GB" sz="2400"/>
          </a:p>
        </p:txBody>
      </p:sp>
      <p:sp>
        <p:nvSpPr>
          <p:cNvPr id="73" name="Pipeline node" descr="s72">
            <a:extLst>
              <a:ext uri="{FF2B5EF4-FFF2-40B4-BE49-F238E27FC236}">
                <ns2:creationId id="{7921FD13-07BF-44C2-BF06-EDDC688A798D}"/>
              </a:ext>
            </a:extLst>
          </p:cNvPr>
          <p:cNvSpPr>
            <a:spLocks noGrp="1"/>
          </p:cNvSpPr>
          <p:nvPr/>
        </p:nvSpPr>
        <p:spPr>
          <a:xfrm>
            <a:off x="648260" y="7698567"/>
            <a:ext cx="2965283" cy="1033067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9131">
            <a:solidFill>
              <a:srgbClr val="B9D4E5"/>
            </a:solidFill>
          </a:ln>
        </p:spPr>
      </p:sp>
      <p:sp>
        <p:nvSpPr>
          <p:cNvPr id="74" name="Pipeline node" descr="s73">
            <a:extLst>
              <a:ext uri="{FF2B5EF4-FFF2-40B4-BE49-F238E27FC236}">
                <ns2:creationId id="{3A8498CC-4525-4C01-9BD2-35B1A5C056BD}"/>
              </a:ext>
            </a:extLst>
          </p:cNvPr>
          <p:cNvSpPr>
            <a:spLocks noGrp="1"/>
          </p:cNvSpPr>
          <p:nvPr/>
        </p:nvSpPr>
        <p:spPr>
          <a:xfrm>
            <a:off x="4072684" y="7698567"/>
            <a:ext cx="2965283" cy="1033067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9131">
            <a:solidFill>
              <a:srgbClr val="B9D4E5"/>
            </a:solidFill>
          </a:ln>
        </p:spPr>
      </p:sp>
      <p:sp>
        <p:nvSpPr>
          <p:cNvPr id="75" name="Pipeline node" descr="s74">
            <a:extLst>
              <a:ext uri="{FF2B5EF4-FFF2-40B4-BE49-F238E27FC236}">
                <ns2:creationId id="{BE8FDD1B-21BF-4608-8BB7-0FDF7234AC35}"/>
              </a:ext>
            </a:extLst>
          </p:cNvPr>
          <p:cNvSpPr>
            <a:spLocks noGrp="1"/>
          </p:cNvSpPr>
          <p:nvPr/>
        </p:nvSpPr>
        <p:spPr>
          <a:xfrm>
            <a:off x="7497108" y="7698567"/>
            <a:ext cx="2965282" cy="1033067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9131">
            <a:solidFill>
              <a:srgbClr val="B9D4E5"/>
            </a:solidFill>
          </a:ln>
        </p:spPr>
      </p:sp>
      <p:sp>
        <p:nvSpPr>
          <p:cNvPr id="76" name="Pipeline node" descr="s75">
            <a:extLst>
              <a:ext uri="{FF2B5EF4-FFF2-40B4-BE49-F238E27FC236}">
                <ns2:creationId id="{FB9FEF12-34C0-4DA7-B827-3F15A1BD3B5C}"/>
              </a:ext>
            </a:extLst>
          </p:cNvPr>
          <p:cNvSpPr>
            <a:spLocks noGrp="1"/>
          </p:cNvSpPr>
          <p:nvPr/>
        </p:nvSpPr>
        <p:spPr>
          <a:xfrm>
            <a:off x="10921532" y="7698567"/>
            <a:ext cx="2965283" cy="1033067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9131">
            <a:solidFill>
              <a:srgbClr val="B9D4E5"/>
            </a:solidFill>
          </a:ln>
        </p:spPr>
      </p:sp>
      <p:sp>
        <p:nvSpPr>
          <p:cNvPr id="77" name="Pipeline node" descr="s76">
            <a:extLst>
              <a:ext uri="{FF2B5EF4-FFF2-40B4-BE49-F238E27FC236}">
                <ns2:creationId id="{A12AD34B-0E4D-46D8-A8E5-4BC51140800A}"/>
              </a:ext>
            </a:extLst>
          </p:cNvPr>
          <p:cNvSpPr>
            <a:spLocks noGrp="1"/>
          </p:cNvSpPr>
          <p:nvPr/>
        </p:nvSpPr>
        <p:spPr>
          <a:xfrm>
            <a:off x="648260" y="9018596"/>
            <a:ext cx="2965283" cy="103306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131">
            <a:solidFill>
              <a:srgbClr val="86B6D4"/>
            </a:solidFill>
          </a:ln>
        </p:spPr>
      </p:sp>
      <p:sp>
        <p:nvSpPr>
          <p:cNvPr id="78" name="Pipeline node" descr="s77">
            <a:extLst>
              <a:ext uri="{FF2B5EF4-FFF2-40B4-BE49-F238E27FC236}">
                <ns2:creationId id="{3EE5D448-A614-4B98-82AE-034F63F1C4FA}"/>
              </a:ext>
            </a:extLst>
          </p:cNvPr>
          <p:cNvSpPr>
            <a:spLocks noGrp="1"/>
          </p:cNvSpPr>
          <p:nvPr/>
        </p:nvSpPr>
        <p:spPr>
          <a:xfrm>
            <a:off x="4072684" y="9018596"/>
            <a:ext cx="2965283" cy="103306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131">
            <a:solidFill>
              <a:srgbClr val="86B6D4"/>
            </a:solidFill>
          </a:ln>
        </p:spPr>
      </p:sp>
      <p:sp>
        <p:nvSpPr>
          <p:cNvPr id="79" name="Pipeline node" descr="s78">
            <a:extLst>
              <a:ext uri="{FF2B5EF4-FFF2-40B4-BE49-F238E27FC236}">
                <ns2:creationId id="{71B81B37-1370-4352-84A4-BEF8481918CC}"/>
              </a:ext>
            </a:extLst>
          </p:cNvPr>
          <p:cNvSpPr>
            <a:spLocks noGrp="1"/>
          </p:cNvSpPr>
          <p:nvPr/>
        </p:nvSpPr>
        <p:spPr>
          <a:xfrm>
            <a:off x="7497108" y="9018596"/>
            <a:ext cx="2965282" cy="103306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131">
            <a:solidFill>
              <a:srgbClr val="86B6D4"/>
            </a:solidFill>
          </a:ln>
        </p:spPr>
      </p:sp>
      <p:sp>
        <p:nvSpPr>
          <p:cNvPr id="80" name="Pipeline node" descr="s79">
            <a:extLst>
              <a:ext uri="{FF2B5EF4-FFF2-40B4-BE49-F238E27FC236}">
                <ns2:creationId id="{2BCBDE38-D6F7-41D0-88D2-4C1044263C32}"/>
              </a:ext>
            </a:extLst>
          </p:cNvPr>
          <p:cNvSpPr>
            <a:spLocks noGrp="1"/>
          </p:cNvSpPr>
          <p:nvPr/>
        </p:nvSpPr>
        <p:spPr>
          <a:xfrm>
            <a:off x="10921532" y="9018596"/>
            <a:ext cx="2965283" cy="103306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131">
            <a:solidFill>
              <a:srgbClr val="86B6D4"/>
            </a:solidFill>
          </a:ln>
        </p:spPr>
      </p:sp>
      <p:sp>
        <p:nvSpPr>
          <p:cNvPr id="81" name="Pipeline node" descr="s80">
            <a:extLst>
              <a:ext uri="{FF2B5EF4-FFF2-40B4-BE49-F238E27FC236}">
                <ns2:creationId id="{80D5F48F-E52E-41E7-AF13-059CDAFFDBE4}"/>
              </a:ext>
            </a:extLst>
          </p:cNvPr>
          <p:cNvSpPr>
            <a:spLocks noGrp="1"/>
          </p:cNvSpPr>
          <p:nvPr/>
        </p:nvSpPr>
        <p:spPr>
          <a:xfrm>
            <a:off x="14345956" y="9018596"/>
            <a:ext cx="2965283" cy="103306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131">
            <a:solidFill>
              <a:srgbClr val="86B6D4"/>
            </a:solidFill>
          </a:ln>
        </p:spPr>
      </p:sp>
      <p:sp>
        <p:nvSpPr>
          <p:cNvPr id="82" name="Pipeline node" descr="s81">
            <a:extLst>
              <a:ext uri="{FF2B5EF4-FFF2-40B4-BE49-F238E27FC236}">
                <ns2:creationId id="{C424360E-CD0D-427A-A8BC-055FC48B79AC}"/>
              </a:ext>
            </a:extLst>
          </p:cNvPr>
          <p:cNvSpPr>
            <a:spLocks noGrp="1"/>
          </p:cNvSpPr>
          <p:nvPr/>
        </p:nvSpPr>
        <p:spPr>
          <a:xfrm>
            <a:off x="17770379" y="9018596"/>
            <a:ext cx="2965283" cy="103306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131">
            <a:solidFill>
              <a:srgbClr val="86B6D4"/>
            </a:solidFill>
          </a:ln>
        </p:spPr>
      </p:sp>
      <p:sp>
        <p:nvSpPr>
          <p:cNvPr id="83" name="Pipeline arrow" descr="s82">
            <a:extLst>
              <a:ext uri="{FF2B5EF4-FFF2-40B4-BE49-F238E27FC236}">
                <ns2:creationId id="{7968B387-D783-400B-88DC-BD513D0FB60E}"/>
              </a:ext>
            </a:extLst>
          </p:cNvPr>
          <p:cNvSpPr>
            <a:spLocks noGrp="1"/>
          </p:cNvSpPr>
          <p:nvPr/>
        </p:nvSpPr>
        <p:spPr>
          <a:xfrm>
            <a:off x="3661187" y="8253378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84" name="Arrowhead" descr="s83">
            <a:extLst>
              <a:ext uri="{FF2B5EF4-FFF2-40B4-BE49-F238E27FC236}">
                <ns2:creationId id="{2927B7FA-88AC-4CA3-8043-FA7F8F65BFB6}"/>
              </a:ext>
            </a:extLst>
          </p:cNvPr>
          <p:cNvSpPr>
            <a:spLocks noGrp="1"/>
          </p:cNvSpPr>
          <p:nvPr/>
        </p:nvSpPr>
        <p:spPr>
          <a:xfrm>
            <a:off x="3862066" y="8195984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85" name="Pipeline arrow" descr="s84">
            <a:extLst>
              <a:ext uri="{FF2B5EF4-FFF2-40B4-BE49-F238E27FC236}">
                <ns2:creationId id="{FCD26B28-85C6-4F16-ACF8-90C2FEF10210}"/>
              </a:ext>
            </a:extLst>
          </p:cNvPr>
          <p:cNvSpPr>
            <a:spLocks noGrp="1"/>
          </p:cNvSpPr>
          <p:nvPr/>
        </p:nvSpPr>
        <p:spPr>
          <a:xfrm>
            <a:off x="7085700" y="8253378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86" name="Arrowhead" descr="s85">
            <a:extLst>
              <a:ext uri="{FF2B5EF4-FFF2-40B4-BE49-F238E27FC236}">
                <ns2:creationId id="{8F374A0A-2B09-4FE8-BE42-970305A995A2}"/>
              </a:ext>
            </a:extLst>
          </p:cNvPr>
          <p:cNvSpPr>
            <a:spLocks noGrp="1"/>
          </p:cNvSpPr>
          <p:nvPr/>
        </p:nvSpPr>
        <p:spPr>
          <a:xfrm>
            <a:off x="7286579" y="8195984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87" name="Pipeline arrow" descr="s86">
            <a:extLst>
              <a:ext uri="{FF2B5EF4-FFF2-40B4-BE49-F238E27FC236}">
                <ns2:creationId id="{5D276D37-C0F5-4D16-BF3C-D04374C8FF9F}"/>
              </a:ext>
            </a:extLst>
          </p:cNvPr>
          <p:cNvSpPr>
            <a:spLocks noGrp="1"/>
          </p:cNvSpPr>
          <p:nvPr/>
        </p:nvSpPr>
        <p:spPr>
          <a:xfrm>
            <a:off x="10510213" y="8253378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88" name="Arrowhead" descr="s87">
            <a:extLst>
              <a:ext uri="{FF2B5EF4-FFF2-40B4-BE49-F238E27FC236}">
                <ns2:creationId id="{0DD7C07D-86C3-4F34-B169-774396599116}"/>
              </a:ext>
            </a:extLst>
          </p:cNvPr>
          <p:cNvSpPr>
            <a:spLocks noGrp="1"/>
          </p:cNvSpPr>
          <p:nvPr/>
        </p:nvSpPr>
        <p:spPr>
          <a:xfrm>
            <a:off x="10711093" y="8195984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89" name="Pipeline arrow" descr="s88">
            <a:extLst>
              <a:ext uri="{FF2B5EF4-FFF2-40B4-BE49-F238E27FC236}">
                <ns2:creationId id="{5C29EF0F-C335-48B7-85CA-6F5D59E5977C}"/>
              </a:ext>
            </a:extLst>
          </p:cNvPr>
          <p:cNvSpPr>
            <a:spLocks noGrp="1"/>
          </p:cNvSpPr>
          <p:nvPr/>
        </p:nvSpPr>
        <p:spPr>
          <a:xfrm>
            <a:off x="5555191" y="8741227"/>
            <a:ext cx="6849027" cy="248708"/>
          </a:xfrm>
          <a:custGeom>
            <a:pathLst>
              <a:path w="6849027" h="248708">
                <a:moveTo>
                  <a:pt x="6849027" y="0"/>
                </a:moveTo>
                <a:lnTo>
                  <a:pt x="6849027" y="162617"/>
                </a:lnTo>
                <a:lnTo>
                  <a:pt x="0" y="162617"/>
                </a:lnTo>
                <a:lnTo>
                  <a:pt x="0" y="24870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0" name="Arrowhead" descr="s89">
            <a:extLst>
              <a:ext uri="{FF2B5EF4-FFF2-40B4-BE49-F238E27FC236}">
                <ns2:creationId id="{97876197-F3EC-42A2-8988-A185C654CE5D}"/>
              </a:ext>
            </a:extLst>
          </p:cNvPr>
          <p:cNvSpPr>
            <a:spLocks noGrp="1"/>
          </p:cNvSpPr>
          <p:nvPr/>
        </p:nvSpPr>
        <p:spPr>
          <a:xfrm>
            <a:off x="5497797" y="8856016"/>
            <a:ext cx="114788" cy="133920"/>
          </a:xfrm>
          <a:custGeom>
            <a:pathLst>
              <a:path w="114788" h="133920">
                <a:moveTo>
                  <a:pt x="114788" y="0"/>
                </a:moveTo>
                <a:lnTo>
                  <a:pt x="57394" y="133920"/>
                </a:lnTo>
                <a:lnTo>
                  <a:pt x="0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1" name="Pipeline arrow" descr="s90">
            <a:extLst>
              <a:ext uri="{FF2B5EF4-FFF2-40B4-BE49-F238E27FC236}">
                <ns2:creationId id="{6153E05E-F1F3-4CFE-B42D-A24F267EC518}"/>
              </a:ext>
            </a:extLst>
          </p:cNvPr>
          <p:cNvSpPr>
            <a:spLocks noGrp="1"/>
          </p:cNvSpPr>
          <p:nvPr/>
        </p:nvSpPr>
        <p:spPr>
          <a:xfrm>
            <a:off x="3661187" y="9583007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2" name="Arrowhead" descr="s91">
            <a:extLst>
              <a:ext uri="{FF2B5EF4-FFF2-40B4-BE49-F238E27FC236}">
                <ns2:creationId id="{CD6EC594-AB8A-49F6-A5B3-FD2039BFFC43}"/>
              </a:ext>
            </a:extLst>
          </p:cNvPr>
          <p:cNvSpPr>
            <a:spLocks noGrp="1"/>
          </p:cNvSpPr>
          <p:nvPr/>
        </p:nvSpPr>
        <p:spPr>
          <a:xfrm>
            <a:off x="3862066" y="9525613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3" name="Pipeline arrow" descr="s92">
            <a:extLst>
              <a:ext uri="{FF2B5EF4-FFF2-40B4-BE49-F238E27FC236}">
                <ns2:creationId id="{BC0E36D3-041F-430D-AD69-74B1C77F0A92}"/>
              </a:ext>
            </a:extLst>
          </p:cNvPr>
          <p:cNvSpPr>
            <a:spLocks noGrp="1"/>
          </p:cNvSpPr>
          <p:nvPr/>
        </p:nvSpPr>
        <p:spPr>
          <a:xfrm>
            <a:off x="7085700" y="9583007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4" name="Arrowhead" descr="s93">
            <a:extLst>
              <a:ext uri="{FF2B5EF4-FFF2-40B4-BE49-F238E27FC236}">
                <ns2:creationId id="{74B150AA-9BFB-4892-9EFD-4CF61F61D0DA}"/>
              </a:ext>
            </a:extLst>
          </p:cNvPr>
          <p:cNvSpPr>
            <a:spLocks noGrp="1"/>
          </p:cNvSpPr>
          <p:nvPr/>
        </p:nvSpPr>
        <p:spPr>
          <a:xfrm>
            <a:off x="7286579" y="9525613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5" name="Pipeline arrow" descr="s94">
            <a:extLst>
              <a:ext uri="{FF2B5EF4-FFF2-40B4-BE49-F238E27FC236}">
                <ns2:creationId id="{3CB04123-860B-459F-8EED-5C83E42EC95F}"/>
              </a:ext>
            </a:extLst>
          </p:cNvPr>
          <p:cNvSpPr>
            <a:spLocks noGrp="1"/>
          </p:cNvSpPr>
          <p:nvPr/>
        </p:nvSpPr>
        <p:spPr>
          <a:xfrm>
            <a:off x="10510213" y="9583007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6" name="Arrowhead" descr="s95">
            <a:extLst>
              <a:ext uri="{FF2B5EF4-FFF2-40B4-BE49-F238E27FC236}">
                <ns2:creationId id="{17485907-9A2E-415A-9A95-94B44832F0CB}"/>
              </a:ext>
            </a:extLst>
          </p:cNvPr>
          <p:cNvSpPr>
            <a:spLocks noGrp="1"/>
          </p:cNvSpPr>
          <p:nvPr/>
        </p:nvSpPr>
        <p:spPr>
          <a:xfrm>
            <a:off x="10711093" y="9525613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7" name="Pipeline arrow" descr="s96">
            <a:extLst>
              <a:ext uri="{FF2B5EF4-FFF2-40B4-BE49-F238E27FC236}">
                <ns2:creationId id="{EF732A52-752F-4260-85A5-213A267E6FCB}"/>
              </a:ext>
            </a:extLst>
          </p:cNvPr>
          <p:cNvSpPr>
            <a:spLocks noGrp="1"/>
          </p:cNvSpPr>
          <p:nvPr/>
        </p:nvSpPr>
        <p:spPr>
          <a:xfrm>
            <a:off x="13934727" y="9583007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8" name="Arrowhead" descr="s97">
            <a:extLst>
              <a:ext uri="{FF2B5EF4-FFF2-40B4-BE49-F238E27FC236}">
                <ns2:creationId id="{D2014183-4BDB-4E23-B40A-9EA811EA8566}"/>
              </a:ext>
            </a:extLst>
          </p:cNvPr>
          <p:cNvSpPr>
            <a:spLocks noGrp="1"/>
          </p:cNvSpPr>
          <p:nvPr/>
        </p:nvSpPr>
        <p:spPr>
          <a:xfrm>
            <a:off x="14135606" y="9525613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99" name="Pipeline arrow" descr="s98">
            <a:extLst>
              <a:ext uri="{FF2B5EF4-FFF2-40B4-BE49-F238E27FC236}">
                <ns2:creationId id="{C4C89415-6F91-4258-956B-5A86FE35DCE9}"/>
              </a:ext>
            </a:extLst>
          </p:cNvPr>
          <p:cNvSpPr>
            <a:spLocks noGrp="1"/>
          </p:cNvSpPr>
          <p:nvPr/>
        </p:nvSpPr>
        <p:spPr>
          <a:xfrm>
            <a:off x="17359240" y="9583007"/>
            <a:ext cx="334799" cy="9525"/>
          </a:xfrm>
          <a:custGeom>
            <a:pathLst>
              <a:path w="334799" h="9525">
                <a:moveTo>
                  <a:pt x="0" y="0"/>
                </a:moveTo>
                <a:lnTo>
                  <a:pt x="334799" y="0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100" name="Arrowhead" descr="s99">
            <a:extLst>
              <a:ext uri="{FF2B5EF4-FFF2-40B4-BE49-F238E27FC236}">
                <ns2:creationId id="{CB44A719-AE2C-49FA-A6EC-BF01FB16DD80}"/>
              </a:ext>
            </a:extLst>
          </p:cNvPr>
          <p:cNvSpPr>
            <a:spLocks noGrp="1"/>
          </p:cNvSpPr>
          <p:nvPr/>
        </p:nvSpPr>
        <p:spPr>
          <a:xfrm>
            <a:off x="17560119" y="9525613"/>
            <a:ext cx="133920" cy="114788"/>
          </a:xfrm>
          <a:custGeom>
            <a:pathLst>
              <a:path w="133920" h="114788">
                <a:moveTo>
                  <a:pt x="0" y="0"/>
                </a:moveTo>
                <a:lnTo>
                  <a:pt x="133920" y="57394"/>
                </a:lnTo>
                <a:lnTo>
                  <a:pt x="0" y="114788"/>
                </a:lnTo>
              </a:path>
            </a:pathLst>
          </a:custGeom>
          <a:noFill/>
          <a:ln w="28697">
            <a:solidFill>
              <a:srgbClr val="6A9BB9"/>
            </a:solidFill>
          </a:ln>
        </p:spPr>
      </p:sp>
      <p:sp>
        <p:nvSpPr>
          <p:cNvPr id="101" name="Diagram: Legal PDFs" descr="s100">
            <a:extLst>
              <a:ext uri="{FF2B5EF4-FFF2-40B4-BE49-F238E27FC236}">
                <ns2:creationId id="{5DA25698-2623-461B-A061-A573F0CC4E8C}"/>
              </a:ext>
            </a:extLst>
          </p:cNvPr>
          <p:cNvSpPr>
            <a:spLocks noGrp="1"/>
          </p:cNvSpPr>
          <p:nvPr/>
        </p:nvSpPr>
        <p:spPr>
          <a:xfrm>
            <a:off x="839569" y="7780690"/>
            <a:ext cx="1837283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Legal PDFs</a:t>
            </a:r>
            <a:endParaRPr lang="en-GB" sz="2636"/>
          </a:p>
        </p:txBody>
      </p:sp>
      <p:sp>
        <p:nvSpPr>
          <p:cNvPr id="102" name="Diagram: Text and scans" descr="s101">
            <a:extLst>
              <a:ext uri="{FF2B5EF4-FFF2-40B4-BE49-F238E27FC236}">
                <ns2:creationId id="{6C2BEE58-AD26-4DC4-B2F9-FC6172CE29DB}"/>
              </a:ext>
            </a:extLst>
          </p:cNvPr>
          <p:cNvSpPr>
            <a:spLocks noGrp="1"/>
          </p:cNvSpPr>
          <p:nvPr/>
        </p:nvSpPr>
        <p:spPr>
          <a:xfrm>
            <a:off x="839569" y="8251388"/>
            <a:ext cx="2144018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Text and scans</a:t>
            </a:r>
            <a:endParaRPr lang="en-GB" sz="2410"/>
          </a:p>
        </p:txBody>
      </p:sp>
      <p:sp>
        <p:nvSpPr>
          <p:cNvPr id="103" name="Diagram: Text extraction" descr="s102">
            <a:extLst>
              <a:ext uri="{FF2B5EF4-FFF2-40B4-BE49-F238E27FC236}">
                <ns2:creationId id="{857A7CC4-A0B4-428C-9535-79D819BDCA70}"/>
              </a:ext>
            </a:extLst>
          </p:cNvPr>
          <p:cNvSpPr>
            <a:spLocks noGrp="1"/>
          </p:cNvSpPr>
          <p:nvPr/>
        </p:nvSpPr>
        <p:spPr>
          <a:xfrm>
            <a:off x="4263993" y="7742427"/>
            <a:ext cx="2555230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Text extraction</a:t>
            </a:r>
            <a:endParaRPr lang="en-GB" sz="2636"/>
          </a:p>
        </p:txBody>
      </p:sp>
      <p:sp>
        <p:nvSpPr>
          <p:cNvPr id="104" name="Diagram: R1 + OCR" descr="s103">
            <a:extLst>
              <a:ext uri="{FF2B5EF4-FFF2-40B4-BE49-F238E27FC236}">
                <ns2:creationId id="{CA5CFC50-140A-40A5-89FF-67CB51243B4C}"/>
              </a:ext>
            </a:extLst>
          </p:cNvPr>
          <p:cNvSpPr>
            <a:spLocks noGrp="1"/>
          </p:cNvSpPr>
          <p:nvPr/>
        </p:nvSpPr>
        <p:spPr>
          <a:xfrm>
            <a:off x="4263993" y="8232257"/>
            <a:ext cx="1380422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R1</a:t>
            </a: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+ OCR</a:t>
            </a:r>
            <a:endParaRPr lang="en-GB" sz="2410"/>
          </a:p>
        </p:txBody>
      </p:sp>
      <p:sp>
        <p:nvSpPr>
          <p:cNvPr id="105" name="Diagram: Chunks" descr="s104">
            <a:extLst>
              <a:ext uri="{FF2B5EF4-FFF2-40B4-BE49-F238E27FC236}">
                <ns2:creationId id="{4E34A5B3-5DA1-40D9-9DDE-EF233A369C05}"/>
              </a:ext>
            </a:extLst>
          </p:cNvPr>
          <p:cNvSpPr>
            <a:spLocks noGrp="1"/>
          </p:cNvSpPr>
          <p:nvPr/>
        </p:nvSpPr>
        <p:spPr>
          <a:xfrm>
            <a:off x="7688416" y="7742427"/>
            <a:ext cx="1290340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Chunks</a:t>
            </a:r>
            <a:endParaRPr lang="en-GB" sz="2636"/>
          </a:p>
        </p:txBody>
      </p:sp>
      <p:sp>
        <p:nvSpPr>
          <p:cNvPr id="106" name="Diagram: R2  + Multiscale" descr="s105">
            <a:extLst>
              <a:ext uri="{FF2B5EF4-FFF2-40B4-BE49-F238E27FC236}">
                <ns2:creationId id="{F0B253AE-9BB7-45ED-8AD6-932F498EEE0D}"/>
              </a:ext>
            </a:extLst>
          </p:cNvPr>
          <p:cNvSpPr>
            <a:spLocks noGrp="1"/>
          </p:cNvSpPr>
          <p:nvPr/>
        </p:nvSpPr>
        <p:spPr>
          <a:xfrm>
            <a:off x="7688416" y="8232257"/>
            <a:ext cx="2209205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R2</a:t>
            </a: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 + Multiscale</a:t>
            </a:r>
            <a:endParaRPr lang="en-GB" sz="2410"/>
          </a:p>
        </p:txBody>
      </p:sp>
      <p:sp>
        <p:nvSpPr>
          <p:cNvPr id="107" name="Diagram: Index" descr="s106">
            <a:extLst>
              <a:ext uri="{FF2B5EF4-FFF2-40B4-BE49-F238E27FC236}">
                <ns2:creationId id="{5AD751DF-589C-4138-9D18-3712DCB4A18E}"/>
              </a:ext>
            </a:extLst>
          </p:cNvPr>
          <p:cNvSpPr>
            <a:spLocks noGrp="1"/>
          </p:cNvSpPr>
          <p:nvPr/>
        </p:nvSpPr>
        <p:spPr>
          <a:xfrm>
            <a:off x="11112840" y="7742427"/>
            <a:ext cx="999751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Index</a:t>
            </a:r>
            <a:endParaRPr lang="en-GB" sz="2636"/>
          </a:p>
        </p:txBody>
      </p:sp>
      <p:sp>
        <p:nvSpPr>
          <p:cNvPr id="108" name="Diagram: Chunk + page ID" descr="s107">
            <a:extLst>
              <a:ext uri="{FF2B5EF4-FFF2-40B4-BE49-F238E27FC236}">
                <ns2:creationId id="{C3F4B257-F6C3-4CA8-BCD1-AA031F23A74A}"/>
              </a:ext>
            </a:extLst>
          </p:cNvPr>
          <p:cNvSpPr>
            <a:spLocks noGrp="1"/>
          </p:cNvSpPr>
          <p:nvPr/>
        </p:nvSpPr>
        <p:spPr>
          <a:xfrm>
            <a:off x="11112840" y="8232257"/>
            <a:ext cx="2433191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Chunk + page ID</a:t>
            </a:r>
            <a:endParaRPr lang="en-GB" sz="2410"/>
          </a:p>
        </p:txBody>
      </p:sp>
      <p:sp>
        <p:nvSpPr>
          <p:cNvPr id="109" name="Diagram: R1–R6: added components" descr="s108">
            <a:extLst>
              <a:ext uri="{FF2B5EF4-FFF2-40B4-BE49-F238E27FC236}">
                <ns2:creationId id="{3A1E1EB3-F255-436F-A923-E9DF931C352B}"/>
              </a:ext>
            </a:extLst>
          </p:cNvPr>
          <p:cNvSpPr>
            <a:spLocks noGrp="1"/>
          </p:cNvSpPr>
          <p:nvPr/>
        </p:nvSpPr>
        <p:spPr>
          <a:xfrm>
            <a:off x="14805096" y="7763538"/>
            <a:ext cx="4042470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R1–R6: added components</a:t>
            </a:r>
            <a:endParaRPr lang="en-GB" sz="2410"/>
          </a:p>
        </p:txBody>
      </p:sp>
      <p:sp>
        <p:nvSpPr>
          <p:cNvPr id="110" name="Diagram: Each includes all earlier additions" descr="s109">
            <a:extLst>
              <a:ext uri="{FF2B5EF4-FFF2-40B4-BE49-F238E27FC236}">
                <ns2:creationId id="{0AB92B6C-57E9-4406-9B15-C3B4BAC3D1EB}"/>
              </a:ext>
            </a:extLst>
          </p:cNvPr>
          <p:cNvSpPr>
            <a:spLocks noGrp="1"/>
          </p:cNvSpPr>
          <p:nvPr/>
        </p:nvSpPr>
        <p:spPr>
          <a:xfrm>
            <a:off x="14805096" y="8203560"/>
            <a:ext cx="4828133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Each includes all earlier additions</a:t>
            </a:r>
            <a:endParaRPr lang="en-GB" sz="2410"/>
          </a:p>
        </p:txBody>
      </p:sp>
      <p:sp>
        <p:nvSpPr>
          <p:cNvPr id="111" name="Diagram: Question" descr="s110">
            <a:extLst>
              <a:ext uri="{FF2B5EF4-FFF2-40B4-BE49-F238E27FC236}">
                <ns2:creationId id="{094A1BC3-DBB6-4603-85BF-5D6E48C77E88}"/>
              </a:ext>
            </a:extLst>
          </p:cNvPr>
          <p:cNvSpPr>
            <a:spLocks noGrp="1"/>
          </p:cNvSpPr>
          <p:nvPr/>
        </p:nvSpPr>
        <p:spPr>
          <a:xfrm>
            <a:off x="839569" y="9110319"/>
            <a:ext cx="1569244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Question</a:t>
            </a:r>
            <a:endParaRPr lang="en-GB" sz="2636"/>
          </a:p>
        </p:txBody>
      </p:sp>
      <p:sp>
        <p:nvSpPr>
          <p:cNvPr id="112" name="Diagram: User query" descr="s111">
            <a:extLst>
              <a:ext uri="{FF2B5EF4-FFF2-40B4-BE49-F238E27FC236}">
                <ns2:creationId id="{2DE5E815-9ED3-4E21-96A0-6E210E07CF4F}"/>
              </a:ext>
            </a:extLst>
          </p:cNvPr>
          <p:cNvSpPr>
            <a:spLocks noGrp="1"/>
          </p:cNvSpPr>
          <p:nvPr/>
        </p:nvSpPr>
        <p:spPr>
          <a:xfrm>
            <a:off x="839569" y="9581018"/>
            <a:ext cx="1634548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User query</a:t>
            </a:r>
            <a:endParaRPr lang="en-GB" sz="2410"/>
          </a:p>
        </p:txBody>
      </p:sp>
      <p:sp>
        <p:nvSpPr>
          <p:cNvPr id="113" name="Diagram: Retrieval" descr="s112">
            <a:extLst>
              <a:ext uri="{FF2B5EF4-FFF2-40B4-BE49-F238E27FC236}">
                <ns2:creationId id="{7C85651C-0475-4BDD-8FB1-76AA535558AB}"/>
              </a:ext>
            </a:extLst>
          </p:cNvPr>
          <p:cNvSpPr>
            <a:spLocks noGrp="1"/>
          </p:cNvSpPr>
          <p:nvPr/>
        </p:nvSpPr>
        <p:spPr>
          <a:xfrm>
            <a:off x="4263993" y="9062491"/>
            <a:ext cx="1545878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Retrieval</a:t>
            </a:r>
            <a:endParaRPr lang="en-GB" sz="2636"/>
          </a:p>
        </p:txBody>
      </p:sp>
      <p:sp>
        <p:nvSpPr>
          <p:cNvPr id="114" name="Diagram: R3 + Lexical" descr="s113">
            <a:extLst>
              <a:ext uri="{FF2B5EF4-FFF2-40B4-BE49-F238E27FC236}">
                <ns2:creationId id="{C5EE800C-B2C6-4D7D-B086-4AB4FC7E46F7}"/>
              </a:ext>
            </a:extLst>
          </p:cNvPr>
          <p:cNvSpPr>
            <a:spLocks noGrp="1"/>
          </p:cNvSpPr>
          <p:nvPr/>
        </p:nvSpPr>
        <p:spPr>
          <a:xfrm>
            <a:off x="4263993" y="9552321"/>
            <a:ext cx="1722686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R3</a:t>
            </a: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+ Lexical</a:t>
            </a:r>
            <a:endParaRPr lang="en-GB" sz="2410"/>
          </a:p>
        </p:txBody>
      </p:sp>
      <p:sp>
        <p:nvSpPr>
          <p:cNvPr id="115" name="Diagram: Reranking" descr="s114">
            <a:extLst>
              <a:ext uri="{FF2B5EF4-FFF2-40B4-BE49-F238E27FC236}">
                <ns2:creationId id="{979AC4D3-89C1-41A2-9738-D8A8BA07C8C8}"/>
              </a:ext>
            </a:extLst>
          </p:cNvPr>
          <p:cNvSpPr>
            <a:spLocks noGrp="1"/>
          </p:cNvSpPr>
          <p:nvPr/>
        </p:nvSpPr>
        <p:spPr>
          <a:xfrm>
            <a:off x="7688416" y="9062491"/>
            <a:ext cx="1764060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Reranking</a:t>
            </a:r>
            <a:endParaRPr lang="en-GB" sz="2636"/>
          </a:p>
        </p:txBody>
      </p:sp>
      <p:sp>
        <p:nvSpPr>
          <p:cNvPr id="116" name="Diagram: R4 + Reranker" descr="s115">
            <a:extLst>
              <a:ext uri="{FF2B5EF4-FFF2-40B4-BE49-F238E27FC236}">
                <ns2:creationId id="{0F1474A4-ABB7-4CA3-B099-A22273685A9B}"/>
              </a:ext>
            </a:extLst>
          </p:cNvPr>
          <p:cNvSpPr>
            <a:spLocks noGrp="1"/>
          </p:cNvSpPr>
          <p:nvPr/>
        </p:nvSpPr>
        <p:spPr>
          <a:xfrm>
            <a:off x="7688416" y="9552321"/>
            <a:ext cx="2063949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R4</a:t>
            </a: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+ Reranker</a:t>
            </a:r>
            <a:endParaRPr lang="en-GB" sz="2410"/>
          </a:p>
        </p:txBody>
      </p:sp>
      <p:sp>
        <p:nvSpPr>
          <p:cNvPr id="117" name="Diagram: Generation" descr="s116">
            <a:extLst>
              <a:ext uri="{FF2B5EF4-FFF2-40B4-BE49-F238E27FC236}">
                <ns2:creationId id="{0ABC6B06-EFCA-4365-9D4A-2CD1D89633EC}"/>
              </a:ext>
            </a:extLst>
          </p:cNvPr>
          <p:cNvSpPr>
            <a:spLocks noGrp="1"/>
          </p:cNvSpPr>
          <p:nvPr/>
        </p:nvSpPr>
        <p:spPr>
          <a:xfrm>
            <a:off x="11112840" y="9062491"/>
            <a:ext cx="1921965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Generation</a:t>
            </a:r>
            <a:endParaRPr lang="en-GB" sz="2636"/>
          </a:p>
        </p:txBody>
      </p:sp>
      <p:sp>
        <p:nvSpPr>
          <p:cNvPr id="118" name="Diagram: GPT-5.4-mini" descr="s117">
            <a:extLst>
              <a:ext uri="{FF2B5EF4-FFF2-40B4-BE49-F238E27FC236}">
                <ns2:creationId id="{C57B7FA7-3DD8-4F77-A6B4-293C328B42B8}"/>
              </a:ext>
            </a:extLst>
          </p:cNvPr>
          <p:cNvSpPr>
            <a:spLocks noGrp="1"/>
          </p:cNvSpPr>
          <p:nvPr/>
        </p:nvSpPr>
        <p:spPr>
          <a:xfrm>
            <a:off x="11112840" y="9552321"/>
            <a:ext cx="1875681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GPT-5.4-mini</a:t>
            </a:r>
            <a:endParaRPr lang="en-GB" sz="2410"/>
          </a:p>
        </p:txBody>
      </p:sp>
      <p:sp>
        <p:nvSpPr>
          <p:cNvPr id="119" name="Diagram: Post-processing" descr="s118">
            <a:extLst>
              <a:ext uri="{FF2B5EF4-FFF2-40B4-BE49-F238E27FC236}">
                <ns2:creationId id="{756C95FC-B607-4C8C-8FA5-9DCD155C36F6}"/>
              </a:ext>
            </a:extLst>
          </p:cNvPr>
          <p:cNvSpPr>
            <a:spLocks noGrp="1"/>
          </p:cNvSpPr>
          <p:nvPr/>
        </p:nvSpPr>
        <p:spPr>
          <a:xfrm>
            <a:off x="14537264" y="9062491"/>
            <a:ext cx="2685455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Post-processing</a:t>
            </a:r>
            <a:endParaRPr lang="en-GB" sz="2636"/>
          </a:p>
        </p:txBody>
      </p:sp>
      <p:sp>
        <p:nvSpPr>
          <p:cNvPr id="120" name="Diagram: R5 + Typed checks" descr="s119">
            <a:extLst>
              <a:ext uri="{FF2B5EF4-FFF2-40B4-BE49-F238E27FC236}">
                <ns2:creationId id="{8170AB6F-B882-439A-B80A-A303C6E85E29}"/>
              </a:ext>
            </a:extLst>
          </p:cNvPr>
          <p:cNvSpPr>
            <a:spLocks noGrp="1"/>
          </p:cNvSpPr>
          <p:nvPr/>
        </p:nvSpPr>
        <p:spPr>
          <a:xfrm>
            <a:off x="14537264" y="9552321"/>
            <a:ext cx="2671615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R5</a:t>
            </a: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+ Typed checks</a:t>
            </a:r>
            <a:endParaRPr lang="en-GB" sz="2410"/>
          </a:p>
        </p:txBody>
      </p:sp>
      <p:sp>
        <p:nvSpPr>
          <p:cNvPr id="121" name="Diagram: Final answer" descr="s120">
            <a:extLst>
              <a:ext uri="{FF2B5EF4-FFF2-40B4-BE49-F238E27FC236}">
                <ns2:creationId id="{F128BFF9-0D10-45F4-9E9E-12699D5FB55D}"/>
              </a:ext>
            </a:extLst>
          </p:cNvPr>
          <p:cNvSpPr>
            <a:spLocks noGrp="1"/>
          </p:cNvSpPr>
          <p:nvPr/>
        </p:nvSpPr>
        <p:spPr>
          <a:xfrm>
            <a:off x="17961687" y="9062491"/>
            <a:ext cx="2160247" cy="468718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636" b="1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Final answer</a:t>
            </a:r>
            <a:endParaRPr lang="en-GB" sz="2636"/>
          </a:p>
        </p:txBody>
      </p:sp>
      <p:sp>
        <p:nvSpPr>
          <p:cNvPr id="122" name="Diagram: R6 + Select pages" descr="s121">
            <a:extLst>
              <a:ext uri="{FF2B5EF4-FFF2-40B4-BE49-F238E27FC236}">
                <ns2:creationId id="{6D780273-C5DF-4632-AAEB-91169778579E}"/>
              </a:ext>
            </a:extLst>
          </p:cNvPr>
          <p:cNvSpPr>
            <a:spLocks noGrp="1"/>
          </p:cNvSpPr>
          <p:nvPr/>
        </p:nvSpPr>
        <p:spPr>
          <a:xfrm>
            <a:off x="17961687" y="9552321"/>
            <a:ext cx="2553742" cy="428542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lnSpc>
                <a:spcPts val="2892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10" b="1" spc="0" kern="0" dirty="0">
                <a:solidFill>
                  <a:srgbClr val="0069aa"/>
                </a:solidFill>
                <a:latin typeface="Noto Sans"/>
                <a:ea typeface="Noto Sans"/>
                <a:cs typeface="Noto Sans"/>
              </a:rPr>
              <a:t>R6</a:t>
            </a:r>
            <a:r>
              <a:rPr lang="en-GB" sz="2410" b="0" spc="0" kern="0" dirty="0">
                <a:solidFill>
                  <a:srgbClr val="173248"/>
                </a:solidFill>
                <a:latin typeface="Noto Sans"/>
                <a:ea typeface="Noto Sans"/>
                <a:cs typeface="Noto Sans"/>
              </a:rPr>
              <a:t> + Select pages</a:t>
            </a:r>
            <a:endParaRPr lang="en-GB" sz="2410"/>
          </a:p>
        </p:txBody>
      </p:sp>
      <p:pic>
        <p:nvPicPr>
          <p:cNvPr id="248" name=""/>
          <p:cNvPicPr>
            <a:picLocks noChangeAspect="1"/>
          </p:cNvPicPr>
          <p:nvPr/>
        </p:nvPicPr>
        <p:blipFill>
          <a:blip r:embed="Rd4eb76f49c344548">
            <a:extLst>
              <a:ext uri="{96DAC541-7B7A-43D3-8B79-37D633B846F1}">
                <ns4:svgBlip r:embed="R916aedd61a074cfc"/>
              </a:ext>
            </a:extLst>
          </a:blip>
          <a:stretch/>
        </p:blipFill>
        <p:spPr>
          <a:xfrm>
            <a:off x="17676019" y="647998"/>
            <a:ext cx="3059906" cy="771227"/>
          </a:xfrm>
          <a:prstGeom prst="rect">
            <a:avLst/>
          </a:prstGeom>
        </p:spPr>
      </p:pic>
      <p:pic>
        <p:nvPicPr>
          <p:cNvPr id="249" name=""/>
          <p:cNvPicPr>
            <a:picLocks noChangeAspect="1"/>
          </p:cNvPicPr>
          <p:nvPr/>
        </p:nvPicPr>
        <p:blipFill>
          <a:blip r:embed="R86284fc567444c2a">
            <a:extLst>
              <a:ext uri="{96DAC541-7B7A-43D3-8B79-37D633B846F1}">
                <ns4:svgBlip r:embed="R2526bf30296e4a0e"/>
              </a:ext>
            </a:extLst>
          </a:blip>
          <a:stretch/>
        </p:blipFill>
        <p:spPr>
          <a:xfrm>
            <a:off x="647998" y="15774888"/>
            <a:ext cx="20087927" cy="5851624"/>
          </a:xfrm>
          <a:prstGeom prst="rect">
            <a:avLst/>
          </a:prstGeom>
        </p:spPr>
      </p:pic>
      <p:pic>
        <p:nvPicPr>
          <p:cNvPr id="250" name=""/>
          <p:cNvPicPr>
            <a:picLocks noChangeAspect="1"/>
          </p:cNvPicPr>
          <p:nvPr/>
        </p:nvPicPr>
        <p:blipFill>
          <a:blip r:embed="R6ad5d098b80f4167">
            <a:extLst>
              <a:ext uri="{96DAC541-7B7A-43D3-8B79-37D633B846F1}">
                <ns4:svgBlip r:embed="R9f67cc8da3a84c4c"/>
              </a:ext>
            </a:extLst>
          </a:blip>
          <a:stretch/>
        </p:blipFill>
        <p:spPr>
          <a:xfrm>
            <a:off x="647998" y="22763262"/>
            <a:ext cx="9864030" cy="2039094"/>
          </a:xfrm>
          <a:prstGeom prst="rect">
            <a:avLst/>
          </a:prstGeom>
        </p:spPr>
      </p:pic>
    </p:spTree>
    <p:extLst>
      <p:ext uri="{BB962C8B-B14F-4D97-AF65-F5344CB8AC3E}">
        <ns5:creationId val="57257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2026-09-20T22:31:54.0070000Z</dcterms:created>
  <dcterms:modified xsi:type="dcterms:W3CDTF">2026-09-20T22:31:54.0070000Z</dcterms:modified>
</coreProperties>
</file>