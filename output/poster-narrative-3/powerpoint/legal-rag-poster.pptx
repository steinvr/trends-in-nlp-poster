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media/image12.svg" ContentType="image/svg"/>
  <Override PartName="/ppt/media/image24.svg" ContentType="image/svg"/>
  <Override PartName="/ppt/media/image22.svg" ContentType="image/svg"/>
  <Override PartName="/ppt/media/image8.svg" ContentType="image/svg"/>
  <Override PartName="/ppt/media/image10.svg" ContentType="image/svg"/>
  <Override PartName="/ppt/media/image20.svg" ContentType="image/svg"/>
  <Override PartName="/ppt/media/image16.svg" ContentType="image/svg"/>
  <Override PartName="/ppt/media/image6.svg" ContentType="image/svg"/>
  <Override PartName="/ppt/media/image14.svg" ContentType="image/svg"/>
  <Override PartName="/ppt/media/image4.svg" ContentType="image/svg"/>
  <Override PartName="/ppt/media/image2.svg" ContentType="image/svg"/>
  <Override PartName="/ppt/media/image18.svg" ContentType="image/svg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</p:sldIdLst>
  <p:sldSz cx="21383625" cy="30275213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>
              <a:lnSpc>
                <a:spcPct val="90000"/>
              </a:lnSpc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move the slide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C187556E-C369-4804-A076-034B21E8B35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4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Code, experimental protocol and measurements: https://github.com/SteinVR/Trends-in-NLP-Poster/tree/main/output/poster-narrative-3/results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References: https://arxiv.org/abs/2005.11401 ; https://arxiv.org/abs/2408.10343 ; https://doi.org/10.18653/v1/2023.emnlp-main.398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University logo: https://www.uni-trier.de/typo3conf/ext/zimktheme_unitrier/Resources/Public/Logos/Logo_Universitaet.svg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1069200" y="1207800"/>
            <a:ext cx="19245240" cy="505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lnSpc>
                <a:spcPct val="90000"/>
              </a:lnSpc>
              <a:buNone/>
            </a:pP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1069200" y="7084440"/>
            <a:ext cx="19245240" cy="1755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069200" y="1207800"/>
            <a:ext cx="19245240" cy="505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1069200" y="7084440"/>
            <a:ext cx="19245240" cy="1755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1.png"/><Relationship Id="rId8" Type="http://schemas.openxmlformats.org/officeDocument/2006/relationships/image" Target="../media/image2.svg"/><Relationship Id="rId9" Type="http://schemas.openxmlformats.org/officeDocument/2006/relationships/image" Target="../media/image7.png"/><Relationship Id="rId10" Type="http://schemas.openxmlformats.org/officeDocument/2006/relationships/image" Target="../media/image8.svg"/><Relationship Id="rId11" Type="http://schemas.openxmlformats.org/officeDocument/2006/relationships/image" Target="../media/image9.png"/><Relationship Id="rId12" Type="http://schemas.openxmlformats.org/officeDocument/2006/relationships/image" Target="../media/image10.svg"/><Relationship Id="rId13" Type="http://schemas.openxmlformats.org/officeDocument/2006/relationships/image" Target="../media/image11.png"/><Relationship Id="rId14" Type="http://schemas.openxmlformats.org/officeDocument/2006/relationships/image" Target="../media/image12.svg"/><Relationship Id="rId15" Type="http://schemas.openxmlformats.org/officeDocument/2006/relationships/image" Target="../media/image13.png"/><Relationship Id="rId16" Type="http://schemas.openxmlformats.org/officeDocument/2006/relationships/image" Target="../media/image14.svg"/><Relationship Id="rId17" Type="http://schemas.openxmlformats.org/officeDocument/2006/relationships/image" Target="../media/image15.png"/><Relationship Id="rId18" Type="http://schemas.openxmlformats.org/officeDocument/2006/relationships/image" Target="../media/image16.svg"/><Relationship Id="rId19" Type="http://schemas.openxmlformats.org/officeDocument/2006/relationships/image" Target="../media/image17.png"/><Relationship Id="rId20" Type="http://schemas.openxmlformats.org/officeDocument/2006/relationships/image" Target="../media/image18.svg"/><Relationship Id="rId21" Type="http://schemas.openxmlformats.org/officeDocument/2006/relationships/hyperlink" Target="https://arxiv.org/abs/2005.11401" TargetMode="External"/><Relationship Id="rId22" Type="http://schemas.openxmlformats.org/officeDocument/2006/relationships/hyperlink" Target="https://arxiv.org/abs/2408.10343" TargetMode="External"/><Relationship Id="rId23" Type="http://schemas.openxmlformats.org/officeDocument/2006/relationships/hyperlink" Target="https://doi.org/10.18653/v1/2023.emnlp-main.398" TargetMode="External"/><Relationship Id="rId24" Type="http://schemas.openxmlformats.org/officeDocument/2006/relationships/hyperlink" Target="https://github.com/SteinVR/Trends-in-NLP-Poster" TargetMode="External"/><Relationship Id="rId25" Type="http://schemas.openxmlformats.org/officeDocument/2006/relationships/image" Target="../media/image19.png"/><Relationship Id="rId26" Type="http://schemas.openxmlformats.org/officeDocument/2006/relationships/image" Target="../media/image20.svg"/><Relationship Id="rId27" Type="http://schemas.openxmlformats.org/officeDocument/2006/relationships/image" Target="../media/image21.png"/><Relationship Id="rId28" Type="http://schemas.openxmlformats.org/officeDocument/2006/relationships/image" Target="../media/image22.svg"/><Relationship Id="rId29" Type="http://schemas.openxmlformats.org/officeDocument/2006/relationships/image" Target="../media/image23.png"/><Relationship Id="rId30" Type="http://schemas.openxmlformats.org/officeDocument/2006/relationships/image" Target="../media/image24.svg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ule section-title" descr="s5"/>
          <p:cNvSpPr/>
          <p:nvPr/>
        </p:nvSpPr>
        <p:spPr>
          <a:xfrm>
            <a:off x="648000" y="1727640"/>
            <a:ext cx="20087640" cy="28080"/>
          </a:xfrm>
          <a:prstGeom prst="rect">
            <a:avLst/>
          </a:prstGeom>
          <a:solidFill>
            <a:srgbClr val="0069A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13" name="H1 · Retrieval"/>
          <p:cNvGrpSpPr/>
          <p:nvPr/>
        </p:nvGrpSpPr>
        <p:grpSpPr>
          <a:xfrm>
            <a:off x="648000" y="4606200"/>
            <a:ext cx="20087640" cy="1806120"/>
            <a:chOff x="648000" y="4606200"/>
            <a:chExt cx="20087640" cy="1806120"/>
          </a:xfrm>
        </p:grpSpPr>
        <p:sp>
          <p:nvSpPr>
            <p:cNvPr id="14" name="Panel grid three hypotheses" descr="s6"/>
            <p:cNvSpPr/>
            <p:nvPr/>
          </p:nvSpPr>
          <p:spPr>
            <a:xfrm>
              <a:off x="648000" y="4606200"/>
              <a:ext cx="20087640" cy="1806120"/>
            </a:xfrm>
            <a:prstGeom prst="rect">
              <a:avLst/>
            </a:prstGeom>
            <a:solidFill>
              <a:srgbClr val="EF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" name="H1 · Retrieval" descr="s49"/>
            <p:cNvSpPr/>
            <p:nvPr/>
          </p:nvSpPr>
          <p:spPr>
            <a:xfrm>
              <a:off x="828000" y="4752720"/>
              <a:ext cx="6412320" cy="437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0" rIns="0" bIns="0" anchor="t">
              <a:noAutofit/>
            </a:bodyPr>
            <a:p>
              <a:pPr>
                <a:lnSpc>
                  <a:spcPts val="2900"/>
                </a:lnSpc>
                <a:tabLst>
                  <a:tab pos="0" algn="l"/>
                </a:tabLst>
              </a:pPr>
              <a:r>
                <a:rPr lang="en-GB" sz="2500" b="1" u="none" strike="noStrike">
                  <a:solidFill>
                    <a:srgbClr val="07568A"/>
                  </a:solidFill>
                  <a:effectLst/>
                  <a:uFillTx/>
                  <a:latin typeface="Noto Sans"/>
                  <a:ea typeface="Noto Sans"/>
                </a:rPr>
                <a:t>H1 · Retrieval</a:t>
              </a:r>
              <a:endParaRPr lang="en-US" sz="25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" name="Multiple text scales, hybrid search and reranking will improve answers and evidence retrieval over R" descr="s50"/>
            <p:cNvSpPr/>
            <p:nvPr/>
          </p:nvSpPr>
          <p:spPr>
            <a:xfrm>
              <a:off x="828000" y="5187600"/>
              <a:ext cx="6412320" cy="11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0" rIns="0" bIns="0" anchor="t">
              <a:noAutofit/>
            </a:bodyPr>
            <a:p>
              <a:pPr>
                <a:lnSpc>
                  <a:spcPts val="2832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Multiple text scales, hybrid search and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ts val="2832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reranking will improve answers and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ts val="2832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evidence retrieval over R0.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" name="H2 · Scan robustness" descr="s51"/>
            <p:cNvSpPr/>
            <p:nvPr/>
          </p:nvSpPr>
          <p:spPr>
            <a:xfrm>
              <a:off x="7499880" y="4752720"/>
              <a:ext cx="6412320" cy="437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0" rIns="0" bIns="0" anchor="t">
              <a:noAutofit/>
            </a:bodyPr>
            <a:p>
              <a:pPr>
                <a:lnSpc>
                  <a:spcPts val="2900"/>
                </a:lnSpc>
                <a:tabLst>
                  <a:tab pos="0" algn="l"/>
                </a:tabLst>
              </a:pPr>
              <a:r>
                <a:rPr lang="en-GB" sz="2500" b="1" u="none" strike="noStrike">
                  <a:solidFill>
                    <a:srgbClr val="07568A"/>
                  </a:solidFill>
                  <a:effectLst/>
                  <a:uFillTx/>
                  <a:latin typeface="Noto Sans"/>
                  <a:ea typeface="Noto Sans"/>
                </a:rPr>
                <a:t>H2 · Scan robustness</a:t>
              </a:r>
              <a:endParaRPr lang="en-US" sz="25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" name="Recovering text from scanned documents will reduce the performance loss caused by the missing text l" descr="s52"/>
            <p:cNvSpPr/>
            <p:nvPr/>
          </p:nvSpPr>
          <p:spPr>
            <a:xfrm>
              <a:off x="7499880" y="5187600"/>
              <a:ext cx="6412320" cy="11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0" rIns="0" bIns="0" anchor="t">
              <a:noAutofit/>
            </a:bodyPr>
            <a:p>
              <a:pPr>
                <a:lnSpc>
                  <a:spcPts val="2832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Recovering text from scanned documents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ts val="2832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will reduce the performance loss caused by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ts val="2832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the missing text layer.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" name="H3 · Citation selection" descr="s53"/>
            <p:cNvSpPr/>
            <p:nvPr/>
          </p:nvSpPr>
          <p:spPr>
            <a:xfrm>
              <a:off x="14172120" y="4752720"/>
              <a:ext cx="6412320" cy="437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0" rIns="0" bIns="0" anchor="t">
              <a:noAutofit/>
            </a:bodyPr>
            <a:p>
              <a:pPr>
                <a:lnSpc>
                  <a:spcPts val="2900"/>
                </a:lnSpc>
                <a:tabLst>
                  <a:tab pos="0" algn="l"/>
                </a:tabLst>
              </a:pPr>
              <a:r>
                <a:rPr lang="en-GB" sz="2500" b="1" u="none" strike="noStrike">
                  <a:solidFill>
                    <a:srgbClr val="07568A"/>
                  </a:solidFill>
                  <a:effectLst/>
                  <a:uFillTx/>
                  <a:latin typeface="Noto Sans"/>
                  <a:ea typeface="Noto Sans"/>
                </a:rPr>
                <a:t>H3 · Citation selection</a:t>
              </a:r>
              <a:endParaRPr lang="en-US" sz="25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" name="Selecting pages after answer generation will improve citation precision while retaining most of the " descr="s54"/>
            <p:cNvSpPr/>
            <p:nvPr/>
          </p:nvSpPr>
          <p:spPr>
            <a:xfrm>
              <a:off x="14172120" y="5187600"/>
              <a:ext cx="6412320" cy="11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0" rIns="0" bIns="0" anchor="t">
              <a:noAutofit/>
            </a:bodyPr>
            <a:p>
              <a:pPr>
                <a:lnSpc>
                  <a:spcPts val="2832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Selecting pages after answer generation will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ts val="2832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improve citation precision while retaining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ts val="2832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most of the relevant evidence.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1" name="Rule section-title" descr="s7"/>
          <p:cNvSpPr/>
          <p:nvPr/>
        </p:nvSpPr>
        <p:spPr>
          <a:xfrm>
            <a:off x="648000" y="6520680"/>
            <a:ext cx="20087640" cy="28080"/>
          </a:xfrm>
          <a:prstGeom prst="rect">
            <a:avLst/>
          </a:prstGeom>
          <a:solidFill>
            <a:srgbClr val="0069A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22" name="R0 · Baseline"/>
          <p:cNvGrpSpPr/>
          <p:nvPr/>
        </p:nvGrpSpPr>
        <p:grpSpPr>
          <a:xfrm>
            <a:off x="648000" y="8056800"/>
            <a:ext cx="20087640" cy="1321920"/>
            <a:chOff x="648000" y="8056800"/>
            <a:chExt cx="20087640" cy="1321920"/>
          </a:xfrm>
        </p:grpSpPr>
        <p:sp>
          <p:nvSpPr>
            <p:cNvPr id="23" name="Panel baseline-flow" descr="s8"/>
            <p:cNvSpPr/>
            <p:nvPr/>
          </p:nvSpPr>
          <p:spPr>
            <a:xfrm>
              <a:off x="648000" y="8056800"/>
              <a:ext cx="20087640" cy="1321920"/>
            </a:xfrm>
            <a:prstGeom prst="roundRect">
              <a:avLst>
                <a:gd name="adj" fmla="val 8168"/>
              </a:avLst>
            </a:prstGeom>
            <a:solidFill>
              <a:srgbClr val="F0F5F8"/>
            </a:solidFill>
            <a:ln w="9525">
              <a:solidFill>
                <a:srgbClr val="C8D8E5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" name="R0 · Baseline" descr="s58"/>
            <p:cNvSpPr/>
            <p:nvPr/>
          </p:nvSpPr>
          <p:spPr>
            <a:xfrm>
              <a:off x="801360" y="8534160"/>
              <a:ext cx="2225520" cy="437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0" rIns="0" bIns="0" anchor="t">
              <a:noAutofit/>
            </a:bodyPr>
            <a:p>
              <a:pPr>
                <a:lnSpc>
                  <a:spcPts val="2900"/>
                </a:lnSpc>
                <a:tabLst>
                  <a:tab pos="0" algn="l"/>
                </a:tabLst>
              </a:pPr>
              <a:r>
                <a:rPr lang="en-GB" sz="2500" b="1" u="none" strike="noStrike">
                  <a:solidFill>
                    <a:srgbClr val="07568A"/>
                  </a:solidFill>
                  <a:effectLst/>
                  <a:uFillTx/>
                  <a:latin typeface="Noto Sans"/>
                  <a:ea typeface="Noto Sans"/>
                </a:rPr>
                <a:t>R0 · </a:t>
              </a:r>
              <a:r>
                <a:rPr lang="en-GB" sz="2500" b="1" u="none" strike="noStrike">
                  <a:solidFill>
                    <a:srgbClr val="07568A"/>
                  </a:solidFill>
                  <a:effectLst/>
                  <a:uFillTx/>
                  <a:latin typeface="Noto Sans"/>
                  <a:ea typeface="Noto Sans"/>
                </a:rPr>
                <a:t>Baseline</a:t>
              </a:r>
              <a:endParaRPr lang="en-US" sz="25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" name="PDF text&#10;300-token passages" descr="s59"/>
            <p:cNvSpPr/>
            <p:nvPr/>
          </p:nvSpPr>
          <p:spPr>
            <a:xfrm>
              <a:off x="3898800" y="8168400"/>
              <a:ext cx="2740680" cy="1146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0" rIns="0" bIns="0" anchor="t">
              <a:noAutofit/>
            </a:bodyPr>
            <a:p>
              <a:pPr>
                <a:lnSpc>
                  <a:spcPts val="2761"/>
                </a:lnSpc>
                <a:tabLst>
                  <a:tab pos="0" algn="l"/>
                </a:tabLst>
              </a:pPr>
              <a:r>
                <a:rPr lang="en-GB" sz="2400" b="1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PDF text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ts val="3042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300-token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ts val="2761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passages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" name="→" descr="s60"/>
            <p:cNvSpPr/>
            <p:nvPr/>
          </p:nvSpPr>
          <p:spPr>
            <a:xfrm>
              <a:off x="6459120" y="8488440"/>
              <a:ext cx="396360" cy="495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0" rIns="0" bIns="0" anchor="t">
              <a:noAutofit/>
            </a:bodyPr>
            <a:p>
              <a:pPr>
                <a:lnSpc>
                  <a:spcPts val="3421"/>
                </a:lnSpc>
                <a:tabLst>
                  <a:tab pos="0" algn="l"/>
                </a:tabLst>
              </a:pPr>
              <a:r>
                <a:rPr lang="en-GB" sz="2900" b="0" u="none" strike="noStrike">
                  <a:solidFill>
                    <a:srgbClr val="437CAA"/>
                  </a:solidFill>
                  <a:effectLst/>
                  <a:uFillTx/>
                  <a:latin typeface="Noto Sans"/>
                  <a:ea typeface="Noto Sans"/>
                </a:rPr>
                <a:t>→</a:t>
              </a:r>
              <a:endParaRPr lang="en-US" sz="29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" name="Semantic retrieval&#10;Qwen3-Embedding-0.6B" descr="s61"/>
            <p:cNvSpPr/>
            <p:nvPr/>
          </p:nvSpPr>
          <p:spPr>
            <a:xfrm>
              <a:off x="7510680" y="8349120"/>
              <a:ext cx="3508560" cy="79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0" rIns="0" bIns="0" anchor="t">
              <a:noAutofit/>
            </a:bodyPr>
            <a:p>
              <a:pPr>
                <a:lnSpc>
                  <a:spcPts val="2761"/>
                </a:lnSpc>
                <a:tabLst>
                  <a:tab pos="0" algn="l"/>
                </a:tabLst>
              </a:pPr>
              <a:r>
                <a:rPr lang="en-GB" sz="2400" b="1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Semantic retrieval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ts val="3042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Qwen3-Embedding-0.6B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" name="→" descr="s62"/>
            <p:cNvSpPr/>
            <p:nvPr/>
          </p:nvSpPr>
          <p:spPr>
            <a:xfrm>
              <a:off x="11299320" y="8488440"/>
              <a:ext cx="396360" cy="495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0" rIns="0" bIns="0" anchor="t">
              <a:noAutofit/>
            </a:bodyPr>
            <a:p>
              <a:pPr>
                <a:lnSpc>
                  <a:spcPts val="3421"/>
                </a:lnSpc>
                <a:tabLst>
                  <a:tab pos="0" algn="l"/>
                </a:tabLst>
              </a:pPr>
              <a:r>
                <a:rPr lang="en-GB" sz="2900" b="0" u="none" strike="noStrike">
                  <a:solidFill>
                    <a:srgbClr val="437CAA"/>
                  </a:solidFill>
                  <a:effectLst/>
                  <a:uFillTx/>
                  <a:latin typeface="Noto Sans"/>
                  <a:ea typeface="Noto Sans"/>
                </a:rPr>
                <a:t>→</a:t>
              </a:r>
              <a:endParaRPr lang="en-US" sz="29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" name="Generate answer&#10;GPT-5.4-mini" descr="s63"/>
            <p:cNvSpPr/>
            <p:nvPr/>
          </p:nvSpPr>
          <p:spPr>
            <a:xfrm>
              <a:off x="12350880" y="8349120"/>
              <a:ext cx="2630160" cy="79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0" rIns="0" bIns="0" anchor="t">
              <a:noAutofit/>
            </a:bodyPr>
            <a:p>
              <a:pPr>
                <a:lnSpc>
                  <a:spcPts val="2761"/>
                </a:lnSpc>
                <a:tabLst>
                  <a:tab pos="0" algn="l"/>
                </a:tabLst>
              </a:pPr>
              <a:r>
                <a:rPr lang="en-GB" sz="2400" b="1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Generate answer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ts val="3042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GPT-5.4-mini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" name="→" descr="s64"/>
            <p:cNvSpPr/>
            <p:nvPr/>
          </p:nvSpPr>
          <p:spPr>
            <a:xfrm>
              <a:off x="15493320" y="8488440"/>
              <a:ext cx="396360" cy="495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0" rIns="0" bIns="0" anchor="t">
              <a:noAutofit/>
            </a:bodyPr>
            <a:p>
              <a:pPr>
                <a:lnSpc>
                  <a:spcPts val="3421"/>
                </a:lnSpc>
                <a:tabLst>
                  <a:tab pos="0" algn="l"/>
                </a:tabLst>
              </a:pPr>
              <a:r>
                <a:rPr lang="en-GB" sz="2900" b="0" u="none" strike="noStrike">
                  <a:solidFill>
                    <a:srgbClr val="437CAA"/>
                  </a:solidFill>
                  <a:effectLst/>
                  <a:uFillTx/>
                  <a:latin typeface="Noto Sans"/>
                  <a:ea typeface="Noto Sans"/>
                </a:rPr>
                <a:t>→</a:t>
              </a:r>
              <a:endParaRPr lang="en-US" sz="29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" name="Answer + retrieved pages&#10;All context pages as citations" descr="s65"/>
            <p:cNvSpPr/>
            <p:nvPr/>
          </p:nvSpPr>
          <p:spPr>
            <a:xfrm>
              <a:off x="16545240" y="8168400"/>
              <a:ext cx="4065480" cy="1146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0" rIns="0" bIns="0" anchor="t">
              <a:noAutofit/>
            </a:bodyPr>
            <a:p>
              <a:pPr>
                <a:lnSpc>
                  <a:spcPts val="2761"/>
                </a:lnSpc>
                <a:tabLst>
                  <a:tab pos="0" algn="l"/>
                </a:tabLst>
              </a:pPr>
              <a:r>
                <a:rPr lang="en-GB" sz="2400" b="1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Answer + retrieved pages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ts val="3042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All context pages as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ts val="2761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citations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32" name="icon-file" descr="s114"/>
            <p:cNvPicPr/>
            <p:nvPr/>
          </p:nvPicPr>
          <p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/>
          </p:blipFill>
          <p:spPr>
            <a:xfrm>
              <a:off x="3250440" y="8447760"/>
              <a:ext cx="539640" cy="5396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3" name="icon-search" descr="s115"/>
            <p:cNvPicPr/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/>
          </p:blipFill>
          <p:spPr>
            <a:xfrm>
              <a:off x="6863040" y="8447760"/>
              <a:ext cx="539640" cy="5396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4" name="icon-answer" descr="s116"/>
            <p:cNvPicPr/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/>
          </p:blipFill>
          <p:spPr>
            <a:xfrm>
              <a:off x="11703240" y="8447760"/>
              <a:ext cx="539640" cy="5396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5" name="icon-file" descr="s117"/>
            <p:cNvPicPr/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/>
          </p:blipFill>
          <p:spPr>
            <a:xfrm>
              <a:off x="15897240" y="8447760"/>
              <a:ext cx="539640" cy="5396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36" name="Rule phase doc-stage" descr="s9"/>
          <p:cNvSpPr/>
          <p:nvPr/>
        </p:nvSpPr>
        <p:spPr>
          <a:xfrm>
            <a:off x="648000" y="9666720"/>
            <a:ext cx="6551640" cy="9000"/>
          </a:xfrm>
          <a:prstGeom prst="rect">
            <a:avLst/>
          </a:prstGeom>
          <a:solidFill>
            <a:srgbClr val="3186B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Rule phase doc-stage" descr="s10"/>
          <p:cNvSpPr/>
          <p:nvPr/>
        </p:nvSpPr>
        <p:spPr>
          <a:xfrm>
            <a:off x="7190640" y="9666720"/>
            <a:ext cx="9000" cy="251640"/>
          </a:xfrm>
          <a:prstGeom prst="rect">
            <a:avLst/>
          </a:prstGeom>
          <a:solidFill>
            <a:srgbClr val="3186B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Rule phase doc-stage" descr="s11"/>
          <p:cNvSpPr/>
          <p:nvPr/>
        </p:nvSpPr>
        <p:spPr>
          <a:xfrm>
            <a:off x="648000" y="9666720"/>
            <a:ext cx="9000" cy="251640"/>
          </a:xfrm>
          <a:prstGeom prst="rect">
            <a:avLst/>
          </a:prstGeom>
          <a:solidFill>
            <a:srgbClr val="3186B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Panel SPAN" descr="s12"/>
          <p:cNvSpPr/>
          <p:nvPr/>
        </p:nvSpPr>
        <p:spPr>
          <a:xfrm>
            <a:off x="1930680" y="9485640"/>
            <a:ext cx="3986280" cy="409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Rule phase retrieval-stage" descr="s13"/>
          <p:cNvSpPr/>
          <p:nvPr/>
        </p:nvSpPr>
        <p:spPr>
          <a:xfrm>
            <a:off x="7416000" y="9666720"/>
            <a:ext cx="6551640" cy="9000"/>
          </a:xfrm>
          <a:prstGeom prst="rect">
            <a:avLst/>
          </a:prstGeom>
          <a:solidFill>
            <a:srgbClr val="4B8A4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Rule phase retrieval-stage" descr="s14"/>
          <p:cNvSpPr/>
          <p:nvPr/>
        </p:nvSpPr>
        <p:spPr>
          <a:xfrm>
            <a:off x="13958280" y="9666720"/>
            <a:ext cx="9000" cy="251640"/>
          </a:xfrm>
          <a:prstGeom prst="rect">
            <a:avLst/>
          </a:prstGeom>
          <a:solidFill>
            <a:srgbClr val="4B8A4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Rule phase retrieval-stage" descr="s15"/>
          <p:cNvSpPr/>
          <p:nvPr/>
        </p:nvSpPr>
        <p:spPr>
          <a:xfrm>
            <a:off x="7416000" y="9666720"/>
            <a:ext cx="9000" cy="251640"/>
          </a:xfrm>
          <a:prstGeom prst="rect">
            <a:avLst/>
          </a:prstGeom>
          <a:solidFill>
            <a:srgbClr val="4B8A4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Panel SPAN" descr="s16"/>
          <p:cNvSpPr/>
          <p:nvPr/>
        </p:nvSpPr>
        <p:spPr>
          <a:xfrm>
            <a:off x="9782640" y="9485640"/>
            <a:ext cx="1818360" cy="409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Rule phase single answer-stage" descr="s17"/>
          <p:cNvSpPr/>
          <p:nvPr/>
        </p:nvSpPr>
        <p:spPr>
          <a:xfrm>
            <a:off x="14184000" y="9666720"/>
            <a:ext cx="3167640" cy="9000"/>
          </a:xfrm>
          <a:prstGeom prst="rect">
            <a:avLst/>
          </a:prstGeom>
          <a:solidFill>
            <a:srgbClr val="B9673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Rule phase single answer-stage" descr="s18"/>
          <p:cNvSpPr/>
          <p:nvPr/>
        </p:nvSpPr>
        <p:spPr>
          <a:xfrm>
            <a:off x="17342280" y="9666720"/>
            <a:ext cx="9000" cy="251640"/>
          </a:xfrm>
          <a:prstGeom prst="rect">
            <a:avLst/>
          </a:prstGeom>
          <a:solidFill>
            <a:srgbClr val="B9673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Rule phase single answer-stage" descr="s19"/>
          <p:cNvSpPr/>
          <p:nvPr/>
        </p:nvSpPr>
        <p:spPr>
          <a:xfrm>
            <a:off x="14184000" y="9666720"/>
            <a:ext cx="9000" cy="251640"/>
          </a:xfrm>
          <a:prstGeom prst="rect">
            <a:avLst/>
          </a:prstGeom>
          <a:solidFill>
            <a:srgbClr val="B9673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Panel SPAN" descr="s20"/>
          <p:cNvSpPr/>
          <p:nvPr/>
        </p:nvSpPr>
        <p:spPr>
          <a:xfrm>
            <a:off x="14720400" y="9485640"/>
            <a:ext cx="2094480" cy="409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Rule phase single citation-stage" descr="s21"/>
          <p:cNvSpPr/>
          <p:nvPr/>
        </p:nvSpPr>
        <p:spPr>
          <a:xfrm>
            <a:off x="17568000" y="9666720"/>
            <a:ext cx="3167640" cy="9000"/>
          </a:xfrm>
          <a:prstGeom prst="rect">
            <a:avLst/>
          </a:prstGeom>
          <a:solidFill>
            <a:srgbClr val="7655B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Rule phase single citation-stage" descr="s22"/>
          <p:cNvSpPr/>
          <p:nvPr/>
        </p:nvSpPr>
        <p:spPr>
          <a:xfrm>
            <a:off x="20726280" y="9666720"/>
            <a:ext cx="9000" cy="251640"/>
          </a:xfrm>
          <a:prstGeom prst="rect">
            <a:avLst/>
          </a:prstGeom>
          <a:solidFill>
            <a:srgbClr val="7655B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Rule phase single citation-stage" descr="s23"/>
          <p:cNvSpPr/>
          <p:nvPr/>
        </p:nvSpPr>
        <p:spPr>
          <a:xfrm>
            <a:off x="17568000" y="9666720"/>
            <a:ext cx="9000" cy="251640"/>
          </a:xfrm>
          <a:prstGeom prst="rect">
            <a:avLst/>
          </a:prstGeom>
          <a:solidFill>
            <a:srgbClr val="7655B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Panel SPAN" descr="s24"/>
          <p:cNvSpPr/>
          <p:nvPr/>
        </p:nvSpPr>
        <p:spPr>
          <a:xfrm>
            <a:off x="18239040" y="9485640"/>
            <a:ext cx="1825200" cy="409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2" name="R1 · OCR"/>
          <p:cNvGrpSpPr/>
          <p:nvPr/>
        </p:nvGrpSpPr>
        <p:grpSpPr>
          <a:xfrm>
            <a:off x="648000" y="10026720"/>
            <a:ext cx="3366360" cy="3906000"/>
            <a:chOff x="648000" y="10026720"/>
            <a:chExt cx="3366360" cy="3906000"/>
          </a:xfrm>
        </p:grpSpPr>
        <p:sp>
          <p:nvSpPr>
            <p:cNvPr id="53" name="Panel pipeline-card doc-stage" descr="s25"/>
            <p:cNvSpPr/>
            <p:nvPr/>
          </p:nvSpPr>
          <p:spPr>
            <a:xfrm>
              <a:off x="648000" y="10026720"/>
              <a:ext cx="3167640" cy="3906000"/>
            </a:xfrm>
            <a:prstGeom prst="roundRect">
              <a:avLst>
                <a:gd name="adj" fmla="val 3409"/>
              </a:avLst>
            </a:prstGeom>
            <a:solidFill>
              <a:srgbClr val="EEF7FD"/>
            </a:solidFill>
            <a:ln w="9525">
              <a:solidFill>
                <a:srgbClr val="3186BD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4" name="Panel technology" descr="s26"/>
            <p:cNvSpPr/>
            <p:nvPr/>
          </p:nvSpPr>
          <p:spPr>
            <a:xfrm>
              <a:off x="657360" y="12699360"/>
              <a:ext cx="3148560" cy="1223640"/>
            </a:xfrm>
            <a:prstGeom prst="roundRect">
              <a:avLst>
                <a:gd name="adj" fmla="val 7647"/>
              </a:avLst>
            </a:prstGeom>
            <a:solidFill>
              <a:srgbClr val="DCEC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5" name="Pipeline arrow" descr="s0"/>
            <p:cNvSpPr/>
            <p:nvPr/>
          </p:nvSpPr>
          <p:spPr>
            <a:xfrm>
              <a:off x="3835080" y="11707560"/>
              <a:ext cx="179280" cy="251280"/>
            </a:xfrm>
            <a:custGeom>
              <a:avLst/>
              <a:gdLst/>
              <a:ahLst/>
              <a:rect l="l" t="t" r="r" b="b"/>
              <a:pathLst>
                <a:path w="179784" h="251817">
                  <a:moveTo>
                    <a:pt x="0" y="75545"/>
                  </a:moveTo>
                  <a:lnTo>
                    <a:pt x="93488" y="75545"/>
                  </a:lnTo>
                  <a:lnTo>
                    <a:pt x="93488" y="0"/>
                  </a:lnTo>
                  <a:lnTo>
                    <a:pt x="179784" y="125909"/>
                  </a:lnTo>
                  <a:lnTo>
                    <a:pt x="93488" y="251817"/>
                  </a:lnTo>
                  <a:lnTo>
                    <a:pt x="93488" y="176272"/>
                  </a:lnTo>
                  <a:lnTo>
                    <a:pt x="0" y="176272"/>
                  </a:lnTo>
                  <a:close/>
                </a:path>
              </a:pathLst>
            </a:custGeom>
            <a:solidFill>
              <a:srgbClr val="3186B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6" name="R1 · OCR" descr="s70"/>
            <p:cNvSpPr/>
            <p:nvPr/>
          </p:nvSpPr>
          <p:spPr>
            <a:xfrm>
              <a:off x="765360" y="10147320"/>
              <a:ext cx="2961360" cy="437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0" rIns="0" bIns="0" anchor="t">
              <a:noAutofit/>
            </a:bodyPr>
            <a:p>
              <a:pPr>
                <a:lnSpc>
                  <a:spcPts val="2801"/>
                </a:lnSpc>
                <a:tabLst>
                  <a:tab pos="0" algn="l"/>
                </a:tabLst>
              </a:pPr>
              <a:r>
                <a:rPr lang="en-GB" sz="2500" b="1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R1 · OCR</a:t>
              </a:r>
              <a:endParaRPr lang="en-US" sz="25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7" name="Recover text from scanned pages" descr="s71"/>
            <p:cNvSpPr/>
            <p:nvPr/>
          </p:nvSpPr>
          <p:spPr>
            <a:xfrm>
              <a:off x="765360" y="10933920"/>
              <a:ext cx="2961360" cy="756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0" rIns="0" bIns="0" anchor="t">
              <a:noAutofit/>
            </a:bodyPr>
            <a:p>
              <a:pPr>
                <a:lnSpc>
                  <a:spcPts val="2735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Recover text from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ts val="2735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scanned pages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8" name="PP-OCRv5" descr="s72"/>
            <p:cNvSpPr/>
            <p:nvPr/>
          </p:nvSpPr>
          <p:spPr>
            <a:xfrm>
              <a:off x="765720" y="12791520"/>
              <a:ext cx="2961000" cy="409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0" rIns="0" bIns="0" anchor="t">
              <a:noAutofit/>
            </a:bodyPr>
            <a:p>
              <a:pPr>
                <a:lnSpc>
                  <a:spcPts val="2735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PP-OCRv5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59" name="icon-scan" descr="s118"/>
            <p:cNvPicPr/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/>
          </p:blipFill>
          <p:spPr>
            <a:xfrm>
              <a:off x="1926000" y="12015360"/>
              <a:ext cx="611640" cy="6116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60" name="R2 · Multiple&#10;text scales"/>
          <p:cNvGrpSpPr/>
          <p:nvPr/>
        </p:nvGrpSpPr>
        <p:grpSpPr>
          <a:xfrm>
            <a:off x="4032000" y="10026720"/>
            <a:ext cx="3366360" cy="3906000"/>
            <a:chOff x="4032000" y="10026720"/>
            <a:chExt cx="3366360" cy="3906000"/>
          </a:xfrm>
        </p:grpSpPr>
        <p:sp>
          <p:nvSpPr>
            <p:cNvPr id="61" name="Panel pipeline-card doc-stage" descr="s27"/>
            <p:cNvSpPr/>
            <p:nvPr/>
          </p:nvSpPr>
          <p:spPr>
            <a:xfrm>
              <a:off x="4032000" y="10026720"/>
              <a:ext cx="3167640" cy="3906000"/>
            </a:xfrm>
            <a:prstGeom prst="roundRect">
              <a:avLst>
                <a:gd name="adj" fmla="val 3409"/>
              </a:avLst>
            </a:prstGeom>
            <a:solidFill>
              <a:srgbClr val="EEF7FD"/>
            </a:solidFill>
            <a:ln w="9525">
              <a:solidFill>
                <a:srgbClr val="3186BD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" name="Panel technology" descr="s28"/>
            <p:cNvSpPr/>
            <p:nvPr/>
          </p:nvSpPr>
          <p:spPr>
            <a:xfrm>
              <a:off x="4041360" y="12699360"/>
              <a:ext cx="3148560" cy="1223640"/>
            </a:xfrm>
            <a:prstGeom prst="roundRect">
              <a:avLst>
                <a:gd name="adj" fmla="val 7647"/>
              </a:avLst>
            </a:prstGeom>
            <a:solidFill>
              <a:srgbClr val="DCEC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3" name="Pipeline arrow" descr="s1"/>
            <p:cNvSpPr/>
            <p:nvPr/>
          </p:nvSpPr>
          <p:spPr>
            <a:xfrm>
              <a:off x="7219080" y="11707560"/>
              <a:ext cx="179280" cy="251280"/>
            </a:xfrm>
            <a:custGeom>
              <a:avLst/>
              <a:gdLst/>
              <a:ahLst/>
              <a:rect l="l" t="t" r="r" b="b"/>
              <a:pathLst>
                <a:path w="179784" h="251817">
                  <a:moveTo>
                    <a:pt x="0" y="75545"/>
                  </a:moveTo>
                  <a:lnTo>
                    <a:pt x="93488" y="75545"/>
                  </a:lnTo>
                  <a:lnTo>
                    <a:pt x="93488" y="0"/>
                  </a:lnTo>
                  <a:lnTo>
                    <a:pt x="179784" y="125909"/>
                  </a:lnTo>
                  <a:lnTo>
                    <a:pt x="93488" y="251817"/>
                  </a:lnTo>
                  <a:lnTo>
                    <a:pt x="93488" y="176272"/>
                  </a:lnTo>
                  <a:lnTo>
                    <a:pt x="0" y="176272"/>
                  </a:lnTo>
                  <a:close/>
                </a:path>
              </a:pathLst>
            </a:custGeom>
            <a:solidFill>
              <a:srgbClr val="3186B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4" name="R2 · Multiple&#10;text scales" descr="s73"/>
            <p:cNvSpPr/>
            <p:nvPr/>
          </p:nvSpPr>
          <p:spPr>
            <a:xfrm>
              <a:off x="4149360" y="10147680"/>
              <a:ext cx="2961360" cy="793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0" rIns="0" bIns="0" anchor="t">
              <a:noAutofit/>
            </a:bodyPr>
            <a:p>
              <a:pPr>
                <a:lnSpc>
                  <a:spcPts val="2801"/>
                </a:lnSpc>
                <a:tabLst>
                  <a:tab pos="0" algn="l"/>
                </a:tabLst>
              </a:pPr>
              <a:r>
                <a:rPr lang="en-GB" sz="2500" b="1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R2 · Multiple</a:t>
              </a:r>
              <a:endParaRPr lang="en-US" sz="25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ts val="2798"/>
                </a:lnSpc>
                <a:tabLst>
                  <a:tab pos="0" algn="l"/>
                </a:tabLst>
              </a:pPr>
              <a:r>
                <a:rPr lang="en-GB" sz="2500" b="1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text scales</a:t>
              </a:r>
              <a:endParaRPr lang="en-US" sz="25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5" name="Represent evidence at multiple levels" descr="s74"/>
            <p:cNvSpPr/>
            <p:nvPr/>
          </p:nvSpPr>
          <p:spPr>
            <a:xfrm>
              <a:off x="4149360" y="10933920"/>
              <a:ext cx="2961360" cy="756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0" rIns="0" bIns="0" anchor="t">
              <a:noAutofit/>
            </a:bodyPr>
            <a:p>
              <a:pPr>
                <a:lnSpc>
                  <a:spcPts val="2735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Represent evidence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ts val="2735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at multiple levels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6" name="Pages, sections, clauses, microchunks, tables" descr="s75"/>
            <p:cNvSpPr/>
            <p:nvPr/>
          </p:nvSpPr>
          <p:spPr>
            <a:xfrm>
              <a:off x="4149360" y="12791520"/>
              <a:ext cx="2961360" cy="1104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0" rIns="0" bIns="0" anchor="t">
              <a:noAutofit/>
            </a:bodyPr>
            <a:p>
              <a:pPr>
                <a:lnSpc>
                  <a:spcPts val="2735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Pages, sections,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ts val="2735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clauses,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ts val="2735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microchunks, tables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67" name="icon-layers" descr="s119"/>
            <p:cNvPicPr/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/>
          </p:blipFill>
          <p:spPr>
            <a:xfrm>
              <a:off x="5310000" y="12015360"/>
              <a:ext cx="611640" cy="6116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68" name="R3 · Lexical&#10;retrieval"/>
          <p:cNvGrpSpPr/>
          <p:nvPr/>
        </p:nvGrpSpPr>
        <p:grpSpPr>
          <a:xfrm>
            <a:off x="7416000" y="10026720"/>
            <a:ext cx="3366360" cy="3906000"/>
            <a:chOff x="7416000" y="10026720"/>
            <a:chExt cx="3366360" cy="3906000"/>
          </a:xfrm>
        </p:grpSpPr>
        <p:sp>
          <p:nvSpPr>
            <p:cNvPr id="69" name="Panel pipeline-card retrieval-stage" descr="s29"/>
            <p:cNvSpPr/>
            <p:nvPr/>
          </p:nvSpPr>
          <p:spPr>
            <a:xfrm>
              <a:off x="7416000" y="10026720"/>
              <a:ext cx="3167640" cy="3906000"/>
            </a:xfrm>
            <a:prstGeom prst="roundRect">
              <a:avLst>
                <a:gd name="adj" fmla="val 3409"/>
              </a:avLst>
            </a:prstGeom>
            <a:solidFill>
              <a:srgbClr val="F1F8EF"/>
            </a:solidFill>
            <a:ln w="9525">
              <a:solidFill>
                <a:srgbClr val="4B8A42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" name="Panel technology" descr="s30"/>
            <p:cNvSpPr/>
            <p:nvPr/>
          </p:nvSpPr>
          <p:spPr>
            <a:xfrm>
              <a:off x="7425360" y="12699360"/>
              <a:ext cx="3148560" cy="1223640"/>
            </a:xfrm>
            <a:prstGeom prst="roundRect">
              <a:avLst>
                <a:gd name="adj" fmla="val 7647"/>
              </a:avLst>
            </a:prstGeom>
            <a:solidFill>
              <a:srgbClr val="E1EFD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" name="Pipeline arrow" descr="s2"/>
            <p:cNvSpPr/>
            <p:nvPr/>
          </p:nvSpPr>
          <p:spPr>
            <a:xfrm>
              <a:off x="10603080" y="11707560"/>
              <a:ext cx="179280" cy="251280"/>
            </a:xfrm>
            <a:custGeom>
              <a:avLst/>
              <a:gdLst/>
              <a:ahLst/>
              <a:rect l="l" t="t" r="r" b="b"/>
              <a:pathLst>
                <a:path w="179784" h="251817">
                  <a:moveTo>
                    <a:pt x="0" y="75545"/>
                  </a:moveTo>
                  <a:lnTo>
                    <a:pt x="93488" y="75545"/>
                  </a:lnTo>
                  <a:lnTo>
                    <a:pt x="93488" y="0"/>
                  </a:lnTo>
                  <a:lnTo>
                    <a:pt x="179784" y="125909"/>
                  </a:lnTo>
                  <a:lnTo>
                    <a:pt x="93488" y="251817"/>
                  </a:lnTo>
                  <a:lnTo>
                    <a:pt x="93488" y="176272"/>
                  </a:lnTo>
                  <a:lnTo>
                    <a:pt x="0" y="176272"/>
                  </a:lnTo>
                  <a:close/>
                </a:path>
              </a:pathLst>
            </a:custGeom>
            <a:solidFill>
              <a:srgbClr val="4B8A4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" name="R3 · Lexical&#10;retrieval" descr="s76"/>
            <p:cNvSpPr/>
            <p:nvPr/>
          </p:nvSpPr>
          <p:spPr>
            <a:xfrm>
              <a:off x="7533360" y="10147680"/>
              <a:ext cx="2961360" cy="793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0" rIns="0" bIns="0" anchor="t">
              <a:noAutofit/>
            </a:bodyPr>
            <a:p>
              <a:pPr>
                <a:lnSpc>
                  <a:spcPts val="2801"/>
                </a:lnSpc>
                <a:tabLst>
                  <a:tab pos="0" algn="l"/>
                </a:tabLst>
              </a:pPr>
              <a:r>
                <a:rPr lang="en-GB" sz="2500" b="1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R3 · Lexical</a:t>
              </a:r>
              <a:endParaRPr lang="en-US" sz="25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ts val="2798"/>
                </a:lnSpc>
                <a:tabLst>
                  <a:tab pos="0" algn="l"/>
                </a:tabLst>
              </a:pPr>
              <a:r>
                <a:rPr lang="en-GB" sz="2500" b="1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retrieval</a:t>
              </a:r>
              <a:endParaRPr lang="en-US" sz="25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" name="Combine semantic and exact-term search" descr="s77"/>
            <p:cNvSpPr/>
            <p:nvPr/>
          </p:nvSpPr>
          <p:spPr>
            <a:xfrm>
              <a:off x="7533360" y="10934280"/>
              <a:ext cx="2961360" cy="1104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0" rIns="0" bIns="0" anchor="t">
              <a:noAutofit/>
            </a:bodyPr>
            <a:p>
              <a:pPr>
                <a:lnSpc>
                  <a:spcPts val="2735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Combine semantic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ts val="2735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and exact-term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ts val="2735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search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" name="BM25 + RRF&#10;with semantic retrieval" descr="s78"/>
            <p:cNvSpPr/>
            <p:nvPr/>
          </p:nvSpPr>
          <p:spPr>
            <a:xfrm>
              <a:off x="7533720" y="12791520"/>
              <a:ext cx="2961000" cy="1104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0" rIns="0" bIns="0" anchor="t">
              <a:noAutofit/>
            </a:bodyPr>
            <a:p>
              <a:pPr>
                <a:lnSpc>
                  <a:spcPts val="2735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BM25 + RRF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ts val="2735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with semantic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ts val="2735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retrieval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75" name="icon-search" descr="s120"/>
            <p:cNvPicPr/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/>
          </p:blipFill>
          <p:spPr>
            <a:xfrm>
              <a:off x="8694000" y="12015360"/>
              <a:ext cx="611640" cy="6116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76" name="R4 · Neural&#10;reranking"/>
          <p:cNvGrpSpPr/>
          <p:nvPr/>
        </p:nvGrpSpPr>
        <p:grpSpPr>
          <a:xfrm>
            <a:off x="10800000" y="10026720"/>
            <a:ext cx="3366360" cy="3906000"/>
            <a:chOff x="10800000" y="10026720"/>
            <a:chExt cx="3366360" cy="3906000"/>
          </a:xfrm>
        </p:grpSpPr>
        <p:sp>
          <p:nvSpPr>
            <p:cNvPr id="77" name="Panel pipeline-card retrieval-stage" descr="s31"/>
            <p:cNvSpPr/>
            <p:nvPr/>
          </p:nvSpPr>
          <p:spPr>
            <a:xfrm>
              <a:off x="10800000" y="10026720"/>
              <a:ext cx="3167640" cy="3906000"/>
            </a:xfrm>
            <a:prstGeom prst="roundRect">
              <a:avLst>
                <a:gd name="adj" fmla="val 3409"/>
              </a:avLst>
            </a:prstGeom>
            <a:solidFill>
              <a:srgbClr val="F1F8EF"/>
            </a:solidFill>
            <a:ln w="9525">
              <a:solidFill>
                <a:srgbClr val="4B8A42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" name="Panel technology" descr="s32"/>
            <p:cNvSpPr/>
            <p:nvPr/>
          </p:nvSpPr>
          <p:spPr>
            <a:xfrm>
              <a:off x="10809360" y="12699360"/>
              <a:ext cx="3148560" cy="1223640"/>
            </a:xfrm>
            <a:prstGeom prst="roundRect">
              <a:avLst>
                <a:gd name="adj" fmla="val 7647"/>
              </a:avLst>
            </a:prstGeom>
            <a:solidFill>
              <a:srgbClr val="E1EFD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9" name="Pipeline arrow" descr="s3"/>
            <p:cNvSpPr/>
            <p:nvPr/>
          </p:nvSpPr>
          <p:spPr>
            <a:xfrm>
              <a:off x="13987080" y="11707560"/>
              <a:ext cx="179280" cy="251280"/>
            </a:xfrm>
            <a:custGeom>
              <a:avLst/>
              <a:gdLst/>
              <a:ahLst/>
              <a:rect l="l" t="t" r="r" b="b"/>
              <a:pathLst>
                <a:path w="179784" h="251817">
                  <a:moveTo>
                    <a:pt x="0" y="75545"/>
                  </a:moveTo>
                  <a:lnTo>
                    <a:pt x="93488" y="75545"/>
                  </a:lnTo>
                  <a:lnTo>
                    <a:pt x="93488" y="0"/>
                  </a:lnTo>
                  <a:lnTo>
                    <a:pt x="179784" y="125909"/>
                  </a:lnTo>
                  <a:lnTo>
                    <a:pt x="93488" y="251817"/>
                  </a:lnTo>
                  <a:lnTo>
                    <a:pt x="93488" y="176272"/>
                  </a:lnTo>
                  <a:lnTo>
                    <a:pt x="0" y="176272"/>
                  </a:lnTo>
                  <a:close/>
                </a:path>
              </a:pathLst>
            </a:custGeom>
            <a:solidFill>
              <a:srgbClr val="4B8A4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" name="R4 · Neural&#10;reranking" descr="s79"/>
            <p:cNvSpPr/>
            <p:nvPr/>
          </p:nvSpPr>
          <p:spPr>
            <a:xfrm>
              <a:off x="10917360" y="10147680"/>
              <a:ext cx="2961360" cy="793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0" rIns="0" bIns="0" anchor="t">
              <a:noAutofit/>
            </a:bodyPr>
            <a:p>
              <a:pPr>
                <a:lnSpc>
                  <a:spcPts val="2801"/>
                </a:lnSpc>
                <a:tabLst>
                  <a:tab pos="0" algn="l"/>
                </a:tabLst>
              </a:pPr>
              <a:r>
                <a:rPr lang="en-GB" sz="2500" b="1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R4 · Neural</a:t>
              </a:r>
              <a:endParaRPr lang="en-US" sz="25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ts val="2798"/>
                </a:lnSpc>
                <a:tabLst>
                  <a:tab pos="0" algn="l"/>
                </a:tabLst>
              </a:pPr>
              <a:r>
                <a:rPr lang="en-GB" sz="2500" b="1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reranking</a:t>
              </a:r>
              <a:endParaRPr lang="en-US" sz="25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" name="Prioritize the most relevant evidence" descr="s80"/>
            <p:cNvSpPr/>
            <p:nvPr/>
          </p:nvSpPr>
          <p:spPr>
            <a:xfrm>
              <a:off x="10917360" y="10933920"/>
              <a:ext cx="2961360" cy="756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0" rIns="0" bIns="0" anchor="t">
              <a:noAutofit/>
            </a:bodyPr>
            <a:p>
              <a:pPr>
                <a:lnSpc>
                  <a:spcPts val="2735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Prioritize the most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ts val="2735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relevant evidence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2" name="Qwen3-&#10;Reranker-0.6B" descr="s81"/>
            <p:cNvSpPr/>
            <p:nvPr/>
          </p:nvSpPr>
          <p:spPr>
            <a:xfrm>
              <a:off x="10917360" y="12791160"/>
              <a:ext cx="2961360" cy="756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0" rIns="0" bIns="0" anchor="t">
              <a:noAutofit/>
            </a:bodyPr>
            <a:p>
              <a:pPr>
                <a:lnSpc>
                  <a:spcPts val="2735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Qwen3-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ts val="2735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Reranker-0.6B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83" name="icon-rank" descr="s121"/>
            <p:cNvPicPr/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/>
          </p:blipFill>
          <p:spPr>
            <a:xfrm>
              <a:off x="12078000" y="12015360"/>
              <a:ext cx="611640" cy="6116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84" name="R5 · Answer&#10;type checks"/>
          <p:cNvGrpSpPr/>
          <p:nvPr/>
        </p:nvGrpSpPr>
        <p:grpSpPr>
          <a:xfrm>
            <a:off x="14184000" y="10026720"/>
            <a:ext cx="3366360" cy="3906000"/>
            <a:chOff x="14184000" y="10026720"/>
            <a:chExt cx="3366360" cy="3906000"/>
          </a:xfrm>
        </p:grpSpPr>
        <p:sp>
          <p:nvSpPr>
            <p:cNvPr id="85" name="Panel pipeline-card answer-stage" descr="s33"/>
            <p:cNvSpPr/>
            <p:nvPr/>
          </p:nvSpPr>
          <p:spPr>
            <a:xfrm>
              <a:off x="14184000" y="10026720"/>
              <a:ext cx="3167640" cy="3906000"/>
            </a:xfrm>
            <a:prstGeom prst="roundRect">
              <a:avLst>
                <a:gd name="adj" fmla="val 3409"/>
              </a:avLst>
            </a:prstGeom>
            <a:solidFill>
              <a:srgbClr val="FFF5ED"/>
            </a:solidFill>
            <a:ln w="9525">
              <a:solidFill>
                <a:srgbClr val="B96734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6" name="Panel technology" descr="s34"/>
            <p:cNvSpPr/>
            <p:nvPr/>
          </p:nvSpPr>
          <p:spPr>
            <a:xfrm>
              <a:off x="14193360" y="12699360"/>
              <a:ext cx="3148560" cy="1223640"/>
            </a:xfrm>
            <a:prstGeom prst="roundRect">
              <a:avLst>
                <a:gd name="adj" fmla="val 7647"/>
              </a:avLst>
            </a:prstGeom>
            <a:solidFill>
              <a:srgbClr val="FAE7D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7" name="Pipeline arrow" descr="s4"/>
            <p:cNvSpPr/>
            <p:nvPr/>
          </p:nvSpPr>
          <p:spPr>
            <a:xfrm>
              <a:off x="17371080" y="11707560"/>
              <a:ext cx="179280" cy="251280"/>
            </a:xfrm>
            <a:custGeom>
              <a:avLst/>
              <a:gdLst/>
              <a:ahLst/>
              <a:rect l="l" t="t" r="r" b="b"/>
              <a:pathLst>
                <a:path w="179784" h="251817">
                  <a:moveTo>
                    <a:pt x="0" y="75545"/>
                  </a:moveTo>
                  <a:lnTo>
                    <a:pt x="93488" y="75545"/>
                  </a:lnTo>
                  <a:lnTo>
                    <a:pt x="93488" y="0"/>
                  </a:lnTo>
                  <a:lnTo>
                    <a:pt x="179784" y="125909"/>
                  </a:lnTo>
                  <a:lnTo>
                    <a:pt x="93488" y="251817"/>
                  </a:lnTo>
                  <a:lnTo>
                    <a:pt x="93488" y="176272"/>
                  </a:lnTo>
                  <a:lnTo>
                    <a:pt x="0" y="176272"/>
                  </a:lnTo>
                  <a:close/>
                </a:path>
              </a:pathLst>
            </a:custGeom>
            <a:solidFill>
              <a:srgbClr val="B9673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8" name="R5 · Answer&#10;type checks" descr="s82"/>
            <p:cNvSpPr/>
            <p:nvPr/>
          </p:nvSpPr>
          <p:spPr>
            <a:xfrm>
              <a:off x="14301360" y="10147680"/>
              <a:ext cx="2961360" cy="793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0" rIns="0" bIns="0" anchor="t">
              <a:noAutofit/>
            </a:bodyPr>
            <a:p>
              <a:pPr>
                <a:lnSpc>
                  <a:spcPts val="2801"/>
                </a:lnSpc>
                <a:tabLst>
                  <a:tab pos="0" algn="l"/>
                </a:tabLst>
              </a:pPr>
              <a:r>
                <a:rPr lang="en-GB" sz="2500" b="1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R5 · Answer</a:t>
              </a:r>
              <a:endParaRPr lang="en-US" sz="25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ts val="2798"/>
                </a:lnSpc>
                <a:tabLst>
                  <a:tab pos="0" algn="l"/>
                </a:tabLst>
              </a:pPr>
              <a:r>
                <a:rPr lang="en-GB" sz="2500" b="1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type checks</a:t>
              </a:r>
              <a:endParaRPr lang="en-US" sz="25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" name="Normalize and validate the answer type" descr="s83"/>
            <p:cNvSpPr/>
            <p:nvPr/>
          </p:nvSpPr>
          <p:spPr>
            <a:xfrm>
              <a:off x="14301360" y="10934280"/>
              <a:ext cx="2961360" cy="1104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0" rIns="0" bIns="0" anchor="t">
              <a:noAutofit/>
            </a:bodyPr>
            <a:p>
              <a:pPr>
                <a:lnSpc>
                  <a:spcPts val="2735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Normalize and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ts val="2735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validate the answer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ts val="2735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type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" name="Normalization, validation and confidence checks" descr="s84"/>
            <p:cNvSpPr/>
            <p:nvPr/>
          </p:nvSpPr>
          <p:spPr>
            <a:xfrm>
              <a:off x="14301720" y="12791520"/>
              <a:ext cx="2961000" cy="1104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0" rIns="0" bIns="0" anchor="t">
              <a:noAutofit/>
            </a:bodyPr>
            <a:p>
              <a:pPr>
                <a:lnSpc>
                  <a:spcPts val="2735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Normalization,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ts val="2735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validation and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ts val="2735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confidence checks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91" name="icon-check" descr="s122"/>
            <p:cNvPicPr/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/>
          </p:blipFill>
          <p:spPr>
            <a:xfrm>
              <a:off x="15462000" y="12015360"/>
              <a:ext cx="611640" cy="6116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92" name="R6 · Citation&#10;selection"/>
          <p:cNvGrpSpPr/>
          <p:nvPr/>
        </p:nvGrpSpPr>
        <p:grpSpPr>
          <a:xfrm>
            <a:off x="17568000" y="10026720"/>
            <a:ext cx="3167640" cy="3906000"/>
            <a:chOff x="17568000" y="10026720"/>
            <a:chExt cx="3167640" cy="3906000"/>
          </a:xfrm>
        </p:grpSpPr>
        <p:sp>
          <p:nvSpPr>
            <p:cNvPr id="93" name="Panel pipeline-card citation-stage" descr="s35"/>
            <p:cNvSpPr/>
            <p:nvPr/>
          </p:nvSpPr>
          <p:spPr>
            <a:xfrm>
              <a:off x="17568000" y="10026720"/>
              <a:ext cx="3167640" cy="3906000"/>
            </a:xfrm>
            <a:prstGeom prst="roundRect">
              <a:avLst>
                <a:gd name="adj" fmla="val 3409"/>
              </a:avLst>
            </a:prstGeom>
            <a:solidFill>
              <a:srgbClr val="F6F1FC"/>
            </a:solidFill>
            <a:ln w="9525">
              <a:solidFill>
                <a:srgbClr val="7655B5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" name="Panel technology" descr="s36"/>
            <p:cNvSpPr/>
            <p:nvPr/>
          </p:nvSpPr>
          <p:spPr>
            <a:xfrm>
              <a:off x="17577360" y="12699360"/>
              <a:ext cx="3148560" cy="1223640"/>
            </a:xfrm>
            <a:prstGeom prst="roundRect">
              <a:avLst>
                <a:gd name="adj" fmla="val 7647"/>
              </a:avLst>
            </a:prstGeom>
            <a:solidFill>
              <a:srgbClr val="E8DDF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5" name="R6 · Citation&#10;selection" descr="s85"/>
            <p:cNvSpPr/>
            <p:nvPr/>
          </p:nvSpPr>
          <p:spPr>
            <a:xfrm>
              <a:off x="17685000" y="10147680"/>
              <a:ext cx="2961360" cy="793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0" rIns="0" bIns="0" anchor="t">
              <a:noAutofit/>
            </a:bodyPr>
            <a:p>
              <a:pPr>
                <a:lnSpc>
                  <a:spcPts val="2801"/>
                </a:lnSpc>
                <a:tabLst>
                  <a:tab pos="0" algn="l"/>
                </a:tabLst>
              </a:pPr>
              <a:r>
                <a:rPr lang="en-GB" sz="2500" b="1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R6 · Citation</a:t>
              </a:r>
              <a:endParaRPr lang="en-US" sz="25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ts val="2798"/>
                </a:lnSpc>
                <a:tabLst>
                  <a:tab pos="0" algn="l"/>
                </a:tabLst>
              </a:pPr>
              <a:r>
                <a:rPr lang="en-GB" sz="2500" b="1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selection</a:t>
              </a:r>
              <a:endParaRPr lang="en-US" sz="25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" name="Select pages from supporting chunks" descr="s86"/>
            <p:cNvSpPr/>
            <p:nvPr/>
          </p:nvSpPr>
          <p:spPr>
            <a:xfrm>
              <a:off x="17685000" y="10933920"/>
              <a:ext cx="2961360" cy="756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0" rIns="0" bIns="0" anchor="t">
              <a:noAutofit/>
            </a:bodyPr>
            <a:p>
              <a:pPr>
                <a:lnSpc>
                  <a:spcPts val="2735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Select pages from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ts val="2735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supporting chunks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7" name="Supporting-chunk references + page validation" descr="s87"/>
            <p:cNvSpPr/>
            <p:nvPr/>
          </p:nvSpPr>
          <p:spPr>
            <a:xfrm>
              <a:off x="17685000" y="12791520"/>
              <a:ext cx="2961360" cy="1104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0" rIns="0" bIns="0" anchor="t">
              <a:noAutofit/>
            </a:bodyPr>
            <a:p>
              <a:pPr>
                <a:lnSpc>
                  <a:spcPts val="2735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Supporting-chunk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ts val="2735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references + page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ts val="2735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173248"/>
                  </a:solidFill>
                  <a:effectLst/>
                  <a:uFillTx/>
                  <a:latin typeface="Noto Sans"/>
                  <a:ea typeface="Noto Sans"/>
                </a:rPr>
                <a:t>validation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98" name="icon-link" descr="s123"/>
            <p:cNvPicPr/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/>
          </p:blipFill>
          <p:spPr>
            <a:xfrm>
              <a:off x="18845640" y="12015360"/>
              <a:ext cx="611640" cy="6116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99" name="Panel cumulative-note" descr="s37"/>
          <p:cNvSpPr/>
          <p:nvPr/>
        </p:nvSpPr>
        <p:spPr>
          <a:xfrm>
            <a:off x="648000" y="14004720"/>
            <a:ext cx="20087640" cy="502920"/>
          </a:xfrm>
          <a:prstGeom prst="roundRect">
            <a:avLst>
              <a:gd name="adj" fmla="val 14305"/>
            </a:avLst>
          </a:prstGeom>
          <a:solidFill>
            <a:srgbClr val="EDF1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Rule answer-generation" descr="s38"/>
          <p:cNvSpPr/>
          <p:nvPr/>
        </p:nvSpPr>
        <p:spPr>
          <a:xfrm>
            <a:off x="648000" y="14616000"/>
            <a:ext cx="20087640" cy="9000"/>
          </a:xfrm>
          <a:prstGeom prst="rect">
            <a:avLst/>
          </a:prstGeom>
          <a:solidFill>
            <a:srgbClr val="CFDE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Rule section-title" descr="s39"/>
          <p:cNvSpPr/>
          <p:nvPr/>
        </p:nvSpPr>
        <p:spPr>
          <a:xfrm>
            <a:off x="648000" y="17258760"/>
            <a:ext cx="20087640" cy="28080"/>
          </a:xfrm>
          <a:prstGeom prst="rect">
            <a:avLst/>
          </a:prstGeom>
          <a:solidFill>
            <a:srgbClr val="0069A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Rule " descr="s40"/>
          <p:cNvSpPr/>
          <p:nvPr/>
        </p:nvSpPr>
        <p:spPr>
          <a:xfrm>
            <a:off x="10836000" y="21842280"/>
            <a:ext cx="9000" cy="4452840"/>
          </a:xfrm>
          <a:prstGeom prst="rect">
            <a:avLst/>
          </a:prstGeom>
          <a:solidFill>
            <a:srgbClr val="CFDE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Rule limitations" descr="s41"/>
          <p:cNvSpPr/>
          <p:nvPr/>
        </p:nvSpPr>
        <p:spPr>
          <a:xfrm>
            <a:off x="11061360" y="24742080"/>
            <a:ext cx="9674280" cy="9000"/>
          </a:xfrm>
          <a:prstGeom prst="rect">
            <a:avLst/>
          </a:prstGeom>
          <a:solidFill>
            <a:srgbClr val="CFDE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4" name="Conclusion"/>
          <p:cNvGrpSpPr/>
          <p:nvPr/>
        </p:nvGrpSpPr>
        <p:grpSpPr>
          <a:xfrm>
            <a:off x="648000" y="26439120"/>
            <a:ext cx="20087640" cy="1821240"/>
            <a:chOff x="648000" y="26439120"/>
            <a:chExt cx="20087640" cy="1821240"/>
          </a:xfrm>
        </p:grpSpPr>
        <p:sp>
          <p:nvSpPr>
            <p:cNvPr id="105" name="Panel conclusion" descr="s42"/>
            <p:cNvSpPr/>
            <p:nvPr/>
          </p:nvSpPr>
          <p:spPr>
            <a:xfrm>
              <a:off x="648000" y="26439120"/>
              <a:ext cx="20087640" cy="1821240"/>
            </a:xfrm>
            <a:prstGeom prst="rect">
              <a:avLst/>
            </a:prstGeom>
            <a:solidFill>
              <a:srgbClr val="07568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" name="Conclusion" descr="s110"/>
            <p:cNvSpPr/>
            <p:nvPr/>
          </p:nvSpPr>
          <p:spPr>
            <a:xfrm>
              <a:off x="828360" y="26581680"/>
              <a:ext cx="19756440" cy="44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0" rIns="0" bIns="0" anchor="t">
              <a:noAutofit/>
            </a:bodyPr>
            <a:p>
              <a:pPr>
                <a:lnSpc>
                  <a:spcPts val="3016"/>
                </a:lnSpc>
                <a:tabLst>
                  <a:tab pos="0" algn="l"/>
                </a:tabLst>
              </a:pPr>
              <a:r>
                <a:rPr lang="en-GB" sz="2600" b="1" u="none" strike="noStrike">
                  <a:solidFill>
                    <a:srgbClr val="FFFFFF"/>
                  </a:solidFill>
                  <a:effectLst/>
                  <a:uFillTx/>
                  <a:latin typeface="Noto Sans"/>
                  <a:ea typeface="Noto Sans"/>
                </a:rPr>
                <a:t>Conclusion</a:t>
              </a:r>
              <a:endPara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7" name="Legal RAG should be designed as a multi-stage pipeline: OCR improves robustness to unreadable PDFs, " descr="s111"/>
            <p:cNvSpPr/>
            <p:nvPr/>
          </p:nvSpPr>
          <p:spPr>
            <a:xfrm>
              <a:off x="828360" y="27038160"/>
              <a:ext cx="19756440" cy="11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0" rIns="0" bIns="0" anchor="t">
              <a:noAutofit/>
            </a:bodyPr>
            <a:p>
              <a:pPr>
                <a:lnSpc>
                  <a:spcPts val="2832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FFFFFF"/>
                  </a:solidFill>
                  <a:effectLst/>
                  <a:uFillTx/>
                  <a:latin typeface="Noto Sans"/>
                  <a:ea typeface="Noto Sans"/>
                </a:rPr>
                <a:t>Legal RAG should be designed as a multi-stage pipeline: OCR </a:t>
              </a:r>
              <a:r>
                <a:rPr lang="en-GB" sz="2400" b="0" u="none" strike="noStrike">
                  <a:solidFill>
                    <a:srgbClr val="FFFFFF"/>
                  </a:solidFill>
                  <a:effectLst/>
                  <a:uFillTx/>
                  <a:latin typeface="Noto Sans"/>
                  <a:ea typeface="Noto Sans"/>
                </a:rPr>
                <a:t>improves robustness to unreadable PDFs, hybrid retrieval and </a:t>
              </a:r>
              <a:r>
                <a:rPr lang="en-GB" sz="2400" b="0" u="none" strike="noStrike">
                  <a:solidFill>
                    <a:srgbClr val="FFFFFF"/>
                  </a:solidFill>
                  <a:effectLst/>
                  <a:uFillTx/>
                  <a:latin typeface="Noto Sans"/>
                  <a:ea typeface="Noto Sans"/>
                </a:rPr>
                <a:t>reranking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ts val="2832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FFFFFF"/>
                  </a:solidFill>
                  <a:effectLst/>
                  <a:uFillTx/>
                  <a:latin typeface="Noto Sans"/>
                  <a:ea typeface="Noto Sans"/>
                </a:rPr>
                <a:t>improve answer quality, and post-answer citation selection </a:t>
              </a:r>
              <a:r>
                <a:rPr lang="en-GB" sz="2400" b="0" u="none" strike="noStrike">
                  <a:solidFill>
                    <a:srgbClr val="FFFFFF"/>
                  </a:solidFill>
                  <a:effectLst/>
                  <a:uFillTx/>
                  <a:latin typeface="Noto Sans"/>
                  <a:ea typeface="Noto Sans"/>
                </a:rPr>
                <a:t>improves citation precision. However, citation selection introduces a </a:t>
              </a:r>
              <a:r>
                <a:rPr lang="en-GB" sz="2400" b="0" u="none" strike="noStrike">
                  <a:solidFill>
                    <a:srgbClr val="FFFFFF"/>
                  </a:solidFill>
                  <a:effectLst/>
                  <a:uFillTx/>
                  <a:latin typeface="Noto Sans"/>
                  <a:ea typeface="Noto Sans"/>
                </a:rPr>
                <a:t>precision–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ts val="2832"/>
                </a:lnSpc>
                <a:tabLst>
                  <a:tab pos="0" algn="l"/>
                </a:tabLst>
              </a:pPr>
              <a:r>
                <a:rPr lang="en-GB" sz="2400" b="0" u="none" strike="noStrike">
                  <a:solidFill>
                    <a:srgbClr val="FFFFFF"/>
                  </a:solidFill>
                  <a:effectLst/>
                  <a:uFillTx/>
                  <a:latin typeface="Noto Sans"/>
                  <a:ea typeface="Noto Sans"/>
                </a:rPr>
                <a:t>recall trade-off, so answer quality and citation quality should be </a:t>
              </a:r>
              <a:r>
                <a:rPr lang="en-GB" sz="2400" b="0" u="none" strike="noStrike">
                  <a:solidFill>
                    <a:srgbClr val="FFFFFF"/>
                  </a:solidFill>
                  <a:effectLst/>
                  <a:uFillTx/>
                  <a:latin typeface="Noto Sans"/>
                  <a:ea typeface="Noto Sans"/>
                </a:rPr>
                <a:t>optimized and evaluated separately.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8" name="Rule " descr="s43"/>
          <p:cNvSpPr/>
          <p:nvPr/>
        </p:nvSpPr>
        <p:spPr>
          <a:xfrm>
            <a:off x="648000" y="28368720"/>
            <a:ext cx="20087640" cy="9000"/>
          </a:xfrm>
          <a:prstGeom prst="rect">
            <a:avLst/>
          </a:prstGeom>
          <a:solidFill>
            <a:srgbClr val="CFDE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Building Legal RAG:&#10;what each component contributes" descr="s44"/>
          <p:cNvSpPr/>
          <p:nvPr/>
        </p:nvSpPr>
        <p:spPr>
          <a:xfrm>
            <a:off x="648360" y="413280"/>
            <a:ext cx="9628200" cy="14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ts val="4887"/>
              </a:lnSpc>
              <a:tabLst>
                <a:tab pos="0" algn="l"/>
              </a:tabLst>
            </a:pPr>
            <a:r>
              <a:rPr lang="en-GB" sz="4700" b="1" u="none" spc="-164" strike="noStrike">
                <a:solidFill>
                  <a:srgbClr val="073D65"/>
                </a:solidFill>
                <a:effectLst/>
                <a:uFillTx/>
                <a:latin typeface="Noto Sans"/>
                <a:ea typeface="Noto Sans"/>
              </a:rPr>
              <a:t>Building Legal RAG:</a:t>
            </a:r>
            <a:endParaRPr lang="en-US" sz="4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887"/>
              </a:lnSpc>
              <a:tabLst>
                <a:tab pos="0" algn="l"/>
              </a:tabLst>
            </a:pPr>
            <a:r>
              <a:rPr lang="en-GB" sz="4700" b="1" u="none" spc="-164" strike="noStrike">
                <a:solidFill>
                  <a:srgbClr val="073D65"/>
                </a:solidFill>
                <a:effectLst/>
                <a:uFillTx/>
                <a:latin typeface="Noto Sans"/>
                <a:ea typeface="Noto Sans"/>
              </a:rPr>
              <a:t>what each component contributes</a:t>
            </a:r>
            <a:endParaRPr lang="en-US" sz="4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01" descr="s45"/>
          <p:cNvSpPr/>
          <p:nvPr/>
        </p:nvSpPr>
        <p:spPr>
          <a:xfrm>
            <a:off x="648000" y="1896120"/>
            <a:ext cx="40608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ts val="3067"/>
              </a:lnSpc>
              <a:tabLst>
                <a:tab pos="0" algn="l"/>
              </a:tabLst>
            </a:pPr>
            <a:r>
              <a:rPr lang="en-GB" sz="2600" b="1" u="none" strike="noStrike">
                <a:solidFill>
                  <a:srgbClr val="0069AA"/>
                </a:solidFill>
                <a:effectLst/>
                <a:uFillTx/>
                <a:latin typeface="Noto Sans"/>
                <a:ea typeface="Noto Sans"/>
              </a:rPr>
              <a:t>01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CONTEXT AND HYPOTHESIS" descr="s46"/>
          <p:cNvSpPr/>
          <p:nvPr/>
        </p:nvSpPr>
        <p:spPr>
          <a:xfrm>
            <a:off x="1169640" y="1862640"/>
            <a:ext cx="56152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ts val="3657"/>
              </a:lnSpc>
              <a:tabLst>
                <a:tab pos="0" algn="l"/>
              </a:tabLst>
            </a:pPr>
            <a:r>
              <a:rPr lang="en-GB" sz="3100" b="1" u="none" spc="94" strike="noStrike">
                <a:solidFill>
                  <a:srgbClr val="173248"/>
                </a:solidFill>
                <a:effectLst/>
                <a:uFillTx/>
                <a:latin typeface="Noto Sans"/>
                <a:ea typeface="Noto Sans"/>
              </a:rPr>
              <a:t>CONTEXT AND HYPOTHESIS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Retrieval-augmented generation (RAG) grounds language-model answers in external documents [1]. Legal" descr="s47"/>
          <p:cNvSpPr/>
          <p:nvPr/>
        </p:nvSpPr>
        <p:spPr>
          <a:xfrm>
            <a:off x="648000" y="2435040"/>
            <a:ext cx="20116080" cy="11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ts val="2832"/>
              </a:lnSpc>
              <a:tabLst>
                <a:tab pos="0" algn="l"/>
              </a:tabLst>
            </a:pPr>
            <a:r>
              <a:rPr lang="en-GB" sz="2400" b="0" u="none" strike="noStrike">
                <a:solidFill>
                  <a:srgbClr val="173248"/>
                </a:solidFill>
                <a:effectLst/>
                <a:uFillTx/>
                <a:latin typeface="Noto Sans"/>
                <a:ea typeface="Noto Sans"/>
              </a:rPr>
              <a:t>Retrieval-augmented generation (RAG) grounds language-model answers in external documents [1]. Legal QA needs correct answers and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832"/>
              </a:lnSpc>
              <a:tabLst>
                <a:tab pos="0" algn="l"/>
              </a:tabLst>
            </a:pPr>
            <a:r>
              <a:rPr lang="en-GB" sz="2400" b="0" u="none" strike="noStrike">
                <a:solidFill>
                  <a:srgbClr val="173248"/>
                </a:solidFill>
                <a:effectLst/>
                <a:uFillTx/>
                <a:latin typeface="Noto Sans"/>
                <a:ea typeface="Noto Sans"/>
              </a:rPr>
              <a:t>precise, complete source-page citations [2, 3]. PDFs may lack searchable text; evidence spans different text scales and may require exact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832"/>
              </a:lnSpc>
              <a:tabLst>
                <a:tab pos="0" algn="l"/>
              </a:tabLst>
            </a:pPr>
            <a:r>
              <a:rPr lang="en-GB" sz="2400" b="0" u="none" strike="noStrike">
                <a:solidFill>
                  <a:srgbClr val="173248"/>
                </a:solidFill>
                <a:effectLst/>
                <a:uFillTx/>
                <a:latin typeface="Noto Sans"/>
                <a:ea typeface="Noto Sans"/>
              </a:rPr>
              <a:t>legal terms. Retrieving more passages can also introduce irrelevant pages.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How can a legal RAG pipeline improve answer quality&#10;while keeping source-page citations both precise" descr="s48"/>
          <p:cNvSpPr/>
          <p:nvPr/>
        </p:nvSpPr>
        <p:spPr>
          <a:xfrm>
            <a:off x="648000" y="3613680"/>
            <a:ext cx="20116080" cy="90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ts val="3305"/>
              </a:lnSpc>
              <a:tabLst>
                <a:tab pos="0" algn="l"/>
              </a:tabLst>
            </a:pPr>
            <a:r>
              <a:rPr lang="en-GB" sz="2800" b="1" u="none" strike="noStrike">
                <a:solidFill>
                  <a:srgbClr val="073D65"/>
                </a:solidFill>
                <a:effectLst/>
                <a:uFillTx/>
                <a:latin typeface="Noto Sans"/>
                <a:ea typeface="Noto Sans"/>
              </a:rPr>
              <a:t>How can a legal RAG pipeline improve answer quality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305"/>
              </a:lnSpc>
              <a:tabLst>
                <a:tab pos="0" algn="l"/>
              </a:tabLst>
            </a:pPr>
            <a:r>
              <a:rPr lang="en-GB" sz="2800" b="1" u="none" strike="noStrike">
                <a:solidFill>
                  <a:srgbClr val="073D65"/>
                </a:solidFill>
                <a:effectLst/>
                <a:uFillTx/>
                <a:latin typeface="Noto Sans"/>
                <a:ea typeface="Noto Sans"/>
              </a:rPr>
              <a:t>while keeping source-page citations both precise and </a:t>
            </a:r>
            <a:r>
              <a:rPr lang="en-GB" sz="2800" b="1" u="none" strike="noStrike">
                <a:solidFill>
                  <a:srgbClr val="073D65"/>
                </a:solidFill>
                <a:effectLst/>
                <a:uFillTx/>
                <a:latin typeface="Noto Sans"/>
                <a:ea typeface="Noto Sans"/>
              </a:rPr>
              <a:t>complete?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02" descr="s55"/>
          <p:cNvSpPr/>
          <p:nvPr/>
        </p:nvSpPr>
        <p:spPr>
          <a:xfrm>
            <a:off x="648000" y="6687360"/>
            <a:ext cx="40608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ts val="3067"/>
              </a:lnSpc>
              <a:tabLst>
                <a:tab pos="0" algn="l"/>
              </a:tabLst>
            </a:pPr>
            <a:r>
              <a:rPr lang="en-GB" sz="2600" b="1" u="none" strike="noStrike">
                <a:solidFill>
                  <a:srgbClr val="0069AA"/>
                </a:solidFill>
                <a:effectLst/>
                <a:uFillTx/>
                <a:latin typeface="Noto Sans"/>
                <a:ea typeface="Noto Sans"/>
              </a:rPr>
              <a:t>02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METHODOLOGY" descr="s56"/>
          <p:cNvSpPr/>
          <p:nvPr/>
        </p:nvSpPr>
        <p:spPr>
          <a:xfrm>
            <a:off x="1170000" y="6653880"/>
            <a:ext cx="324396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ts val="3657"/>
              </a:lnSpc>
              <a:tabLst>
                <a:tab pos="0" algn="l"/>
              </a:tabLst>
            </a:pPr>
            <a:r>
              <a:rPr lang="en-GB" sz="3100" b="1" u="none" spc="94" strike="noStrike">
                <a:solidFill>
                  <a:srgbClr val="173248"/>
                </a:solidFill>
                <a:effectLst/>
                <a:uFillTx/>
                <a:latin typeface="Noto Sans"/>
                <a:ea typeface="Noto Sans"/>
              </a:rPr>
              <a:t>METHODOLOGY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Data: 30 DIFC legal PDFs (590 pages), 100 questions: 70 structured-answer and 30 free-text. Referenc" descr="s57"/>
          <p:cNvSpPr/>
          <p:nvPr/>
        </p:nvSpPr>
        <p:spPr>
          <a:xfrm>
            <a:off x="648000" y="7225920"/>
            <a:ext cx="2011608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ts val="2832"/>
              </a:lnSpc>
              <a:tabLst>
                <a:tab pos="0" algn="l"/>
              </a:tabLst>
            </a:pPr>
            <a:r>
              <a:rPr lang="en-GB" sz="2400" b="1" u="none" strike="noStrike">
                <a:solidFill>
                  <a:srgbClr val="173248"/>
                </a:solidFill>
                <a:effectLst/>
                <a:uFillTx/>
                <a:latin typeface="Noto Sans"/>
                <a:ea typeface="Noto Sans"/>
              </a:rPr>
              <a:t>Data:</a:t>
            </a:r>
            <a:r>
              <a:rPr lang="en-GB" sz="2400" b="0" u="none" strike="noStrike">
                <a:solidFill>
                  <a:srgbClr val="173248"/>
                </a:solidFill>
                <a:effectLst/>
                <a:uFillTx/>
                <a:latin typeface="Noto Sans"/>
                <a:ea typeface="Noto Sans"/>
              </a:rPr>
              <a:t> 30 DIFC legal PDFs (590 pages), </a:t>
            </a:r>
            <a:r>
              <a:rPr lang="en-GB" sz="2400" b="0" u="none" strike="noStrike">
                <a:solidFill>
                  <a:srgbClr val="173248"/>
                </a:solidFill>
                <a:effectLst/>
                <a:uFillTx/>
                <a:latin typeface="Noto Sans"/>
                <a:ea typeface="Noto Sans"/>
              </a:rPr>
              <a:t>100 questions: 70 structured-answer </a:t>
            </a:r>
            <a:r>
              <a:rPr lang="en-GB" sz="2400" b="0" u="none" strike="noStrike">
                <a:solidFill>
                  <a:srgbClr val="173248"/>
                </a:solidFill>
                <a:effectLst/>
                <a:uFillTx/>
                <a:latin typeface="Noto Sans"/>
                <a:ea typeface="Noto Sans"/>
              </a:rPr>
              <a:t>and 30 free-text. Reference source </a:t>
            </a:r>
            <a:r>
              <a:rPr lang="en-GB" sz="2400" b="0" u="none" strike="noStrike">
                <a:solidFill>
                  <a:srgbClr val="173248"/>
                </a:solidFill>
                <a:effectLst/>
                <a:uFillTx/>
                <a:latin typeface="Noto Sans"/>
                <a:ea typeface="Noto Sans"/>
              </a:rPr>
              <a:t>pages are available for 95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832"/>
              </a:lnSpc>
              <a:tabLst>
                <a:tab pos="0" algn="l"/>
              </a:tabLst>
            </a:pPr>
            <a:r>
              <a:rPr lang="en-GB" sz="2400" b="0" u="none" strike="noStrike">
                <a:solidFill>
                  <a:srgbClr val="173248"/>
                </a:solidFill>
                <a:effectLst/>
                <a:uFillTx/>
                <a:latin typeface="Noto Sans"/>
                <a:ea typeface="Noto Sans"/>
              </a:rPr>
              <a:t>questions. In the mixed corpus, 10 </a:t>
            </a:r>
            <a:r>
              <a:rPr lang="en-GB" sz="2400" b="0" u="none" strike="noStrike">
                <a:solidFill>
                  <a:srgbClr val="173248"/>
                </a:solidFill>
                <a:effectLst/>
                <a:uFillTx/>
                <a:latin typeface="Noto Sans"/>
                <a:ea typeface="Noto Sans"/>
              </a:rPr>
              <a:t>PDFs (107 pages) become synthetic </a:t>
            </a:r>
            <a:r>
              <a:rPr lang="en-GB" sz="2400" b="0" u="none" strike="noStrike">
                <a:solidFill>
                  <a:srgbClr val="173248"/>
                </a:solidFill>
                <a:effectLst/>
                <a:uFillTx/>
                <a:latin typeface="Noto Sans"/>
                <a:ea typeface="Noto Sans"/>
              </a:rPr>
              <a:t>scans: page images at 300 DPI with the </a:t>
            </a:r>
            <a:r>
              <a:rPr lang="en-GB" sz="2400" b="0" u="none" strike="noStrike">
                <a:solidFill>
                  <a:srgbClr val="173248"/>
                </a:solidFill>
                <a:effectLst/>
                <a:uFillTx/>
                <a:latin typeface="Noto Sans"/>
                <a:ea typeface="Noto Sans"/>
              </a:rPr>
              <a:t>text layer removed.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DOCUMENT PROCESSING" descr="s66"/>
          <p:cNvSpPr/>
          <p:nvPr/>
        </p:nvSpPr>
        <p:spPr>
          <a:xfrm>
            <a:off x="2039040" y="9512280"/>
            <a:ext cx="37990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ts val="2832"/>
              </a:lnSpc>
              <a:tabLst>
                <a:tab pos="0" algn="l"/>
              </a:tabLst>
            </a:pPr>
            <a:r>
              <a:rPr lang="en-GB" sz="2400" b="1" u="none" strike="noStrike">
                <a:solidFill>
                  <a:srgbClr val="3186BD"/>
                </a:solidFill>
                <a:effectLst/>
                <a:uFillTx/>
                <a:latin typeface="Noto Sans"/>
                <a:ea typeface="Noto Sans"/>
              </a:rPr>
              <a:t>DOCUMENT PROCESSING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RETRIEVAL" descr="s67"/>
          <p:cNvSpPr/>
          <p:nvPr/>
        </p:nvSpPr>
        <p:spPr>
          <a:xfrm>
            <a:off x="9891000" y="9512280"/>
            <a:ext cx="163116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ts val="2832"/>
              </a:lnSpc>
              <a:tabLst>
                <a:tab pos="0" algn="l"/>
              </a:tabLst>
            </a:pPr>
            <a:r>
              <a:rPr lang="en-GB" sz="2400" b="1" u="none" strike="noStrike">
                <a:solidFill>
                  <a:srgbClr val="4B8A42"/>
                </a:solidFill>
                <a:effectLst/>
                <a:uFillTx/>
                <a:latin typeface="Noto Sans"/>
                <a:ea typeface="Noto Sans"/>
              </a:rPr>
              <a:t>RETRIEVAL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ANSWERING" descr="s68"/>
          <p:cNvSpPr/>
          <p:nvPr/>
        </p:nvSpPr>
        <p:spPr>
          <a:xfrm>
            <a:off x="14828400" y="9512280"/>
            <a:ext cx="19072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ts val="2832"/>
              </a:lnSpc>
              <a:tabLst>
                <a:tab pos="0" algn="l"/>
              </a:tabLst>
            </a:pPr>
            <a:r>
              <a:rPr lang="en-GB" sz="2400" b="1" u="none" strike="noStrike">
                <a:solidFill>
                  <a:srgbClr val="B96734"/>
                </a:solidFill>
                <a:effectLst/>
                <a:uFillTx/>
                <a:latin typeface="Noto Sans"/>
                <a:ea typeface="Noto Sans"/>
              </a:rPr>
              <a:t>ANSWERING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CITATIONS" descr="s69"/>
          <p:cNvSpPr/>
          <p:nvPr/>
        </p:nvSpPr>
        <p:spPr>
          <a:xfrm>
            <a:off x="18346680" y="9512280"/>
            <a:ext cx="16380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ts val="2832"/>
              </a:lnSpc>
              <a:tabLst>
                <a:tab pos="0" algn="l"/>
              </a:tabLst>
            </a:pPr>
            <a:r>
              <a:rPr lang="en-GB" sz="2400" b="1" u="none" strike="noStrike">
                <a:solidFill>
                  <a:srgbClr val="7655B5"/>
                </a:solidFill>
                <a:effectLst/>
                <a:uFillTx/>
                <a:latin typeface="Noto Sans"/>
                <a:ea typeface="Noto Sans"/>
              </a:rPr>
              <a:t>CITATIONS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Each variant (R1–R6) includes all previous additions." descr="s88"/>
          <p:cNvSpPr/>
          <p:nvPr/>
        </p:nvSpPr>
        <p:spPr>
          <a:xfrm>
            <a:off x="6776280" y="14074920"/>
            <a:ext cx="78595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ts val="2832"/>
              </a:lnSpc>
              <a:tabLst>
                <a:tab pos="0" algn="l"/>
              </a:tabLst>
            </a:pPr>
            <a:r>
              <a:rPr lang="en-GB" sz="2400" b="1" u="none" strike="noStrike">
                <a:solidFill>
                  <a:srgbClr val="173248"/>
                </a:solidFill>
                <a:effectLst/>
                <a:uFillTx/>
                <a:latin typeface="Noto Sans"/>
                <a:ea typeface="Noto Sans"/>
              </a:rPr>
              <a:t>Each variant (R1–R6) includes all previous additions.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Answer generation: A fixed GPT-5.4-mini configuration is used across variants, so changes in perform" descr="s89"/>
          <p:cNvSpPr/>
          <p:nvPr/>
        </p:nvSpPr>
        <p:spPr>
          <a:xfrm>
            <a:off x="648000" y="14693400"/>
            <a:ext cx="2011608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ts val="2832"/>
              </a:lnSpc>
              <a:tabLst>
                <a:tab pos="0" algn="l"/>
              </a:tabLst>
            </a:pPr>
            <a:r>
              <a:rPr lang="en-GB" sz="2400" b="1" u="none" strike="noStrike">
                <a:solidFill>
                  <a:srgbClr val="516578"/>
                </a:solidFill>
                <a:effectLst/>
                <a:uFillTx/>
                <a:latin typeface="Noto Sans"/>
                <a:ea typeface="Noto Sans"/>
              </a:rPr>
              <a:t>Answer generation:</a:t>
            </a:r>
            <a:r>
              <a:rPr lang="en-GB" sz="2400" b="0" u="none" strike="noStrike">
                <a:solidFill>
                  <a:srgbClr val="516578"/>
                </a:solidFill>
                <a:effectLst/>
                <a:uFillTx/>
                <a:latin typeface="Noto Sans"/>
                <a:ea typeface="Noto Sans"/>
              </a:rPr>
              <a:t> A fixed GPT-5.4-mini configuration is used across variants.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Answer quality" descr="s90"/>
          <p:cNvSpPr/>
          <p:nvPr/>
        </p:nvSpPr>
        <p:spPr>
          <a:xfrm>
            <a:off x="648360" y="15592320"/>
            <a:ext cx="653220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ts val="2900"/>
              </a:lnSpc>
              <a:tabLst>
                <a:tab pos="0" algn="l"/>
              </a:tabLst>
            </a:pPr>
            <a:r>
              <a:rPr lang="en-GB" sz="2500" b="1" u="none" strike="noStrike">
                <a:solidFill>
                  <a:srgbClr val="07568A"/>
                </a:solidFill>
                <a:effectLst/>
                <a:uFillTx/>
                <a:latin typeface="Noto Sans"/>
                <a:ea typeface="Noto Sans"/>
              </a:rPr>
              <a:t>Answer quality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Is the generated answer correct?" descr="s91"/>
          <p:cNvSpPr/>
          <p:nvPr/>
        </p:nvSpPr>
        <p:spPr>
          <a:xfrm>
            <a:off x="648360" y="16017840"/>
            <a:ext cx="65322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ts val="2832"/>
              </a:lnSpc>
              <a:tabLst>
                <a:tab pos="0" algn="l"/>
              </a:tabLst>
            </a:pPr>
            <a:r>
              <a:rPr lang="en-GB" sz="2400" b="0" i="1" u="none" strike="noStrike">
                <a:solidFill>
                  <a:srgbClr val="173248"/>
                </a:solidFill>
                <a:effectLst/>
                <a:uFillTx/>
                <a:latin typeface="Noto Sans"/>
                <a:ea typeface="Noto Sans"/>
              </a:rPr>
              <a:t>Is the generated answer correct?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Q = 0.7 × structured score&#10;+ 0.3 × free-text score" descr="s92"/>
          <p:cNvSpPr/>
          <p:nvPr/>
        </p:nvSpPr>
        <p:spPr>
          <a:xfrm>
            <a:off x="648360" y="16426800"/>
            <a:ext cx="653220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ts val="2832"/>
              </a:lnSpc>
              <a:tabLst>
                <a:tab pos="0" algn="l"/>
              </a:tabLst>
            </a:pPr>
            <a:r>
              <a:rPr lang="en-GB" sz="2400" b="1" u="none" strike="noStrike">
                <a:solidFill>
                  <a:srgbClr val="173248"/>
                </a:solidFill>
                <a:effectLst/>
                <a:uFillTx/>
                <a:latin typeface="Noto Sans"/>
                <a:ea typeface="Noto Sans"/>
              </a:rPr>
              <a:t>Q = 0.7 × structured score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832"/>
              </a:lnSpc>
              <a:tabLst>
                <a:tab pos="0" algn="l"/>
              </a:tabLst>
            </a:pPr>
            <a:r>
              <a:rPr lang="en-GB" sz="2400" b="1" u="none" strike="noStrike">
                <a:solidFill>
                  <a:srgbClr val="173248"/>
                </a:solidFill>
                <a:effectLst/>
                <a:uFillTx/>
                <a:latin typeface="Noto Sans"/>
                <a:ea typeface="Noto Sans"/>
              </a:rPr>
              <a:t>+ 0.3 × free-text score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Citation precision" descr="s93"/>
          <p:cNvSpPr/>
          <p:nvPr/>
        </p:nvSpPr>
        <p:spPr>
          <a:xfrm>
            <a:off x="7440480" y="15592320"/>
            <a:ext cx="653220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ts val="2900"/>
              </a:lnSpc>
              <a:tabLst>
                <a:tab pos="0" algn="l"/>
              </a:tabLst>
            </a:pPr>
            <a:r>
              <a:rPr lang="en-GB" sz="2500" b="1" u="none" strike="noStrike">
                <a:solidFill>
                  <a:srgbClr val="07568A"/>
                </a:solidFill>
                <a:effectLst/>
                <a:uFillTx/>
                <a:latin typeface="Noto Sans"/>
                <a:ea typeface="Noto Sans"/>
              </a:rPr>
              <a:t>Citation precision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Are the cited pages actually relevant?" descr="s94"/>
          <p:cNvSpPr/>
          <p:nvPr/>
        </p:nvSpPr>
        <p:spPr>
          <a:xfrm>
            <a:off x="7440480" y="16017840"/>
            <a:ext cx="65322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ts val="2832"/>
              </a:lnSpc>
              <a:tabLst>
                <a:tab pos="0" algn="l"/>
              </a:tabLst>
            </a:pPr>
            <a:r>
              <a:rPr lang="en-GB" sz="2400" b="0" i="1" u="none" strike="noStrike">
                <a:solidFill>
                  <a:srgbClr val="173248"/>
                </a:solidFill>
                <a:effectLst/>
                <a:uFillTx/>
                <a:latin typeface="Noto Sans"/>
                <a:ea typeface="Noto Sans"/>
              </a:rPr>
              <a:t>Are the cited pages actually relevant?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re of cited pages that support the answer." descr="s95"/>
          <p:cNvSpPr/>
          <p:nvPr/>
        </p:nvSpPr>
        <p:spPr>
          <a:xfrm>
            <a:off x="7440480" y="16427160"/>
            <a:ext cx="65322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ts val="2832"/>
              </a:lnSpc>
              <a:tabLst>
                <a:tab pos="0" algn="l"/>
              </a:tabLst>
            </a:pPr>
            <a:r>
              <a:rPr lang="en-GB" sz="2400" b="0" u="none" strike="noStrike">
                <a:solidFill>
                  <a:srgbClr val="173248"/>
                </a:solidFill>
                <a:effectLst/>
                <a:uFillTx/>
                <a:latin typeface="Noto Sans"/>
                <a:ea typeface="Noto Sans"/>
              </a:rPr>
              <a:t>Share of cited pages that support the answer.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Citation recall" descr="s96"/>
          <p:cNvSpPr/>
          <p:nvPr/>
        </p:nvSpPr>
        <p:spPr>
          <a:xfrm>
            <a:off x="14232240" y="15592320"/>
            <a:ext cx="653220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ts val="2900"/>
              </a:lnSpc>
              <a:tabLst>
                <a:tab pos="0" algn="l"/>
              </a:tabLst>
            </a:pPr>
            <a:r>
              <a:rPr lang="en-GB" sz="2500" b="1" u="none" strike="noStrike">
                <a:solidFill>
                  <a:srgbClr val="07568A"/>
                </a:solidFill>
                <a:effectLst/>
                <a:uFillTx/>
                <a:latin typeface="Noto Sans"/>
                <a:ea typeface="Noto Sans"/>
              </a:rPr>
              <a:t>Citation recall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Did the system cite all required evidence?" descr="s97"/>
          <p:cNvSpPr/>
          <p:nvPr/>
        </p:nvSpPr>
        <p:spPr>
          <a:xfrm>
            <a:off x="14232240" y="16017840"/>
            <a:ext cx="65322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ts val="2832"/>
              </a:lnSpc>
              <a:tabLst>
                <a:tab pos="0" algn="l"/>
              </a:tabLst>
            </a:pPr>
            <a:r>
              <a:rPr lang="en-GB" sz="2400" b="0" i="1" u="none" strike="noStrike">
                <a:solidFill>
                  <a:srgbClr val="173248"/>
                </a:solidFill>
                <a:effectLst/>
                <a:uFillTx/>
                <a:latin typeface="Noto Sans"/>
                <a:ea typeface="Noto Sans"/>
              </a:rPr>
              <a:t>Did the system cite all required evidence?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re of annotated supporting pages that were cited." descr="s98"/>
          <p:cNvSpPr/>
          <p:nvPr/>
        </p:nvSpPr>
        <p:spPr>
          <a:xfrm>
            <a:off x="14232240" y="16426800"/>
            <a:ext cx="653220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ts val="2832"/>
              </a:lnSpc>
              <a:tabLst>
                <a:tab pos="0" algn="l"/>
              </a:tabLst>
            </a:pPr>
            <a:r>
              <a:rPr lang="en-GB" sz="2400" b="0" u="none" strike="noStrike">
                <a:solidFill>
                  <a:srgbClr val="173248"/>
                </a:solidFill>
                <a:effectLst/>
                <a:uFillTx/>
                <a:latin typeface="Noto Sans"/>
                <a:ea typeface="Noto Sans"/>
              </a:rPr>
              <a:t>Share of annotated supporting pages that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832"/>
              </a:lnSpc>
              <a:tabLst>
                <a:tab pos="0" algn="l"/>
              </a:tabLst>
            </a:pPr>
            <a:r>
              <a:rPr lang="en-GB" sz="2400" b="0" u="none" strike="noStrike">
                <a:solidFill>
                  <a:srgbClr val="173248"/>
                </a:solidFill>
                <a:effectLst/>
                <a:uFillTx/>
                <a:latin typeface="Noto Sans"/>
                <a:ea typeface="Noto Sans"/>
              </a:rPr>
              <a:t>were cited.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03" descr="s99"/>
          <p:cNvSpPr/>
          <p:nvPr/>
        </p:nvSpPr>
        <p:spPr>
          <a:xfrm>
            <a:off x="648000" y="17421840"/>
            <a:ext cx="40608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ts val="3067"/>
              </a:lnSpc>
              <a:tabLst>
                <a:tab pos="0" algn="l"/>
              </a:tabLst>
            </a:pPr>
            <a:r>
              <a:rPr lang="en-GB" sz="2600" b="1" u="none" strike="noStrike">
                <a:solidFill>
                  <a:srgbClr val="0069AA"/>
                </a:solidFill>
                <a:effectLst/>
                <a:uFillTx/>
                <a:latin typeface="Noto Sans"/>
                <a:ea typeface="Noto Sans"/>
              </a:rPr>
              <a:t>03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RESULTS" descr="s100"/>
          <p:cNvSpPr/>
          <p:nvPr/>
        </p:nvSpPr>
        <p:spPr>
          <a:xfrm>
            <a:off x="1169640" y="17388360"/>
            <a:ext cx="176040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ts val="3657"/>
              </a:lnSpc>
              <a:tabLst>
                <a:tab pos="0" algn="l"/>
              </a:tabLst>
            </a:pPr>
            <a:r>
              <a:rPr lang="en-GB" sz="3100" b="1" u="none" spc="94" strike="noStrike">
                <a:solidFill>
                  <a:srgbClr val="173248"/>
                </a:solidFill>
                <a:effectLst/>
                <a:uFillTx/>
                <a:latin typeface="Noto Sans"/>
                <a:ea typeface="Noto Sans"/>
              </a:rPr>
              <a:t>RESULTS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R0 to R6 on the mixed corpus" descr="s101"/>
          <p:cNvSpPr/>
          <p:nvPr/>
        </p:nvSpPr>
        <p:spPr>
          <a:xfrm>
            <a:off x="16538400" y="17446320"/>
            <a:ext cx="42256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ts val="2832"/>
              </a:lnSpc>
              <a:tabLst>
                <a:tab pos="0" algn="l"/>
              </a:tabLst>
            </a:pPr>
            <a:r>
              <a:rPr lang="en-GB" sz="2400" b="0" u="none" strike="noStrike">
                <a:solidFill>
                  <a:srgbClr val="516578"/>
                </a:solidFill>
                <a:effectLst/>
                <a:uFillTx/>
                <a:latin typeface="Noto Sans"/>
                <a:ea typeface="Noto Sans"/>
              </a:rPr>
              <a:t>R0 to R6 on the mixed corpus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OCR recovers performance on scanned documents" descr="s102"/>
          <p:cNvSpPr/>
          <p:nvPr/>
        </p:nvSpPr>
        <p:spPr>
          <a:xfrm>
            <a:off x="648000" y="21838320"/>
            <a:ext cx="992808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ts val="3016"/>
              </a:lnSpc>
              <a:tabLst>
                <a:tab pos="0" algn="l"/>
              </a:tabLst>
            </a:pPr>
            <a:r>
              <a:rPr lang="en-GB" sz="2600" b="1" u="none" strike="noStrike">
                <a:solidFill>
                  <a:srgbClr val="07568A"/>
                </a:solidFill>
                <a:effectLst/>
                <a:uFillTx/>
                <a:latin typeface="Noto Sans"/>
                <a:ea typeface="Noto Sans"/>
              </a:rPr>
              <a:t>OCR recovers performance on scanned documents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Converting 10 documents into synthetic scans reduces answer quality from 65.4% to 46.2%. OCR restore" descr="s103"/>
          <p:cNvSpPr/>
          <p:nvPr/>
        </p:nvSpPr>
        <p:spPr>
          <a:xfrm>
            <a:off x="648000" y="25209000"/>
            <a:ext cx="9928080" cy="11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ts val="2832"/>
              </a:lnSpc>
              <a:tabLst>
                <a:tab pos="0" algn="l"/>
              </a:tabLst>
            </a:pPr>
            <a:r>
              <a:rPr lang="en-GB" sz="2400" b="0" u="none" strike="noStrike">
                <a:solidFill>
                  <a:srgbClr val="173248"/>
                </a:solidFill>
                <a:effectLst/>
                <a:uFillTx/>
                <a:latin typeface="Noto Sans"/>
                <a:ea typeface="Noto Sans"/>
              </a:rPr>
              <a:t>Converting 10 documents into synthetic scans reduces answer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832"/>
              </a:lnSpc>
              <a:tabLst>
                <a:tab pos="0" algn="l"/>
              </a:tabLst>
            </a:pPr>
            <a:r>
              <a:rPr lang="en-GB" sz="2400" b="0" u="none" strike="noStrike">
                <a:solidFill>
                  <a:srgbClr val="173248"/>
                </a:solidFill>
                <a:effectLst/>
                <a:uFillTx/>
                <a:latin typeface="Noto Sans"/>
                <a:ea typeface="Noto Sans"/>
              </a:rPr>
              <a:t>quality from 65.4% to 46.2%. OCR restores most of this loss, reaching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832"/>
              </a:lnSpc>
              <a:tabLst>
                <a:tab pos="0" algn="l"/>
              </a:tabLst>
            </a:pPr>
            <a:r>
              <a:rPr lang="en-GB" sz="2400" b="0" u="none" strike="noStrike">
                <a:solidFill>
                  <a:srgbClr val="173248"/>
                </a:solidFill>
                <a:effectLst/>
                <a:uFillTx/>
                <a:latin typeface="Noto Sans"/>
                <a:ea typeface="Noto Sans"/>
              </a:rPr>
              <a:t>63.2%.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Hypothesis evaluation" descr="s104"/>
          <p:cNvSpPr/>
          <p:nvPr/>
        </p:nvSpPr>
        <p:spPr>
          <a:xfrm>
            <a:off x="11061360" y="21838320"/>
            <a:ext cx="970272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ts val="3016"/>
              </a:lnSpc>
              <a:tabLst>
                <a:tab pos="0" algn="l"/>
              </a:tabLst>
            </a:pPr>
            <a:r>
              <a:rPr lang="en-GB" sz="2600" b="1" u="none" strike="noStrike">
                <a:solidFill>
                  <a:srgbClr val="07568A"/>
                </a:solidFill>
                <a:effectLst/>
                <a:uFillTx/>
                <a:latin typeface="Noto Sans"/>
                <a:ea typeface="Noto Sans"/>
              </a:rPr>
              <a:t>Hypothesis evaluation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H1 · Partially supported. Multiple scales alone reduce Q; lexical retrieval and reranking improve Q " descr="s105"/>
          <p:cNvSpPr/>
          <p:nvPr/>
        </p:nvSpPr>
        <p:spPr>
          <a:xfrm>
            <a:off x="11061360" y="22294440"/>
            <a:ext cx="97027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ts val="2832"/>
              </a:lnSpc>
              <a:tabLst>
                <a:tab pos="0" algn="l"/>
              </a:tabLst>
            </a:pPr>
            <a:r>
              <a:rPr lang="en-GB" sz="2400" b="1" u="none" strike="noStrike">
                <a:solidFill>
                  <a:srgbClr val="07568A"/>
                </a:solidFill>
                <a:effectLst/>
                <a:uFillTx/>
                <a:latin typeface="Noto Sans"/>
                <a:ea typeface="Noto Sans"/>
              </a:rPr>
              <a:t>H1 · Partially supported.</a:t>
            </a:r>
            <a:r>
              <a:rPr lang="en-GB" sz="2400" b="0" u="none" strike="noStrike">
                <a:solidFill>
                  <a:srgbClr val="173248"/>
                </a:solidFill>
                <a:effectLst/>
                <a:uFillTx/>
                <a:latin typeface="Noto Sans"/>
                <a:ea typeface="Noto Sans"/>
              </a:rPr>
              <a:t> Multiple scales alone reduce Q; lexical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832"/>
              </a:lnSpc>
              <a:tabLst>
                <a:tab pos="0" algn="l"/>
              </a:tabLst>
            </a:pPr>
            <a:r>
              <a:rPr lang="en-GB" sz="2400" b="0" u="none" strike="noStrike">
                <a:solidFill>
                  <a:srgbClr val="173248"/>
                </a:solidFill>
                <a:effectLst/>
                <a:uFillTx/>
                <a:latin typeface="Noto Sans"/>
                <a:ea typeface="Noto Sans"/>
              </a:rPr>
              <a:t>retrieval and reranking improve Q and recall.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H2 · Supported. OCR restores most of the loss caused by removing the text layer." descr="s106"/>
          <p:cNvSpPr/>
          <p:nvPr/>
        </p:nvSpPr>
        <p:spPr>
          <a:xfrm>
            <a:off x="11061360" y="23104440"/>
            <a:ext cx="97027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ts val="2832"/>
              </a:lnSpc>
              <a:tabLst>
                <a:tab pos="0" algn="l"/>
              </a:tabLst>
            </a:pPr>
            <a:r>
              <a:rPr lang="en-GB" sz="2400" b="1" u="none" strike="noStrike">
                <a:solidFill>
                  <a:srgbClr val="07568A"/>
                </a:solidFill>
                <a:effectLst/>
                <a:uFillTx/>
                <a:latin typeface="Noto Sans"/>
                <a:ea typeface="Noto Sans"/>
              </a:rPr>
              <a:t>H2 · Supported.</a:t>
            </a:r>
            <a:r>
              <a:rPr lang="en-GB" sz="2400" b="0" u="none" strike="noStrike">
                <a:solidFill>
                  <a:srgbClr val="173248"/>
                </a:solidFill>
                <a:effectLst/>
                <a:uFillTx/>
                <a:latin typeface="Noto Sans"/>
                <a:ea typeface="Noto Sans"/>
              </a:rPr>
              <a:t> OCR restores most of the loss caused by removing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832"/>
              </a:lnSpc>
              <a:tabLst>
                <a:tab pos="0" algn="l"/>
              </a:tabLst>
            </a:pPr>
            <a:r>
              <a:rPr lang="en-GB" sz="2400" b="0" u="none" strike="noStrike">
                <a:solidFill>
                  <a:srgbClr val="173248"/>
                </a:solidFill>
                <a:effectLst/>
                <a:uFillTx/>
                <a:latin typeface="Noto Sans"/>
                <a:ea typeface="Noto Sans"/>
              </a:rPr>
              <a:t>the text layer.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H3 · Supported with a trade-off. Precision rises from 27.1% to 61.8%; recall falls from 78.9% to 74." descr="s107"/>
          <p:cNvSpPr/>
          <p:nvPr/>
        </p:nvSpPr>
        <p:spPr>
          <a:xfrm>
            <a:off x="11061360" y="23913720"/>
            <a:ext cx="97027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ts val="2832"/>
              </a:lnSpc>
              <a:tabLst>
                <a:tab pos="0" algn="l"/>
              </a:tabLst>
            </a:pPr>
            <a:r>
              <a:rPr lang="en-GB" sz="2400" b="1" u="none" strike="noStrike">
                <a:solidFill>
                  <a:srgbClr val="07568A"/>
                </a:solidFill>
                <a:effectLst/>
                <a:uFillTx/>
                <a:latin typeface="Noto Sans"/>
                <a:ea typeface="Noto Sans"/>
              </a:rPr>
              <a:t>H3 · Supported with a trade-off.</a:t>
            </a:r>
            <a:r>
              <a:rPr lang="en-GB" sz="2400" b="0" u="none" strike="noStrike">
                <a:solidFill>
                  <a:srgbClr val="173248"/>
                </a:solidFill>
                <a:effectLst/>
                <a:uFillTx/>
                <a:latin typeface="Noto Sans"/>
                <a:ea typeface="Noto Sans"/>
              </a:rPr>
              <a:t> Precision rises from 27.1% to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832"/>
              </a:lnSpc>
              <a:tabLst>
                <a:tab pos="0" algn="l"/>
              </a:tabLst>
            </a:pPr>
            <a:r>
              <a:rPr lang="en-GB" sz="2400" b="0" u="none" strike="noStrike">
                <a:solidFill>
                  <a:srgbClr val="173248"/>
                </a:solidFill>
                <a:effectLst/>
                <a:uFillTx/>
                <a:latin typeface="Noto Sans"/>
                <a:ea typeface="Noto Sans"/>
              </a:rPr>
              <a:t>61.8%; recall falls from 78.9% to 74.7% (−4.2 pp).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Limitations" descr="s108"/>
          <p:cNvSpPr/>
          <p:nvPr/>
        </p:nvSpPr>
        <p:spPr>
          <a:xfrm>
            <a:off x="11061360" y="24822000"/>
            <a:ext cx="970272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ts val="2900"/>
              </a:lnSpc>
              <a:tabLst>
                <a:tab pos="0" algn="l"/>
              </a:tabLst>
            </a:pPr>
            <a:r>
              <a:rPr lang="en-GB" sz="2500" b="1" u="none" strike="noStrike">
                <a:solidFill>
                  <a:srgbClr val="07568A"/>
                </a:solidFill>
                <a:effectLst/>
                <a:uFillTx/>
                <a:latin typeface="Noto Sans"/>
                <a:ea typeface="Noto Sans"/>
              </a:rPr>
              <a:t>Limitations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one DIFC corpus and 100 questions; one run per condition with no significance testing; LLM-based eva" descr="s109"/>
          <p:cNvSpPr/>
          <p:nvPr/>
        </p:nvSpPr>
        <p:spPr>
          <a:xfrm>
            <a:off x="11061360" y="25237440"/>
            <a:ext cx="97027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ts val="2832"/>
              </a:lnSpc>
              <a:tabLst>
                <a:tab pos="0" algn="l"/>
              </a:tabLst>
            </a:pPr>
            <a:r>
              <a:rPr lang="en-GB" sz="2400" b="0" u="none" strike="noStrike">
                <a:solidFill>
                  <a:srgbClr val="516578"/>
                </a:solidFill>
                <a:effectLst/>
                <a:uFillTx/>
                <a:latin typeface="Noto Sans"/>
                <a:ea typeface="Noto Sans"/>
              </a:rPr>
              <a:t>one DIFC corpus and 100 questions; one run per condition with no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832"/>
              </a:lnSpc>
              <a:tabLst>
                <a:tab pos="0" algn="l"/>
              </a:tabLst>
            </a:pPr>
            <a:r>
              <a:rPr lang="en-GB" sz="2400" b="0" u="none" strike="noStrike">
                <a:solidFill>
                  <a:srgbClr val="516578"/>
                </a:solidFill>
                <a:effectLst/>
                <a:uFillTx/>
                <a:latin typeface="Noto Sans"/>
                <a:ea typeface="Noto Sans"/>
              </a:rPr>
              <a:t>significance testing; LLM-based evaluation of free-text answers.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References: [1] Lewis et al. RAG (2020). [2] Pipitone &amp; Alami. LegalBench-RAG (2024). [3] Gao et al." descr="s112"/>
          <p:cNvSpPr/>
          <p:nvPr/>
        </p:nvSpPr>
        <p:spPr>
          <a:xfrm>
            <a:off x="648000" y="28498680"/>
            <a:ext cx="201160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ts val="2832"/>
              </a:lnSpc>
              <a:tabLst>
                <a:tab pos="0" algn="l"/>
              </a:tabLst>
            </a:pPr>
            <a:r>
              <a:rPr lang="en-GB" sz="2400" b="1" u="none" strike="noStrike">
                <a:solidFill>
                  <a:srgbClr val="173248"/>
                </a:solidFill>
                <a:effectLst/>
                <a:uFillTx/>
                <a:latin typeface="Noto Sans"/>
                <a:ea typeface="Noto Sans"/>
              </a:rPr>
              <a:t>References:</a:t>
            </a:r>
            <a:r>
              <a:rPr lang="en-GB" sz="2400" b="0" u="none" strike="noStrike">
                <a:solidFill>
                  <a:srgbClr val="173248"/>
                </a:solidFill>
                <a:effectLst/>
                <a:uFillTx/>
                <a:latin typeface="Noto Sans"/>
                <a:ea typeface="Noto Sans"/>
              </a:rPr>
              <a:t> </a:t>
            </a:r>
            <a:r>
              <a:rPr lang="en-GB" sz="2400" b="0" u="sng" strike="noStrike">
                <a:solidFill>
                  <a:srgbClr val="467886"/>
                </a:solidFill>
                <a:effectLst/>
                <a:uFillTx/>
                <a:latin typeface="Noto Sans"/>
                <a:ea typeface="Noto Sans"/>
                <a:hlinkClick r:id="rId21"/>
              </a:rPr>
              <a:t>[1] Lewis et al. RAG (2020).</a:t>
            </a:r>
            <a:r>
              <a:rPr lang="en-GB" sz="2400" b="0" u="none" strike="noStrike">
                <a:solidFill>
                  <a:srgbClr val="173248"/>
                </a:solidFill>
                <a:effectLst/>
                <a:uFillTx/>
                <a:latin typeface="Noto Sans"/>
                <a:ea typeface="Noto Sans"/>
              </a:rPr>
              <a:t> </a:t>
            </a:r>
            <a:r>
              <a:rPr lang="en-GB" sz="2400" b="0" u="sng" strike="noStrike">
                <a:solidFill>
                  <a:srgbClr val="467886"/>
                </a:solidFill>
                <a:effectLst/>
                <a:uFillTx/>
                <a:latin typeface="Noto Sans"/>
                <a:ea typeface="Noto Sans"/>
                <a:hlinkClick r:id="rId22"/>
              </a:rPr>
              <a:t>[2] Pipitone &amp; Alami. LegalBench-RAG (2024).</a:t>
            </a:r>
            <a:r>
              <a:rPr lang="en-GB" sz="2400" b="0" u="none" strike="noStrike">
                <a:solidFill>
                  <a:srgbClr val="173248"/>
                </a:solidFill>
                <a:effectLst/>
                <a:uFillTx/>
                <a:latin typeface="Noto Sans"/>
                <a:ea typeface="Noto Sans"/>
              </a:rPr>
              <a:t> </a:t>
            </a:r>
            <a:r>
              <a:rPr lang="en-GB" sz="2400" b="0" u="sng" strike="noStrike">
                <a:solidFill>
                  <a:srgbClr val="467886"/>
                </a:solidFill>
                <a:effectLst/>
                <a:uFillTx/>
                <a:latin typeface="Noto Sans"/>
                <a:ea typeface="Noto Sans"/>
                <a:hlinkClick r:id="rId23"/>
              </a:rPr>
              <a:t>[3] Gao et al. ALCE (2023).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Code, protocol &amp; results: github.com/SteinVR/Trends-in-NLP-Poster" descr="s113"/>
          <p:cNvSpPr/>
          <p:nvPr/>
        </p:nvSpPr>
        <p:spPr>
          <a:xfrm>
            <a:off x="648000" y="28888920"/>
            <a:ext cx="201160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ts val="2832"/>
              </a:lnSpc>
              <a:tabLst>
                <a:tab pos="0" algn="l"/>
              </a:tabLst>
            </a:pPr>
            <a:r>
              <a:rPr lang="en-GB" sz="2400" b="1" u="none" strike="noStrike">
                <a:solidFill>
                  <a:srgbClr val="173248"/>
                </a:solidFill>
                <a:effectLst/>
                <a:uFillTx/>
                <a:latin typeface="Noto Sans"/>
                <a:ea typeface="Noto Sans"/>
              </a:rPr>
              <a:t>Code, protocol &amp; results:</a:t>
            </a:r>
            <a:r>
              <a:rPr lang="en-GB" sz="2400" b="0" u="none" strike="noStrike">
                <a:solidFill>
                  <a:srgbClr val="173248"/>
                </a:solidFill>
                <a:effectLst/>
                <a:uFillTx/>
                <a:latin typeface="Noto Sans"/>
                <a:ea typeface="Noto Sans"/>
              </a:rPr>
              <a:t> </a:t>
            </a:r>
            <a:r>
              <a:rPr lang="en-GB" sz="2400" b="0" u="none" strike="noStrike">
                <a:solidFill>
                  <a:srgbClr val="467886"/>
                </a:solidFill>
                <a:effectLst/>
                <a:uFillTx/>
                <a:latin typeface="Noto Sans"/>
                <a:ea typeface="Noto Sans"/>
                <a:hlinkClick r:id="rId24"/>
              </a:rPr>
              <a:t>github.com/SteinVR/Trends-in-NLP-Poster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5" name="Universität Trier" descr="s124"/>
          <p:cNvPicPr/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/>
        </p:blipFill>
        <p:spPr>
          <a:xfrm>
            <a:off x="18072000" y="654120"/>
            <a:ext cx="2663640" cy="671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6" name="Q for R0 to R6: 46.2, 63.2, 49.8, 74.6, 84.4, 84.4, 84.4%. Precision: 7.6, 11.2, 14.7, 22.2, 27.1, 27.1, 61.8%. Recall: 38.5, 61.6, 52.9, 72.7, 78.9, 78.9, 74.7%." descr="s125"/>
          <p:cNvPicPr/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/>
        </p:blipFill>
        <p:spPr>
          <a:xfrm>
            <a:off x="648000" y="17967600"/>
            <a:ext cx="20087640" cy="3730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7" name="Answer quality: original corpus R0 65.4%; mixed corpus R0 46.2%; mixed corpus with OCR R1 63.2%." descr="s126"/>
          <p:cNvPicPr/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/>
        </p:blipFill>
        <p:spPr>
          <a:xfrm>
            <a:off x="648000" y="22333320"/>
            <a:ext cx="9899640" cy="2811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 pitchFamily="0" charset="1"/>
        <a:ea typeface="Calibri Light" pitchFamily="0" charset="1"/>
        <a:cs typeface="Calibri Light" pitchFamily="0" charset="1"/>
      </a:majorFont>
      <a:minorFont>
        <a:latin typeface="Calibri" pitchFamily="0" charset="1"/>
        <a:ea typeface="Calibri" pitchFamily="0" charset="1"/>
        <a:cs typeface="Calibri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LibreOffice/26.8.0.3$Linux_X86_64 LibreOffice_project/680$Build-3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2026-09-23T14:54:02Z</dcterms:created>
  <dc:creator>Walnut Exporter</dc:creator>
  <dc:description/>
  <dc:language>en-US</dc:language>
  <cp:lastModifiedBy/>
  <dcterms:modified xsi:type="dcterms:W3CDTF">2026-09-23T20:42:24Z</dcterms:modified>
  <cp:revision>2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Converted Presentation</vt:lpwstr>
  </property>
</Properties>
</file>