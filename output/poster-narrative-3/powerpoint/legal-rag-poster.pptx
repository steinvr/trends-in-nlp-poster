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47547867204808" /><Relationship Type="http://schemas.openxmlformats.org/officeDocument/2006/relationships/extended-properties" Target="/docProps/app.xml" Id="R29e1f1b343a3409a" /><Relationship Type="http://schemas.openxmlformats.org/officeDocument/2006/relationships/officeDocument" Target="/ppt/presentation.xml" Id="Rad6db3efe7e24a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56e33e9d704206"/>
  </p:sldMasterIdLst>
  <p:notesMasterIdLst>
    <p:notesMasterId xmlns:r="http://schemas.openxmlformats.org/officeDocument/2006/relationships" r:id="R0434b72015aa4079"/>
  </p:notesMasterIdLst>
  <p:sldIdLst>
    <p:sldId xmlns:r="http://schemas.openxmlformats.org/officeDocument/2006/relationships" id="256" r:id="Rd27c4a35fac64ee1"/>
  </p:sldIdLst>
  <p:sldSz cx="30276000" cy="21384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62951f380e1433f" /><Relationship Type="http://schemas.openxmlformats.org/officeDocument/2006/relationships/slideMaster" Target="/ppt/slideMasters/slideMaster1.xml" Id="R9056e33e9d704206" /><Relationship Type="http://schemas.openxmlformats.org/officeDocument/2006/relationships/notesMaster" Target="/ppt/notesMasters/notesMaster1.xml" Id="R0434b72015aa4079" /><Relationship Type="http://schemas.openxmlformats.org/officeDocument/2006/relationships/presProps" Target="/ppt/presProps.xml" Id="R74f58488400d42e6" /><Relationship Type="http://schemas.openxmlformats.org/officeDocument/2006/relationships/tableStyles" Target="/ppt/tableStyles.xml" Id="R6e59e747e6284920" /><Relationship Type="http://schemas.openxmlformats.org/officeDocument/2006/relationships/slide" Target="/ppt/slides/slide1.xml" Id="Rd27c4a35fac64e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e97a124748c42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249321c2b643b2" /><Relationship Type="http://schemas.openxmlformats.org/officeDocument/2006/relationships/notesMaster" Target="/ppt/notesMasters/notesMaster1.xml" Id="R7d9ef11ff39549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Faithful editable reconstruction of the approved layout-v4 poster. Source: ../index.html and ../poster.pdf. Text, cards, plot series and data labels are native editable objects; charts use grouped vector elements to preserve the approved layout rather than Excel chart objects. Icons and university logo are vector SVG graphics. Measurements: ../../results/metrics.csv. Scientific text: external/Final layout and text.pdf. Code and reproducibility: https://github.com/SteinVR/Trends-in-NLP-Poster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0119825db6478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d7f350a05e4bc1" /><Relationship Type="http://schemas.openxmlformats.org/officeDocument/2006/relationships/slideLayout" Target="/ppt/slideLayouts/slideLayout1.xml" Id="R25f7eed9637749d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f7eed9637749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1338097a9646ba" /><Relationship Type="http://schemas.openxmlformats.org/officeDocument/2006/relationships/image" Target="/ppt/media/image.png" Id="Rfc804368da8f460b" /><Relationship Type="http://schemas.openxmlformats.org/officeDocument/2006/relationships/image" Target="/ppt/media/image.svg" Id="Rd4f289a3a9b0470b" /><Relationship Type="http://schemas.openxmlformats.org/officeDocument/2006/relationships/image" Target="/ppt/media/image2.png" Id="R1de0a2d8709f473d" /><Relationship Type="http://schemas.openxmlformats.org/officeDocument/2006/relationships/image" Target="/ppt/media/image2.svg" Id="R0236f11125004989" /><Relationship Type="http://schemas.openxmlformats.org/officeDocument/2006/relationships/image" Target="/ppt/media/image3.png" Id="R1dcb0a0ec22249d3" /><Relationship Type="http://schemas.openxmlformats.org/officeDocument/2006/relationships/image" Target="/ppt/media/image3.svg" Id="R0e0562fac043487e" /><Relationship Type="http://schemas.openxmlformats.org/officeDocument/2006/relationships/image" Target="/ppt/media/image4.png" Id="Ra3bf8f748f944627" /><Relationship Type="http://schemas.openxmlformats.org/officeDocument/2006/relationships/image" Target="/ppt/media/image4.svg" Id="R04086f6da4624f9d" /><Relationship Type="http://schemas.openxmlformats.org/officeDocument/2006/relationships/image" Target="/ppt/media/image5.png" Id="R8b0359b7fc9e475a" /><Relationship Type="http://schemas.openxmlformats.org/officeDocument/2006/relationships/image" Target="/ppt/media/image5.svg" Id="Rd8c012d6541b4d67" /><Relationship Type="http://schemas.openxmlformats.org/officeDocument/2006/relationships/image" Target="/ppt/media/image6.png" Id="Rf5f1f5d0a3ca45c7" /><Relationship Type="http://schemas.openxmlformats.org/officeDocument/2006/relationships/image" Target="/ppt/media/image6.svg" Id="R5c8adca68ae34b55" /><Relationship Type="http://schemas.openxmlformats.org/officeDocument/2006/relationships/image" Target="/ppt/media/image7.png" Id="Re084cc728f2341d5" /><Relationship Type="http://schemas.openxmlformats.org/officeDocument/2006/relationships/image" Target="/ppt/media/image7.svg" Id="R36eab8183e3c4004" /><Relationship Type="http://schemas.openxmlformats.org/officeDocument/2006/relationships/image" Target="/ppt/media/image8.png" Id="Reb52887b920e4b13" /><Relationship Type="http://schemas.openxmlformats.org/officeDocument/2006/relationships/image" Target="/ppt/media/image8.svg" Id="R2fdb27ae523d4b6b" /><Relationship Type="http://schemas.openxmlformats.org/officeDocument/2006/relationships/image" Target="/ppt/media/image9.png" Id="Rb4fb08ccdc5d41a6" /><Relationship Type="http://schemas.openxmlformats.org/officeDocument/2006/relationships/image" Target="/ppt/media/image9.svg" Id="R50a5b27f92cc4e7a" /><Relationship Type="http://schemas.openxmlformats.org/officeDocument/2006/relationships/image" Target="/ppt/media/image10.png" Id="Rfbc1cd89e4ce4903" /><Relationship Type="http://schemas.openxmlformats.org/officeDocument/2006/relationships/image" Target="/ppt/media/image10.svg" Id="R314ecc830f024ed7" /><Relationship Type="http://schemas.openxmlformats.org/officeDocument/2006/relationships/image" Target="/ppt/media/image11.png" Id="Rea475a0cb4b64a65" /><Relationship Type="http://schemas.openxmlformats.org/officeDocument/2006/relationships/image" Target="/ppt/media/image11.svg" Id="Rf9eb3c8ec0254adf" /><Relationship Type="http://schemas.openxmlformats.org/officeDocument/2006/relationships/notesSlide" Target="/ppt/notesSlides/notesSlide1.xml" Id="R7960bf70ee4e48df" /></Relationships>
</file>

<file path=ppt/slides/slide1.xml><?xml version="1.0" encoding="utf-8"?>
<p:sld xmlns:a="http://schemas.openxmlformats.org/drawingml/2006/main" xmlns:ns2="http://schemas.microsoft.com/office/drawing/2014/main" xmlns:ns4="http://schemas.microsoft.com/office/drawing/2016/SVG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402" name="Rule" descr="s0">
            <a:extLst>
              <a:ext uri="{FF2B5EF4-FFF2-40B4-BE49-F238E27FC236}">
                <ns2:creationId id="{3CD58625-B7A1-4E02-9F61-FCEBA9D532E7}"/>
              </a:ext>
            </a:extLst>
          </p:cNvPr>
          <p:cNvSpPr>
            <a:spLocks noGrp="1"/>
          </p:cNvSpPr>
          <p:nvPr/>
        </p:nvSpPr>
        <p:spPr>
          <a:xfrm>
            <a:off x="287982" y="1179612"/>
            <a:ext cx="29699992" cy="19050"/>
          </a:xfrm>
          <a:prstGeom prst="rect">
            <a:avLst/>
          </a:prstGeom>
          <a:solidFill>
            <a:srgbClr val="A8CBDC"/>
          </a:solidFill>
          <a:ln w="0">
            <a:noFill/>
          </a:ln>
        </p:spPr>
      </p:sp>
      <p:grpSp>
        <p:nvGrpSpPr>
          <p:cNvPr id="555" name="1. Research Context"/>
          <p:cNvGrpSpPr/>
          <p:nvPr/>
        </p:nvGrpSpPr>
        <p:grpSpPr>
          <a:xfrm>
            <a:off x="287982" y="1370112"/>
            <a:ext cx="8612981" cy="3983831"/>
            <a:chOff x="287982" y="1370112"/>
            <a:chExt cx="8612981" cy="3983831"/>
          </a:xfrm>
        </p:grpSpPr>
        <p:sp>
          <p:nvSpPr>
            <p:cNvPr id="2" name="Panel H2" descr="s1">
              <a:extLst>
                <a:ext uri="{FF2B5EF4-FFF2-40B4-BE49-F238E27FC236}">
                  <ns2:creationId id="{D797143C-24C9-4F09-B7DC-E09DF27B3ADC}"/>
                </a:ext>
              </a:extLst>
            </p:cNvPr>
            <p:cNvSpPr>
              <a:spLocks noGrp="1"/>
            </p:cNvSpPr>
            <p:nvPr/>
          </p:nvSpPr>
          <p:spPr>
            <a:xfrm>
              <a:off x="287982" y="1370112"/>
              <a:ext cx="8612981" cy="517327"/>
            </a:xfrm>
            <a:custGeom>
              <a:avLst/>
              <a:gdLst/>
              <a:ahLst/>
              <a:cxnLst/>
              <a:rect l="0" t="0" r="r" b="b"/>
              <a:pathLst>
                <a:path w="904250" h="54312">
                  <a:moveTo>
                    <a:pt x="6000" y="0"/>
                  </a:moveTo>
                  <a:lnTo>
                    <a:pt x="898250" y="0"/>
                  </a:lnTo>
                  <a:cubicBezTo>
                    <a:pt x="901564" y="0"/>
                    <a:pt x="904250" y="2686"/>
                    <a:pt x="904250" y="6000"/>
                  </a:cubicBezTo>
                  <a:lnTo>
                    <a:pt x="904250" y="54312"/>
                  </a:lnTo>
                  <a:cubicBezTo>
                    <a:pt x="904250" y="54312"/>
                    <a:pt x="904250" y="54312"/>
                    <a:pt x="904250" y="54312"/>
                  </a:cubicBezTo>
                  <a:lnTo>
                    <a:pt x="0" y="54312"/>
                  </a:lnTo>
                  <a:cubicBezTo>
                    <a:pt x="0" y="54312"/>
                    <a:pt x="0" y="54312"/>
                    <a:pt x="0" y="54312"/>
                  </a:cubicBezTo>
                  <a:lnTo>
                    <a:pt x="0" y="6000"/>
                  </a:lnTo>
                  <a:cubicBezTo>
                    <a:pt x="0" y="2686"/>
                    <a:pt x="2686" y="0"/>
                    <a:pt x="6000" y="0"/>
                  </a:cubicBezTo>
                  <a:close/>
                </a:path>
              </a:pathLst>
            </a:custGeom>
            <a:gradFill>
              <a:gsLst>
                <a:gs pos="0">
                  <a:srgbClr val="056097"/>
                </a:gs>
                <a:gs pos="100000">
                  <a:srgbClr val="0071AE"/>
                </a:gs>
              </a:gsLst>
              <a:lin ang="0"/>
            </a:gradFill>
            <a:ln w="0">
              <a:noFill/>
            </a:ln>
          </p:spPr>
        </p:sp>
        <p:sp>
          <p:nvSpPr>
            <p:cNvPr id="3" name="Panel content" descr="s2">
              <a:extLst>
                <a:ext uri="{FF2B5EF4-FFF2-40B4-BE49-F238E27FC236}">
                  <ns2:creationId id="{47374FEE-FD7E-4928-A34F-618F4966EF79}"/>
                </a:ext>
              </a:extLst>
            </p:cNvPr>
            <p:cNvSpPr>
              <a:spLocks noGrp="1"/>
            </p:cNvSpPr>
            <p:nvPr/>
          </p:nvSpPr>
          <p:spPr>
            <a:xfrm>
              <a:off x="287982" y="1887438"/>
              <a:ext cx="8612981" cy="3466505"/>
            </a:xfrm>
            <a:custGeom>
              <a:avLst/>
              <a:gdLst/>
              <a:ahLst/>
              <a:cxnLst/>
              <a:rect l="0" t="0" r="r" b="b"/>
              <a:pathLst>
                <a:path w="904250" h="363938">
                  <a:moveTo>
                    <a:pt x="0" y="0"/>
                  </a:moveTo>
                  <a:lnTo>
                    <a:pt x="904250" y="0"/>
                  </a:lnTo>
                  <a:cubicBezTo>
                    <a:pt x="904250" y="0"/>
                    <a:pt x="904250" y="0"/>
                    <a:pt x="904250" y="0"/>
                  </a:cubicBezTo>
                  <a:lnTo>
                    <a:pt x="904250" y="354938"/>
                  </a:lnTo>
                  <a:cubicBezTo>
                    <a:pt x="904250" y="359908"/>
                    <a:pt x="900221" y="363938"/>
                    <a:pt x="895250" y="363938"/>
                  </a:cubicBezTo>
                  <a:lnTo>
                    <a:pt x="9000" y="363938"/>
                  </a:lnTo>
                  <a:cubicBezTo>
                    <a:pt x="4029" y="363938"/>
                    <a:pt x="0" y="359908"/>
                    <a:pt x="0" y="354938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2F8FC"/>
            </a:solidFill>
            <a:ln w="9525">
              <a:solidFill>
                <a:srgbClr val="D9E9F1"/>
              </a:solidFill>
            </a:ln>
          </p:spPr>
        </p:sp>
        <p:sp>
          <p:nvSpPr>
            <p:cNvPr id="135" name="1. Research Context" descr="t1">
              <a:extLst>
                <a:ext uri="{FF2B5EF4-FFF2-40B4-BE49-F238E27FC236}">
                  <ns2:creationId id="{D36E13B3-63FE-4730-89A8-CAF48A21FB96}"/>
                </a:ext>
              </a:extLst>
            </p:cNvPr>
            <p:cNvSpPr>
              <a:spLocks noGrp="1"/>
            </p:cNvSpPr>
            <p:nvPr/>
          </p:nvSpPr>
          <p:spPr>
            <a:xfrm>
              <a:off x="421825" y="1415809"/>
              <a:ext cx="2675470" cy="46478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800" b="1" i="0" spc="0" kern="0" dirty="0">
                  <a:solidFill>
                    <a:srgbClr val="ffffff"/>
                  </a:solidFill>
                  <a:latin typeface="Barlow Condensed"/>
                  <a:ea typeface="Barlow Condensed"/>
                  <a:cs typeface="Barlow Condensed"/>
                </a:rPr>
                <a:t>1. Research Context</a:t>
              </a:r>
              <a:endParaRPr lang="en-GB" sz="2800"/>
            </a:p>
          </p:txBody>
        </p:sp>
        <p:sp>
          <p:nvSpPr>
            <p:cNvPr id="136" name="RAG grounds language-model answers in external documents, but legal QA" descr="t2">
              <a:extLst>
                <a:ext uri="{FF2B5EF4-FFF2-40B4-BE49-F238E27FC236}">
                  <ns2:creationId id="{A79C98C1-0B14-4C3D-B352-6E4AF0A1B542}"/>
                </a:ext>
              </a:extLst>
            </p:cNvPr>
            <p:cNvSpPr>
              <a:spLocks noGrp="1"/>
            </p:cNvSpPr>
            <p:nvPr/>
          </p:nvSpPr>
          <p:spPr>
            <a:xfrm>
              <a:off x="449815" y="1990883"/>
              <a:ext cx="7702160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RAG grounds language-model answers in external documents, but legal QA</a:t>
              </a:r>
              <a:endParaRPr lang="en-GB" sz="2400"/>
            </a:p>
          </p:txBody>
        </p:sp>
        <p:sp>
          <p:nvSpPr>
            <p:cNvPr id="137" name="requires a pipeline to satisfy two goals at once: retrieve enough rele" descr="t3">
              <a:extLst>
                <a:ext uri="{FF2B5EF4-FFF2-40B4-BE49-F238E27FC236}">
                  <ns2:creationId id="{475B88B3-DAB4-4872-A3B3-610D1C9D7A14}"/>
                </a:ext>
              </a:extLst>
            </p:cNvPr>
            <p:cNvSpPr>
              <a:spLocks noGrp="1"/>
            </p:cNvSpPr>
            <p:nvPr/>
          </p:nvSpPr>
          <p:spPr>
            <a:xfrm>
              <a:off x="450171" y="2314949"/>
              <a:ext cx="7540616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requires a pipeline to satisfy two goals at once: retrieve enough relevant</a:t>
              </a:r>
              <a:endParaRPr lang="en-GB" sz="2400"/>
            </a:p>
          </p:txBody>
        </p:sp>
        <p:sp>
          <p:nvSpPr>
            <p:cNvPr id="138" name="evidence to produce a correct answer, while keeping source-page citati" descr="t4">
              <a:extLst>
                <a:ext uri="{FF2B5EF4-FFF2-40B4-BE49-F238E27FC236}">
                  <ns2:creationId id="{13D90B0A-742F-485C-8624-A1C70423BA3E}"/>
                </a:ext>
              </a:extLst>
            </p:cNvPr>
            <p:cNvSpPr>
              <a:spLocks noGrp="1"/>
            </p:cNvSpPr>
            <p:nvPr/>
          </p:nvSpPr>
          <p:spPr>
            <a:xfrm>
              <a:off x="450171" y="2628957"/>
              <a:ext cx="7843588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evidence to produce a correct answer, while keeping source-page citations</a:t>
              </a:r>
              <a:endParaRPr lang="en-GB" sz="2400"/>
            </a:p>
          </p:txBody>
        </p:sp>
        <p:sp>
          <p:nvSpPr>
            <p:cNvPr id="139" name="precise and complete. This is challenging because legal PDFs may lack" descr="t5">
              <a:extLst>
                <a:ext uri="{FF2B5EF4-FFF2-40B4-BE49-F238E27FC236}">
                  <ns2:creationId id="{B3D4C420-2FBD-4644-85B9-68E45C40AE09}"/>
                </a:ext>
              </a:extLst>
            </p:cNvPr>
            <p:cNvSpPr>
              <a:spLocks noGrp="1"/>
            </p:cNvSpPr>
            <p:nvPr/>
          </p:nvSpPr>
          <p:spPr>
            <a:xfrm>
              <a:off x="449815" y="2953010"/>
              <a:ext cx="7353773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precise and complete. This is challenging because legal PDFs may lack</a:t>
              </a:r>
              <a:endParaRPr lang="en-GB" sz="2400"/>
            </a:p>
          </p:txBody>
        </p:sp>
        <p:sp>
          <p:nvSpPr>
            <p:cNvPr id="140" name="machine-readable text, evidence can appear at different textual scales" descr="t6">
              <a:extLst>
                <a:ext uri="{FF2B5EF4-FFF2-40B4-BE49-F238E27FC236}">
                  <ns2:creationId id="{D90A8C14-61EB-47E7-AD93-736476154772}"/>
                </a:ext>
              </a:extLst>
            </p:cNvPr>
            <p:cNvSpPr>
              <a:spLocks noGrp="1"/>
            </p:cNvSpPr>
            <p:nvPr/>
          </p:nvSpPr>
          <p:spPr>
            <a:xfrm>
              <a:off x="450171" y="3276707"/>
              <a:ext cx="7899671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machine-readable text, evidence can appear at different textual scales, and</a:t>
              </a:r>
              <a:endParaRPr lang="en-GB" sz="2400"/>
            </a:p>
          </p:txBody>
        </p:sp>
        <p:sp>
          <p:nvSpPr>
            <p:cNvPr id="141" name="questions may depend on either exact legal references or semantic simi" descr="t7">
              <a:extLst>
                <a:ext uri="{FF2B5EF4-FFF2-40B4-BE49-F238E27FC236}">
                  <ns2:creationId id="{2C760A73-5556-49CE-AEB0-B84187E73893}"/>
                </a:ext>
              </a:extLst>
            </p:cNvPr>
            <p:cNvSpPr>
              <a:spLocks noGrp="1"/>
            </p:cNvSpPr>
            <p:nvPr/>
          </p:nvSpPr>
          <p:spPr>
            <a:xfrm>
              <a:off x="449815" y="3591083"/>
              <a:ext cx="8112422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questions may depend on either exact legal references or semantic similarity.</a:t>
              </a:r>
              <a:endParaRPr lang="en-GB" sz="2400"/>
            </a:p>
          </p:txBody>
        </p:sp>
        <p:sp>
          <p:nvSpPr>
            <p:cNvPr id="142" name="Moreover, retrieving more evidence can improve coverage while also" descr="t8">
              <a:extLst>
                <a:ext uri="{FF2B5EF4-FFF2-40B4-BE49-F238E27FC236}">
                  <ns2:creationId id="{1A9F97A3-D936-4CE8-B0AC-2F5F6F008C9F}"/>
                </a:ext>
              </a:extLst>
            </p:cNvPr>
            <p:cNvSpPr>
              <a:spLocks noGrp="1"/>
            </p:cNvSpPr>
            <p:nvPr/>
          </p:nvSpPr>
          <p:spPr>
            <a:xfrm>
              <a:off x="449815" y="3915149"/>
              <a:ext cx="7136147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Moreover, retrieving more evidence can improve coverage while also</a:t>
              </a:r>
              <a:endParaRPr lang="en-GB" sz="2400"/>
            </a:p>
          </p:txBody>
        </p:sp>
        <p:sp>
          <p:nvSpPr>
            <p:cNvPr id="143" name="introducing irrelevant source pages. We therefore examine how design c" descr="t9">
              <a:extLst>
                <a:ext uri="{FF2B5EF4-FFF2-40B4-BE49-F238E27FC236}">
                  <ns2:creationId id="{1BA39B0C-7186-4D0F-9A38-62D6A95C0E0C}"/>
                </a:ext>
              </a:extLst>
            </p:cNvPr>
            <p:cNvSpPr>
              <a:spLocks noGrp="1"/>
            </p:cNvSpPr>
            <p:nvPr/>
          </p:nvSpPr>
          <p:spPr>
            <a:xfrm>
              <a:off x="449815" y="4229157"/>
              <a:ext cx="8222759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introducing irrelevant source pages. We therefore examine how design choices</a:t>
              </a:r>
              <a:endParaRPr lang="en-GB" sz="2400"/>
            </a:p>
          </p:txBody>
        </p:sp>
        <p:sp>
          <p:nvSpPr>
            <p:cNvPr id="144" name="in document processing, retrieval, and attribution can improve answer " descr="t10">
              <a:extLst>
                <a:ext uri="{FF2B5EF4-FFF2-40B4-BE49-F238E27FC236}">
                  <ns2:creationId id="{4B3B4F97-D2D5-4128-943A-A64B4059710D}"/>
                </a:ext>
              </a:extLst>
            </p:cNvPr>
            <p:cNvSpPr>
              <a:spLocks noGrp="1"/>
            </p:cNvSpPr>
            <p:nvPr/>
          </p:nvSpPr>
          <p:spPr>
            <a:xfrm>
              <a:off x="450171" y="4553210"/>
              <a:ext cx="8080722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in document processing, retrieval, and attribution can improve answer quality</a:t>
              </a:r>
              <a:endParaRPr lang="en-GB" sz="2400"/>
            </a:p>
          </p:txBody>
        </p:sp>
        <p:sp>
          <p:nvSpPr>
            <p:cNvPr id="145" name="without sacrificing citation quality." descr="t11">
              <a:extLst>
                <a:ext uri="{FF2B5EF4-FFF2-40B4-BE49-F238E27FC236}">
                  <ns2:creationId id="{B468B388-04A8-4AB1-B6C9-5FF15A78F58C}"/>
                </a:ext>
              </a:extLst>
            </p:cNvPr>
            <p:cNvSpPr>
              <a:spLocks noGrp="1"/>
            </p:cNvSpPr>
            <p:nvPr/>
          </p:nvSpPr>
          <p:spPr>
            <a:xfrm>
              <a:off x="450171" y="4876907"/>
              <a:ext cx="3669953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without sacrificing citation quality.</a:t>
              </a:r>
              <a:endParaRPr lang="en-GB" sz="2400"/>
            </a:p>
          </p:txBody>
        </p:sp>
      </p:grpSp>
      <p:grpSp>
        <p:nvGrpSpPr>
          <p:cNvPr id="554" name="2. Prior Work &amp; Study Focus"/>
          <p:cNvGrpSpPr/>
          <p:nvPr/>
        </p:nvGrpSpPr>
        <p:grpSpPr>
          <a:xfrm>
            <a:off x="287982" y="5602784"/>
            <a:ext cx="8612981" cy="5454253"/>
            <a:chOff x="287982" y="5602784"/>
            <a:chExt cx="8612981" cy="5454253"/>
          </a:xfrm>
        </p:grpSpPr>
        <p:sp>
          <p:nvSpPr>
            <p:cNvPr id="4" name="Panel H2" descr="s3">
              <a:extLst>
                <a:ext uri="{FF2B5EF4-FFF2-40B4-BE49-F238E27FC236}">
                  <ns2:creationId id="{3010196C-CDEC-46AB-882E-16F0A698804D}"/>
                </a:ext>
              </a:extLst>
            </p:cNvPr>
            <p:cNvSpPr>
              <a:spLocks noGrp="1"/>
            </p:cNvSpPr>
            <p:nvPr/>
          </p:nvSpPr>
          <p:spPr>
            <a:xfrm>
              <a:off x="287982" y="5602784"/>
              <a:ext cx="8612981" cy="517327"/>
            </a:xfrm>
            <a:custGeom>
              <a:avLst/>
              <a:gdLst/>
              <a:ahLst/>
              <a:cxnLst/>
              <a:rect l="0" t="0" r="r" b="b"/>
              <a:pathLst>
                <a:path w="904250" h="54312">
                  <a:moveTo>
                    <a:pt x="6000" y="0"/>
                  </a:moveTo>
                  <a:lnTo>
                    <a:pt x="898250" y="0"/>
                  </a:lnTo>
                  <a:cubicBezTo>
                    <a:pt x="901564" y="0"/>
                    <a:pt x="904250" y="2686"/>
                    <a:pt x="904250" y="6000"/>
                  </a:cubicBezTo>
                  <a:lnTo>
                    <a:pt x="904250" y="54312"/>
                  </a:lnTo>
                  <a:cubicBezTo>
                    <a:pt x="904250" y="54312"/>
                    <a:pt x="904250" y="54312"/>
                    <a:pt x="904250" y="54312"/>
                  </a:cubicBezTo>
                  <a:lnTo>
                    <a:pt x="0" y="54312"/>
                  </a:lnTo>
                  <a:cubicBezTo>
                    <a:pt x="0" y="54312"/>
                    <a:pt x="0" y="54312"/>
                    <a:pt x="0" y="54312"/>
                  </a:cubicBezTo>
                  <a:lnTo>
                    <a:pt x="0" y="6000"/>
                  </a:lnTo>
                  <a:cubicBezTo>
                    <a:pt x="0" y="2686"/>
                    <a:pt x="2686" y="0"/>
                    <a:pt x="6000" y="0"/>
                  </a:cubicBezTo>
                  <a:close/>
                </a:path>
              </a:pathLst>
            </a:custGeom>
            <a:gradFill>
              <a:gsLst>
                <a:gs pos="0">
                  <a:srgbClr val="056097"/>
                </a:gs>
                <a:gs pos="100000">
                  <a:srgbClr val="0071AE"/>
                </a:gs>
              </a:gsLst>
              <a:lin ang="0"/>
            </a:gradFill>
            <a:ln w="0">
              <a:noFill/>
            </a:ln>
          </p:spPr>
        </p:sp>
        <p:sp>
          <p:nvSpPr>
            <p:cNvPr id="5" name="Panel content" descr="s4">
              <a:extLst>
                <a:ext uri="{FF2B5EF4-FFF2-40B4-BE49-F238E27FC236}">
                  <ns2:creationId id="{C89BBFB8-4A91-416B-86F7-20F835D0FC73}"/>
                </a:ext>
              </a:extLst>
            </p:cNvPr>
            <p:cNvSpPr>
              <a:spLocks noGrp="1"/>
            </p:cNvSpPr>
            <p:nvPr/>
          </p:nvSpPr>
          <p:spPr>
            <a:xfrm>
              <a:off x="287982" y="6120110"/>
              <a:ext cx="8612981" cy="4936927"/>
            </a:xfrm>
            <a:custGeom>
              <a:avLst/>
              <a:gdLst/>
              <a:ahLst/>
              <a:cxnLst/>
              <a:rect l="0" t="0" r="r" b="b"/>
              <a:pathLst>
                <a:path w="904250" h="518312">
                  <a:moveTo>
                    <a:pt x="0" y="0"/>
                  </a:moveTo>
                  <a:lnTo>
                    <a:pt x="904250" y="0"/>
                  </a:lnTo>
                  <a:cubicBezTo>
                    <a:pt x="904250" y="0"/>
                    <a:pt x="904250" y="0"/>
                    <a:pt x="904250" y="0"/>
                  </a:cubicBezTo>
                  <a:lnTo>
                    <a:pt x="904250" y="509312"/>
                  </a:lnTo>
                  <a:cubicBezTo>
                    <a:pt x="904250" y="514283"/>
                    <a:pt x="900221" y="518312"/>
                    <a:pt x="895250" y="518312"/>
                  </a:cubicBezTo>
                  <a:lnTo>
                    <a:pt x="9000" y="518312"/>
                  </a:lnTo>
                  <a:cubicBezTo>
                    <a:pt x="4029" y="518312"/>
                    <a:pt x="0" y="514283"/>
                    <a:pt x="0" y="509312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2F8FC"/>
            </a:solidFill>
            <a:ln w="9525">
              <a:solidFill>
                <a:srgbClr val="D9E9F1"/>
              </a:solidFill>
            </a:ln>
          </p:spPr>
        </p:sp>
        <p:sp>
          <p:nvSpPr>
            <p:cNvPr id="146" name="2. Prior Work &amp; Study Focus" descr="t12">
              <a:extLst>
                <a:ext uri="{FF2B5EF4-FFF2-40B4-BE49-F238E27FC236}">
                  <ns2:creationId id="{7C4B9782-6FD1-4590-88A5-985E5C037848}"/>
                </a:ext>
              </a:extLst>
            </p:cNvPr>
            <p:cNvSpPr>
              <a:spLocks noGrp="1"/>
            </p:cNvSpPr>
            <p:nvPr/>
          </p:nvSpPr>
          <p:spPr>
            <a:xfrm>
              <a:off x="421825" y="5645086"/>
              <a:ext cx="3739702" cy="46478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800" b="1" i="0" spc="0" kern="0" dirty="0">
                  <a:solidFill>
                    <a:srgbClr val="ffffff"/>
                  </a:solidFill>
                  <a:latin typeface="Barlow Condensed"/>
                  <a:ea typeface="Barlow Condensed"/>
                  <a:cs typeface="Barlow Condensed"/>
                </a:rPr>
                <a:t>2. Prior Work &amp; Study Focus</a:t>
              </a:r>
              <a:endParaRPr lang="en-GB" sz="2800"/>
            </a:p>
          </p:txBody>
        </p:sp>
        <p:sp>
          <p:nvSpPr>
            <p:cNvPr id="147" name="Retrieval-augmented generation (RAG) conditions language-model answers" descr="t13">
              <a:extLst>
                <a:ext uri="{FF2B5EF4-FFF2-40B4-BE49-F238E27FC236}">
                  <ns2:creationId id="{F8265EF2-701D-4457-9E32-854AC82D7E21}"/>
                </a:ext>
              </a:extLst>
            </p:cNvPr>
            <p:cNvSpPr>
              <a:spLocks noGrp="1"/>
            </p:cNvSpPr>
            <p:nvPr/>
          </p:nvSpPr>
          <p:spPr>
            <a:xfrm>
              <a:off x="450171" y="6229496"/>
              <a:ext cx="8114250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Retrieval-augmented generation (RAG) conditions language-model answers on</a:t>
              </a:r>
              <a:endParaRPr lang="en-GB" sz="2400"/>
            </a:p>
          </p:txBody>
        </p:sp>
        <p:sp>
          <p:nvSpPr>
            <p:cNvPr id="148" name="retrieved documents [1]. Legal retrieval must balance precision and co" descr="t14">
              <a:extLst>
                <a:ext uri="{FF2B5EF4-FFF2-40B4-BE49-F238E27FC236}">
                  <ns2:creationId id="{5F8FAB5B-668E-4FC8-BEB8-60137767DEFB}"/>
                </a:ext>
              </a:extLst>
            </p:cNvPr>
            <p:cNvSpPr>
              <a:spLocks noGrp="1"/>
            </p:cNvSpPr>
            <p:nvPr/>
          </p:nvSpPr>
          <p:spPr>
            <a:xfrm>
              <a:off x="450171" y="6543858"/>
              <a:ext cx="8115775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retrieved documents [1]. Legal retrieval must balance precision and coverage:</a:t>
              </a:r>
              <a:endParaRPr lang="en-GB" sz="2400"/>
            </a:p>
          </p:txBody>
        </p:sp>
        <p:sp>
          <p:nvSpPr>
            <p:cNvPr id="149" name="LegalBench-RAG targets minimal relevant passages [2], while regulatory" descr="t15">
              <a:extLst>
                <a:ext uri="{FF2B5EF4-FFF2-40B4-BE49-F238E27FC236}">
                  <ns2:creationId id="{1A5046C2-30A0-4A6F-AF78-EF6E0F73C6EB}"/>
                </a:ext>
              </a:extLst>
            </p:cNvPr>
            <p:cNvSpPr>
              <a:spLocks noGrp="1"/>
            </p:cNvSpPr>
            <p:nvPr/>
          </p:nvSpPr>
          <p:spPr>
            <a:xfrm>
              <a:off x="450171" y="6867925"/>
              <a:ext cx="7829872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LegalBench-RAG targets minimal relevant passages [2], while regulatory QA</a:t>
              </a:r>
              <a:endParaRPr lang="en-GB" sz="2400"/>
            </a:p>
          </p:txBody>
        </p:sp>
        <p:sp>
          <p:nvSpPr>
            <p:cNvPr id="150" name="studies show that retrieving all supporting evidence becomes harder wh" descr="t16">
              <a:extLst>
                <a:ext uri="{FF2B5EF4-FFF2-40B4-BE49-F238E27FC236}">
                  <ns2:creationId id="{AE8558BC-5F00-475F-A989-DAED87F30A3F}"/>
                </a:ext>
              </a:extLst>
            </p:cNvPr>
            <p:cNvSpPr>
              <a:spLocks noGrp="1"/>
            </p:cNvSpPr>
            <p:nvPr/>
          </p:nvSpPr>
          <p:spPr>
            <a:xfrm>
              <a:off x="450171" y="7181932"/>
              <a:ext cx="7977699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studies show that retrieving all supporting evidence becomes harder when it</a:t>
              </a:r>
              <a:endParaRPr lang="en-GB" sz="2400"/>
            </a:p>
          </p:txBody>
        </p:sp>
        <p:sp>
          <p:nvSpPr>
            <p:cNvPr id="151" name="spans multiple passages [3]. In an end-to-end legal benchmark, retriev" descr="t17">
              <a:extLst>
                <a:ext uri="{FF2B5EF4-FFF2-40B4-BE49-F238E27FC236}">
                  <ns2:creationId id="{F50674DA-3E77-43CB-93EE-DB3646921B30}"/>
                </a:ext>
              </a:extLst>
            </p:cNvPr>
            <p:cNvSpPr>
              <a:spLocks noGrp="1"/>
            </p:cNvSpPr>
            <p:nvPr/>
          </p:nvSpPr>
          <p:spPr>
            <a:xfrm>
              <a:off x="449815" y="7505998"/>
              <a:ext cx="8300482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spans multiple passages [3]. In an end-to-end legal benchmark, retrieval-model</a:t>
              </a:r>
              <a:endParaRPr lang="en-GB" sz="2400"/>
            </a:p>
          </p:txBody>
        </p:sp>
        <p:sp>
          <p:nvSpPr>
            <p:cNvPr id="152" name="choice had a larger effect on answer correctness than generator choice" descr="t18">
              <a:extLst>
                <a:ext uri="{FF2B5EF4-FFF2-40B4-BE49-F238E27FC236}">
                  <ns2:creationId id="{6E64719F-B2C6-4E11-84A7-D8035F8084EE}"/>
                </a:ext>
              </a:extLst>
            </p:cNvPr>
            <p:cNvSpPr>
              <a:spLocks noGrp="1"/>
            </p:cNvSpPr>
            <p:nvPr/>
          </p:nvSpPr>
          <p:spPr>
            <a:xfrm>
              <a:off x="449815" y="7829696"/>
              <a:ext cx="7917350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choice had a larger effect on answer correctness than generator choice [4].</a:t>
              </a:r>
              <a:endParaRPr lang="en-GB" sz="2400"/>
            </a:p>
          </p:txBody>
        </p:sp>
        <p:sp>
          <p:nvSpPr>
            <p:cNvPr id="153" name="Evaluation also extends beyond correctness. Legal QA research examines" descr="t19">
              <a:extLst>
                <a:ext uri="{FF2B5EF4-FFF2-40B4-BE49-F238E27FC236}">
                  <ns2:creationId id="{7CA405F9-3E3F-43B0-A155-F64BD952996A}"/>
                </a:ext>
              </a:extLst>
            </p:cNvPr>
            <p:cNvSpPr>
              <a:spLocks noGrp="1"/>
            </p:cNvSpPr>
            <p:nvPr/>
          </p:nvSpPr>
          <p:spPr>
            <a:xfrm>
              <a:off x="450171" y="8239524"/>
              <a:ext cx="7609501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Evaluation also extends beyond correctness. Legal QA research examines</a:t>
              </a:r>
              <a:endParaRPr lang="en-GB" sz="2400"/>
            </a:p>
          </p:txBody>
        </p:sp>
        <p:sp>
          <p:nvSpPr>
            <p:cNvPr id="154" name="whether answers are supported by the supplied context [5], while ALCE" descr="t20">
              <a:extLst>
                <a:ext uri="{FF2B5EF4-FFF2-40B4-BE49-F238E27FC236}">
                  <ns2:creationId id="{F714D6CD-B084-4824-89FE-D48619D4B4C3}"/>
                </a:ext>
              </a:extLst>
            </p:cNvPr>
            <p:cNvSpPr>
              <a:spLocks noGrp="1"/>
            </p:cNvSpPr>
            <p:nvPr/>
          </p:nvSpPr>
          <p:spPr>
            <a:xfrm>
              <a:off x="450171" y="8563222"/>
              <a:ext cx="7409551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whether answers are supported by the supplied context [5], while ALCE</a:t>
              </a:r>
              <a:endParaRPr lang="en-GB" sz="2400"/>
            </a:p>
          </p:txBody>
        </p:sp>
        <p:sp>
          <p:nvSpPr>
            <p:cNvPr id="155" name="evaluates answer correctness and citation quality separately [6]. Toge" descr="t21">
              <a:extLst>
                <a:ext uri="{FF2B5EF4-FFF2-40B4-BE49-F238E27FC236}">
                  <ns2:creationId id="{7C937447-027F-4955-A3CA-313259ADE22C}"/>
                </a:ext>
              </a:extLst>
            </p:cNvPr>
            <p:cNvSpPr>
              <a:spLocks noGrp="1"/>
            </p:cNvSpPr>
            <p:nvPr/>
          </p:nvSpPr>
          <p:spPr>
            <a:xfrm>
              <a:off x="450171" y="8877598"/>
              <a:ext cx="7798173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evaluates answer correctness and citation quality separately [6]. Together,</a:t>
              </a:r>
              <a:endParaRPr lang="en-GB" sz="2400"/>
            </a:p>
          </p:txBody>
        </p:sp>
        <p:sp>
          <p:nvSpPr>
            <p:cNvPr id="156" name="these studies motivate evaluating both the evidence available to the g" descr="t22">
              <a:extLst>
                <a:ext uri="{FF2B5EF4-FFF2-40B4-BE49-F238E27FC236}">
                  <ns2:creationId id="{9FBBD06E-2E60-48DB-9A7A-11FF85C9BFDE}"/>
                </a:ext>
              </a:extLst>
            </p:cNvPr>
            <p:cNvSpPr>
              <a:spLocks noGrp="1"/>
            </p:cNvSpPr>
            <p:nvPr/>
          </p:nvSpPr>
          <p:spPr>
            <a:xfrm>
              <a:off x="450171" y="9201296"/>
              <a:ext cx="8182831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these studies motivate evaluating both the evidence available to the generator</a:t>
              </a:r>
              <a:endParaRPr lang="en-GB" sz="2400"/>
            </a:p>
          </p:txBody>
        </p:sp>
        <p:sp>
          <p:nvSpPr>
            <p:cNvPr id="157" name="and the sources ultimately cited." descr="t23">
              <a:extLst>
                <a:ext uri="{FF2B5EF4-FFF2-40B4-BE49-F238E27FC236}">
                  <ns2:creationId id="{EA0530D2-0516-4359-AC7E-A1C14B4CEC18}"/>
                </a:ext>
              </a:extLst>
            </p:cNvPr>
            <p:cNvSpPr>
              <a:spLocks noGrp="1"/>
            </p:cNvSpPr>
            <p:nvPr/>
          </p:nvSpPr>
          <p:spPr>
            <a:xfrm>
              <a:off x="450171" y="9515659"/>
              <a:ext cx="3440742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and the sources ultimately cited.</a:t>
              </a:r>
              <a:endParaRPr lang="en-GB" sz="2400"/>
            </a:p>
          </p:txBody>
        </p:sp>
        <p:sp>
          <p:nvSpPr>
            <p:cNvPr id="158" name="Our study complements these approaches by holding the generator fixed " descr="t24">
              <a:extLst>
                <a:ext uri="{FF2B5EF4-FFF2-40B4-BE49-F238E27FC236}">
                  <ns2:creationId id="{069E449C-6E60-4F04-B3B1-365B5EAA027E}"/>
                </a:ext>
              </a:extLst>
            </p:cNvPr>
            <p:cNvSpPr>
              <a:spLocks noGrp="1"/>
            </p:cNvSpPr>
            <p:nvPr/>
          </p:nvSpPr>
          <p:spPr>
            <a:xfrm>
              <a:off x="450171" y="9934822"/>
              <a:ext cx="8024333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Our study complements these approaches by holding the generator fixed and</a:t>
              </a:r>
              <a:endParaRPr lang="en-GB" sz="2400"/>
            </a:p>
          </p:txBody>
        </p:sp>
        <p:sp>
          <p:nvSpPr>
            <p:cNvPr id="159" name="examining a broader sequence of pipeline choices, from document proces" descr="t25">
              <a:extLst>
                <a:ext uri="{FF2B5EF4-FFF2-40B4-BE49-F238E27FC236}">
                  <ns2:creationId id="{5E842A89-A4A9-4485-9B46-522EDAAFFAA4}"/>
                </a:ext>
              </a:extLst>
            </p:cNvPr>
            <p:cNvSpPr>
              <a:spLocks noGrp="1"/>
            </p:cNvSpPr>
            <p:nvPr/>
          </p:nvSpPr>
          <p:spPr>
            <a:xfrm>
              <a:off x="450171" y="10258520"/>
              <a:ext cx="8165456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examining a broader sequence of pipeline choices, from document processing</a:t>
              </a:r>
              <a:endParaRPr lang="en-GB" sz="2400"/>
            </a:p>
          </p:txBody>
        </p:sp>
        <p:sp>
          <p:nvSpPr>
            <p:cNvPr id="160" name="to final page selection." descr="t26">
              <a:extLst>
                <a:ext uri="{FF2B5EF4-FFF2-40B4-BE49-F238E27FC236}">
                  <ns2:creationId id="{AC34A827-E283-4C8A-839C-8EA14D0E568B}"/>
                </a:ext>
              </a:extLst>
            </p:cNvPr>
            <p:cNvSpPr>
              <a:spLocks noGrp="1"/>
            </p:cNvSpPr>
            <p:nvPr/>
          </p:nvSpPr>
          <p:spPr>
            <a:xfrm>
              <a:off x="449815" y="10572896"/>
              <a:ext cx="2405030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to final page selection.</a:t>
              </a:r>
              <a:endParaRPr lang="en-GB" sz="2400"/>
            </a:p>
          </p:txBody>
        </p:sp>
      </p:grpSp>
      <p:grpSp>
        <p:nvGrpSpPr>
          <p:cNvPr id="553" name="3. Research question"/>
          <p:cNvGrpSpPr/>
          <p:nvPr/>
        </p:nvGrpSpPr>
        <p:grpSpPr>
          <a:xfrm>
            <a:off x="287982" y="11305877"/>
            <a:ext cx="8612981" cy="1888629"/>
            <a:chOff x="287982" y="11305877"/>
            <a:chExt cx="8612981" cy="1888629"/>
          </a:xfrm>
        </p:grpSpPr>
        <p:sp>
          <p:nvSpPr>
            <p:cNvPr id="6" name="Panel H2" descr="s5">
              <a:extLst>
                <a:ext uri="{FF2B5EF4-FFF2-40B4-BE49-F238E27FC236}">
                  <ns2:creationId id="{D2B81020-E685-4363-A0C1-826758BDA6C9}"/>
                </a:ext>
              </a:extLst>
            </p:cNvPr>
            <p:cNvSpPr>
              <a:spLocks noGrp="1"/>
            </p:cNvSpPr>
            <p:nvPr/>
          </p:nvSpPr>
          <p:spPr>
            <a:xfrm>
              <a:off x="287982" y="11305877"/>
              <a:ext cx="8612981" cy="517327"/>
            </a:xfrm>
            <a:custGeom>
              <a:avLst/>
              <a:gdLst/>
              <a:ahLst/>
              <a:cxnLst/>
              <a:rect l="0" t="0" r="r" b="b"/>
              <a:pathLst>
                <a:path w="904250" h="54312">
                  <a:moveTo>
                    <a:pt x="6000" y="0"/>
                  </a:moveTo>
                  <a:lnTo>
                    <a:pt x="898250" y="0"/>
                  </a:lnTo>
                  <a:cubicBezTo>
                    <a:pt x="901564" y="0"/>
                    <a:pt x="904250" y="2686"/>
                    <a:pt x="904250" y="6000"/>
                  </a:cubicBezTo>
                  <a:lnTo>
                    <a:pt x="904250" y="54312"/>
                  </a:lnTo>
                  <a:cubicBezTo>
                    <a:pt x="904250" y="54312"/>
                    <a:pt x="904250" y="54312"/>
                    <a:pt x="904250" y="54312"/>
                  </a:cubicBezTo>
                  <a:lnTo>
                    <a:pt x="0" y="54312"/>
                  </a:lnTo>
                  <a:cubicBezTo>
                    <a:pt x="0" y="54312"/>
                    <a:pt x="0" y="54312"/>
                    <a:pt x="0" y="54312"/>
                  </a:cubicBezTo>
                  <a:lnTo>
                    <a:pt x="0" y="6000"/>
                  </a:lnTo>
                  <a:cubicBezTo>
                    <a:pt x="0" y="2686"/>
                    <a:pt x="2686" y="0"/>
                    <a:pt x="6000" y="0"/>
                  </a:cubicBezTo>
                  <a:close/>
                </a:path>
              </a:pathLst>
            </a:custGeom>
            <a:gradFill>
              <a:gsLst>
                <a:gs pos="0">
                  <a:srgbClr val="056097"/>
                </a:gs>
                <a:gs pos="100000">
                  <a:srgbClr val="0071AE"/>
                </a:gs>
              </a:gsLst>
              <a:lin ang="0"/>
            </a:gradFill>
            <a:ln w="0">
              <a:noFill/>
            </a:ln>
          </p:spPr>
        </p:sp>
        <p:sp>
          <p:nvSpPr>
            <p:cNvPr id="7" name="Panel content" descr="s6">
              <a:extLst>
                <a:ext uri="{FF2B5EF4-FFF2-40B4-BE49-F238E27FC236}">
                  <ns2:creationId id="{251698C6-3FF6-49E5-B370-D2CF57F959BE}"/>
                </a:ext>
              </a:extLst>
            </p:cNvPr>
            <p:cNvSpPr>
              <a:spLocks noGrp="1"/>
            </p:cNvSpPr>
            <p:nvPr/>
          </p:nvSpPr>
          <p:spPr>
            <a:xfrm>
              <a:off x="287982" y="11823204"/>
              <a:ext cx="8612981" cy="1371302"/>
            </a:xfrm>
            <a:custGeom>
              <a:avLst/>
              <a:gdLst/>
              <a:ahLst/>
              <a:cxnLst/>
              <a:rect l="0" t="0" r="r" b="b"/>
              <a:pathLst>
                <a:path w="904250" h="143969">
                  <a:moveTo>
                    <a:pt x="0" y="0"/>
                  </a:moveTo>
                  <a:lnTo>
                    <a:pt x="904250" y="0"/>
                  </a:lnTo>
                  <a:cubicBezTo>
                    <a:pt x="904250" y="0"/>
                    <a:pt x="904250" y="0"/>
                    <a:pt x="904250" y="0"/>
                  </a:cubicBezTo>
                  <a:lnTo>
                    <a:pt x="904250" y="134969"/>
                  </a:lnTo>
                  <a:cubicBezTo>
                    <a:pt x="904250" y="139939"/>
                    <a:pt x="900221" y="143969"/>
                    <a:pt x="895250" y="143969"/>
                  </a:cubicBezTo>
                  <a:lnTo>
                    <a:pt x="9000" y="143969"/>
                  </a:lnTo>
                  <a:cubicBezTo>
                    <a:pt x="4029" y="143969"/>
                    <a:pt x="0" y="139939"/>
                    <a:pt x="0" y="134969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AF5FC"/>
            </a:solidFill>
            <a:ln w="9525">
              <a:solidFill>
                <a:srgbClr val="D9E9F1"/>
              </a:solidFill>
            </a:ln>
          </p:spPr>
        </p:sp>
        <p:sp>
          <p:nvSpPr>
            <p:cNvPr id="161" name="3. Research question" descr="t27">
              <a:extLst>
                <a:ext uri="{FF2B5EF4-FFF2-40B4-BE49-F238E27FC236}">
                  <ns2:creationId id="{60E0CED5-819A-44C9-B858-F2C37A63F087}"/>
                </a:ext>
              </a:extLst>
            </p:cNvPr>
            <p:cNvSpPr>
              <a:spLocks noGrp="1"/>
            </p:cNvSpPr>
            <p:nvPr/>
          </p:nvSpPr>
          <p:spPr>
            <a:xfrm>
              <a:off x="421825" y="11350396"/>
              <a:ext cx="2850391" cy="46478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800" b="1" i="0" spc="0" kern="0" dirty="0">
                  <a:solidFill>
                    <a:srgbClr val="ffffff"/>
                  </a:solidFill>
                  <a:latin typeface="Barlow Condensed"/>
                  <a:ea typeface="Barlow Condensed"/>
                  <a:cs typeface="Barlow Condensed"/>
                </a:rPr>
                <a:t>3. Research question</a:t>
              </a:r>
              <a:endParaRPr lang="en-GB" sz="2800"/>
            </a:p>
          </p:txBody>
        </p:sp>
        <p:sp>
          <p:nvSpPr>
            <p:cNvPr id="162" name="With the answer generator fixed, which pipeline additions improve" descr="t28">
              <a:extLst>
                <a:ext uri="{FF2B5EF4-FFF2-40B4-BE49-F238E27FC236}">
                  <ns2:creationId id="{E46AA8D0-567B-4A75-864C-262B4B34711B}"/>
                </a:ext>
              </a:extLst>
            </p:cNvPr>
            <p:cNvSpPr>
              <a:spLocks noGrp="1"/>
            </p:cNvSpPr>
            <p:nvPr/>
          </p:nvSpPr>
          <p:spPr>
            <a:xfrm>
              <a:off x="785509" y="11960530"/>
              <a:ext cx="7674998" cy="41906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500" b="1" i="0" spc="0" kern="0" dirty="0">
                  <a:solidFill>
                    <a:srgbClr val="082f56"/>
                  </a:solidFill>
                  <a:latin typeface="Barlow Condensed"/>
                  <a:ea typeface="Barlow Condensed"/>
                  <a:cs typeface="Barlow Condensed"/>
                </a:rPr>
                <a:t>With the answer generator fixed, which pipeline additions improve</a:t>
              </a:r>
              <a:endParaRPr lang="en-GB" sz="2500"/>
            </a:p>
          </p:txBody>
        </p:sp>
        <p:sp>
          <p:nvSpPr>
            <p:cNvPr id="163" name="answer quality and page-level citation precision and recall, and where" descr="t29">
              <a:extLst>
                <a:ext uri="{FF2B5EF4-FFF2-40B4-BE49-F238E27FC236}">
                  <ns2:creationId id="{119B179D-7619-4B4F-B912-0BBBEADDD4E1}"/>
                </a:ext>
              </a:extLst>
            </p:cNvPr>
            <p:cNvSpPr>
              <a:spLocks noGrp="1"/>
            </p:cNvSpPr>
            <p:nvPr/>
          </p:nvSpPr>
          <p:spPr>
            <a:xfrm>
              <a:off x="561521" y="12312942"/>
              <a:ext cx="8123238" cy="41906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500" b="1" i="0" spc="0" kern="0" dirty="0">
                  <a:solidFill>
                    <a:srgbClr val="082f56"/>
                  </a:solidFill>
                  <a:latin typeface="Barlow Condensed"/>
                  <a:ea typeface="Barlow Condensed"/>
                  <a:cs typeface="Barlow Condensed"/>
                </a:rPr>
                <a:t>answer quality and page-level citation precision and recall, and where</a:t>
              </a:r>
              <a:endParaRPr lang="en-GB" sz="2500"/>
            </a:p>
          </p:txBody>
        </p:sp>
        <p:sp>
          <p:nvSpPr>
            <p:cNvPr id="164" name="do these objectives conflict?" descr="t30">
              <a:extLst>
                <a:ext uri="{FF2B5EF4-FFF2-40B4-BE49-F238E27FC236}">
                  <ns2:creationId id="{D09C6DEA-1582-4E27-923C-F3D187186855}"/>
                </a:ext>
              </a:extLst>
            </p:cNvPr>
            <p:cNvSpPr>
              <a:spLocks noGrp="1"/>
            </p:cNvSpPr>
            <p:nvPr/>
          </p:nvSpPr>
          <p:spPr>
            <a:xfrm>
              <a:off x="2934826" y="12665354"/>
              <a:ext cx="3376730" cy="41906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500" b="1" i="0" spc="0" kern="0" dirty="0">
                  <a:solidFill>
                    <a:srgbClr val="082f56"/>
                  </a:solidFill>
                  <a:latin typeface="Barlow Condensed"/>
                  <a:ea typeface="Barlow Condensed"/>
                  <a:cs typeface="Barlow Condensed"/>
                </a:rPr>
                <a:t>do these objectives conflict?</a:t>
              </a:r>
              <a:endParaRPr lang="en-GB" sz="2500"/>
            </a:p>
          </p:txBody>
        </p:sp>
      </p:grpSp>
      <p:grpSp>
        <p:nvGrpSpPr>
          <p:cNvPr id="552" name="4. Our Contribution"/>
          <p:cNvGrpSpPr/>
          <p:nvPr/>
        </p:nvGrpSpPr>
        <p:grpSpPr>
          <a:xfrm>
            <a:off x="287982" y="13443347"/>
            <a:ext cx="8612981" cy="2703909"/>
            <a:chOff x="287982" y="13443347"/>
            <a:chExt cx="8612981" cy="2703909"/>
          </a:xfrm>
        </p:grpSpPr>
        <p:sp>
          <p:nvSpPr>
            <p:cNvPr id="8" name="Panel H2" descr="s7">
              <a:extLst>
                <a:ext uri="{FF2B5EF4-FFF2-40B4-BE49-F238E27FC236}">
                  <ns2:creationId id="{D035BF2E-8859-4839-B94B-4FF4AE94EE86}"/>
                </a:ext>
              </a:extLst>
            </p:cNvPr>
            <p:cNvSpPr>
              <a:spLocks noGrp="1"/>
            </p:cNvSpPr>
            <p:nvPr/>
          </p:nvSpPr>
          <p:spPr>
            <a:xfrm>
              <a:off x="287982" y="13443347"/>
              <a:ext cx="8612981" cy="517327"/>
            </a:xfrm>
            <a:custGeom>
              <a:avLst/>
              <a:gdLst/>
              <a:ahLst/>
              <a:cxnLst/>
              <a:rect l="0" t="0" r="r" b="b"/>
              <a:pathLst>
                <a:path w="904250" h="54312">
                  <a:moveTo>
                    <a:pt x="6000" y="0"/>
                  </a:moveTo>
                  <a:lnTo>
                    <a:pt x="898250" y="0"/>
                  </a:lnTo>
                  <a:cubicBezTo>
                    <a:pt x="901564" y="0"/>
                    <a:pt x="904250" y="2686"/>
                    <a:pt x="904250" y="6000"/>
                  </a:cubicBezTo>
                  <a:lnTo>
                    <a:pt x="904250" y="54312"/>
                  </a:lnTo>
                  <a:cubicBezTo>
                    <a:pt x="904250" y="54312"/>
                    <a:pt x="904250" y="54312"/>
                    <a:pt x="904250" y="54312"/>
                  </a:cubicBezTo>
                  <a:lnTo>
                    <a:pt x="0" y="54312"/>
                  </a:lnTo>
                  <a:cubicBezTo>
                    <a:pt x="0" y="54312"/>
                    <a:pt x="0" y="54312"/>
                    <a:pt x="0" y="54312"/>
                  </a:cubicBezTo>
                  <a:lnTo>
                    <a:pt x="0" y="6000"/>
                  </a:lnTo>
                  <a:cubicBezTo>
                    <a:pt x="0" y="2686"/>
                    <a:pt x="2686" y="0"/>
                    <a:pt x="6000" y="0"/>
                  </a:cubicBezTo>
                  <a:close/>
                </a:path>
              </a:pathLst>
            </a:custGeom>
            <a:gradFill>
              <a:gsLst>
                <a:gs pos="0">
                  <a:srgbClr val="056097"/>
                </a:gs>
                <a:gs pos="100000">
                  <a:srgbClr val="0071AE"/>
                </a:gs>
              </a:gsLst>
              <a:lin ang="0"/>
            </a:gradFill>
            <a:ln w="0">
              <a:noFill/>
            </a:ln>
          </p:spPr>
        </p:sp>
        <p:sp>
          <p:nvSpPr>
            <p:cNvPr id="9" name="Panel content" descr="s8">
              <a:extLst>
                <a:ext uri="{FF2B5EF4-FFF2-40B4-BE49-F238E27FC236}">
                  <ns2:creationId id="{158428FA-864C-45CD-948D-0382AD74D11F}"/>
                </a:ext>
              </a:extLst>
            </p:cNvPr>
            <p:cNvSpPr>
              <a:spLocks noGrp="1"/>
            </p:cNvSpPr>
            <p:nvPr/>
          </p:nvSpPr>
          <p:spPr>
            <a:xfrm>
              <a:off x="287982" y="13960673"/>
              <a:ext cx="8612981" cy="2186583"/>
            </a:xfrm>
            <a:custGeom>
              <a:avLst/>
              <a:gdLst/>
              <a:ahLst/>
              <a:cxnLst/>
              <a:rect l="0" t="0" r="r" b="b"/>
              <a:pathLst>
                <a:path w="904250" h="229562">
                  <a:moveTo>
                    <a:pt x="0" y="0"/>
                  </a:moveTo>
                  <a:lnTo>
                    <a:pt x="904250" y="0"/>
                  </a:lnTo>
                  <a:cubicBezTo>
                    <a:pt x="904250" y="0"/>
                    <a:pt x="904250" y="0"/>
                    <a:pt x="904250" y="0"/>
                  </a:cubicBezTo>
                  <a:lnTo>
                    <a:pt x="904250" y="220562"/>
                  </a:lnTo>
                  <a:cubicBezTo>
                    <a:pt x="904250" y="225533"/>
                    <a:pt x="900221" y="229562"/>
                    <a:pt x="895250" y="229562"/>
                  </a:cubicBezTo>
                  <a:lnTo>
                    <a:pt x="9000" y="229562"/>
                  </a:lnTo>
                  <a:cubicBezTo>
                    <a:pt x="4029" y="229562"/>
                    <a:pt x="0" y="225533"/>
                    <a:pt x="0" y="220562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2F8FC"/>
            </a:solidFill>
            <a:ln w="9525">
              <a:solidFill>
                <a:srgbClr val="D9E9F1"/>
              </a:solidFill>
            </a:ln>
          </p:spPr>
        </p:sp>
        <p:sp>
          <p:nvSpPr>
            <p:cNvPr id="165" name="4. Our Contribution" descr="t31">
              <a:extLst>
                <a:ext uri="{FF2B5EF4-FFF2-40B4-BE49-F238E27FC236}">
                  <ns2:creationId id="{DC74E600-C910-49DA-8DD6-FE6A0C06221D}"/>
                </a:ext>
              </a:extLst>
            </p:cNvPr>
            <p:cNvSpPr>
              <a:spLocks noGrp="1"/>
            </p:cNvSpPr>
            <p:nvPr/>
          </p:nvSpPr>
          <p:spPr>
            <a:xfrm>
              <a:off x="421469" y="13484237"/>
              <a:ext cx="2575948" cy="46478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800" b="1" i="0" spc="0" kern="0" dirty="0">
                  <a:solidFill>
                    <a:srgbClr val="ffffff"/>
                  </a:solidFill>
                  <a:latin typeface="Barlow Condensed"/>
                  <a:ea typeface="Barlow Condensed"/>
                  <a:cs typeface="Barlow Condensed"/>
                </a:rPr>
                <a:t>4. Our Contribution</a:t>
              </a:r>
              <a:endParaRPr lang="en-GB" sz="2800"/>
            </a:p>
          </p:txBody>
        </p:sp>
        <p:sp>
          <p:nvSpPr>
            <p:cNvPr id="166" name="We build a Legal RAG pipeline and provide an empirical comparison of s" descr="t32">
              <a:extLst>
                <a:ext uri="{FF2B5EF4-FFF2-40B4-BE49-F238E27FC236}">
                  <ns2:creationId id="{CC8A23BE-0F3A-4455-8DEA-02118F812776}"/>
                </a:ext>
              </a:extLst>
            </p:cNvPr>
            <p:cNvSpPr>
              <a:spLocks noGrp="1"/>
            </p:cNvSpPr>
            <p:nvPr/>
          </p:nvSpPr>
          <p:spPr>
            <a:xfrm>
              <a:off x="450171" y="14068647"/>
              <a:ext cx="7914301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We build a Legal RAG pipeline and provide an empirical comparison of seven</a:t>
              </a:r>
              <a:endParaRPr lang="en-GB" sz="2400"/>
            </a:p>
          </p:txBody>
        </p:sp>
        <p:sp>
          <p:nvSpPr>
            <p:cNvPr id="167" name="cumulative configurations on 30 documents and 100 questions. By adding" descr="t33">
              <a:extLst>
                <a:ext uri="{FF2B5EF4-FFF2-40B4-BE49-F238E27FC236}">
                  <ns2:creationId id="{3351B2FC-7295-4516-9361-5E850D704F08}"/>
                </a:ext>
              </a:extLst>
            </p:cNvPr>
            <p:cNvSpPr>
              <a:spLocks noGrp="1"/>
            </p:cNvSpPr>
            <p:nvPr/>
          </p:nvSpPr>
          <p:spPr>
            <a:xfrm>
              <a:off x="450171" y="14383010"/>
              <a:ext cx="7678689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cumulative configurations on 30 documents and 100 questions. By adding</a:t>
              </a:r>
              <a:endParaRPr lang="en-GB" sz="2400"/>
            </a:p>
          </p:txBody>
        </p:sp>
        <p:sp>
          <p:nvSpPr>
            <p:cNvPr id="168" name="components sequentially while keeping the answer generator fixed, we m" descr="t34">
              <a:extLst>
                <a:ext uri="{FF2B5EF4-FFF2-40B4-BE49-F238E27FC236}">
                  <ns2:creationId id="{A5F2B84E-A27A-4442-A018-6FDEC1387E0F}"/>
                </a:ext>
              </a:extLst>
            </p:cNvPr>
            <p:cNvSpPr>
              <a:spLocks noGrp="1"/>
            </p:cNvSpPr>
            <p:nvPr/>
          </p:nvSpPr>
          <p:spPr>
            <a:xfrm>
              <a:off x="449815" y="14706707"/>
              <a:ext cx="8343155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components sequentially while keeping the answer generator fixed, we measure</a:t>
              </a:r>
              <a:endParaRPr lang="en-GB" sz="2400"/>
            </a:p>
          </p:txBody>
        </p:sp>
        <p:sp>
          <p:nvSpPr>
            <p:cNvPr id="169" name="changes in answer quality and page-level citation precision and recall" descr="t35">
              <a:extLst>
                <a:ext uri="{FF2B5EF4-FFF2-40B4-BE49-F238E27FC236}">
                  <ns2:creationId id="{0502E592-8630-47F4-AC52-DCEB5375660B}"/>
                </a:ext>
              </a:extLst>
            </p:cNvPr>
            <p:cNvSpPr>
              <a:spLocks noGrp="1"/>
            </p:cNvSpPr>
            <p:nvPr/>
          </p:nvSpPr>
          <p:spPr>
            <a:xfrm>
              <a:off x="449815" y="15021083"/>
              <a:ext cx="8021897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changes in answer quality and page-level citation precision and recall across</a:t>
              </a:r>
              <a:endParaRPr lang="en-GB" sz="2400"/>
            </a:p>
          </p:txBody>
        </p:sp>
        <p:sp>
          <p:nvSpPr>
            <p:cNvPr id="170" name="stages of document processing, retrieval, reranking, answer processing" descr="t36">
              <a:extLst>
                <a:ext uri="{FF2B5EF4-FFF2-40B4-BE49-F238E27FC236}">
                  <ns2:creationId id="{2B42BFC9-3F61-4067-BE38-D57ACF24FA5A}"/>
                </a:ext>
              </a:extLst>
            </p:cNvPr>
            <p:cNvSpPr>
              <a:spLocks noGrp="1"/>
            </p:cNvSpPr>
            <p:nvPr/>
          </p:nvSpPr>
          <p:spPr>
            <a:xfrm>
              <a:off x="449815" y="15345149"/>
              <a:ext cx="7943562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stages of document processing, retrieval, reranking, answer processing, and</a:t>
              </a:r>
              <a:endParaRPr lang="en-GB" sz="2400"/>
            </a:p>
          </p:txBody>
        </p:sp>
        <p:sp>
          <p:nvSpPr>
            <p:cNvPr id="171" name="citation selection." descr="t37">
              <a:extLst>
                <a:ext uri="{FF2B5EF4-FFF2-40B4-BE49-F238E27FC236}">
                  <ns2:creationId id="{863FF7E3-EEF8-4544-AD9F-EF68066176EC}"/>
                </a:ext>
              </a:extLst>
            </p:cNvPr>
            <p:cNvSpPr>
              <a:spLocks noGrp="1"/>
            </p:cNvSpPr>
            <p:nvPr/>
          </p:nvSpPr>
          <p:spPr>
            <a:xfrm>
              <a:off x="449815" y="15668847"/>
              <a:ext cx="1904852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citation selection.</a:t>
              </a:r>
              <a:endParaRPr lang="en-GB" sz="2400"/>
            </a:p>
          </p:txBody>
        </p:sp>
      </p:grpSp>
      <p:grpSp>
        <p:nvGrpSpPr>
          <p:cNvPr id="551" name="5. Hypothesis"/>
          <p:cNvGrpSpPr/>
          <p:nvPr/>
        </p:nvGrpSpPr>
        <p:grpSpPr>
          <a:xfrm>
            <a:off x="287982" y="16396097"/>
            <a:ext cx="8612981" cy="4699843"/>
            <a:chOff x="287982" y="16396097"/>
            <a:chExt cx="8612981" cy="4699843"/>
          </a:xfrm>
        </p:grpSpPr>
        <p:sp>
          <p:nvSpPr>
            <p:cNvPr id="10" name="Panel H2" descr="s9">
              <a:extLst>
                <a:ext uri="{FF2B5EF4-FFF2-40B4-BE49-F238E27FC236}">
                  <ns2:creationId id="{C04F0E3C-71FB-4541-A0C8-76C4CE71F08A}"/>
                </a:ext>
              </a:extLst>
            </p:cNvPr>
            <p:cNvSpPr>
              <a:spLocks noGrp="1"/>
            </p:cNvSpPr>
            <p:nvPr/>
          </p:nvSpPr>
          <p:spPr>
            <a:xfrm>
              <a:off x="287982" y="16396097"/>
              <a:ext cx="8612981" cy="517327"/>
            </a:xfrm>
            <a:custGeom>
              <a:avLst/>
              <a:gdLst/>
              <a:ahLst/>
              <a:cxnLst/>
              <a:rect l="0" t="0" r="r" b="b"/>
              <a:pathLst>
                <a:path w="904250" h="54312">
                  <a:moveTo>
                    <a:pt x="6000" y="0"/>
                  </a:moveTo>
                  <a:lnTo>
                    <a:pt x="898250" y="0"/>
                  </a:lnTo>
                  <a:cubicBezTo>
                    <a:pt x="901564" y="0"/>
                    <a:pt x="904250" y="2686"/>
                    <a:pt x="904250" y="6000"/>
                  </a:cubicBezTo>
                  <a:lnTo>
                    <a:pt x="904250" y="54312"/>
                  </a:lnTo>
                  <a:cubicBezTo>
                    <a:pt x="904250" y="54312"/>
                    <a:pt x="904250" y="54312"/>
                    <a:pt x="904250" y="54312"/>
                  </a:cubicBezTo>
                  <a:lnTo>
                    <a:pt x="0" y="54312"/>
                  </a:lnTo>
                  <a:cubicBezTo>
                    <a:pt x="0" y="54312"/>
                    <a:pt x="0" y="54312"/>
                    <a:pt x="0" y="54312"/>
                  </a:cubicBezTo>
                  <a:lnTo>
                    <a:pt x="0" y="6000"/>
                  </a:lnTo>
                  <a:cubicBezTo>
                    <a:pt x="0" y="2686"/>
                    <a:pt x="2686" y="0"/>
                    <a:pt x="6000" y="0"/>
                  </a:cubicBezTo>
                  <a:close/>
                </a:path>
              </a:pathLst>
            </a:custGeom>
            <a:gradFill>
              <a:gsLst>
                <a:gs pos="0">
                  <a:srgbClr val="056097"/>
                </a:gs>
                <a:gs pos="100000">
                  <a:srgbClr val="0071AE"/>
                </a:gs>
              </a:gsLst>
              <a:lin ang="0"/>
            </a:gradFill>
            <a:ln w="0">
              <a:noFill/>
            </a:ln>
          </p:spPr>
        </p:sp>
        <p:sp>
          <p:nvSpPr>
            <p:cNvPr id="11" name="Panel content" descr="s10">
              <a:extLst>
                <a:ext uri="{FF2B5EF4-FFF2-40B4-BE49-F238E27FC236}">
                  <ns2:creationId id="{5BB38BBB-8DBF-4BB0-B89A-19D5A388BEE5}"/>
                </a:ext>
              </a:extLst>
            </p:cNvPr>
            <p:cNvSpPr>
              <a:spLocks noGrp="1"/>
            </p:cNvSpPr>
            <p:nvPr/>
          </p:nvSpPr>
          <p:spPr>
            <a:xfrm>
              <a:off x="287982" y="16970573"/>
              <a:ext cx="8612981" cy="4125367"/>
            </a:xfrm>
            <a:custGeom>
              <a:avLst/>
              <a:gdLst/>
              <a:ahLst/>
              <a:cxnLst/>
              <a:rect l="0" t="0" r="r" b="b"/>
              <a:pathLst>
                <a:path w="904250" h="433109">
                  <a:moveTo>
                    <a:pt x="0" y="0"/>
                  </a:moveTo>
                  <a:lnTo>
                    <a:pt x="904250" y="0"/>
                  </a:lnTo>
                  <a:cubicBezTo>
                    <a:pt x="904250" y="0"/>
                    <a:pt x="904250" y="0"/>
                    <a:pt x="904250" y="0"/>
                  </a:cubicBezTo>
                  <a:lnTo>
                    <a:pt x="904250" y="424109"/>
                  </a:lnTo>
                  <a:cubicBezTo>
                    <a:pt x="904250" y="429080"/>
                    <a:pt x="900221" y="433109"/>
                    <a:pt x="895250" y="433109"/>
                  </a:cubicBezTo>
                  <a:lnTo>
                    <a:pt x="9000" y="433109"/>
                  </a:lnTo>
                  <a:cubicBezTo>
                    <a:pt x="4029" y="433109"/>
                    <a:pt x="0" y="429080"/>
                    <a:pt x="0" y="424109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</p:sp>
        <p:sp>
          <p:nvSpPr>
            <p:cNvPr id="12" name="Panel hyp h1" descr="s11">
              <a:extLst>
                <a:ext uri="{FF2B5EF4-FFF2-40B4-BE49-F238E27FC236}">
                  <ns2:creationId id="{3B2E543E-151C-4E33-B04E-5F1BC4982533}"/>
                </a:ext>
              </a:extLst>
            </p:cNvPr>
            <p:cNvSpPr>
              <a:spLocks noGrp="1"/>
            </p:cNvSpPr>
            <p:nvPr/>
          </p:nvSpPr>
          <p:spPr>
            <a:xfrm>
              <a:off x="287982" y="16970573"/>
              <a:ext cx="8612981" cy="1550343"/>
            </a:xfrm>
            <a:custGeom>
              <a:avLst/>
              <a:gdLst/>
              <a:ahLst/>
              <a:cxnLst/>
              <a:rect l="0" t="0" r="r" b="b"/>
              <a:pathLst>
                <a:path w="904250" h="162766">
                  <a:moveTo>
                    <a:pt x="8000" y="0"/>
                  </a:moveTo>
                  <a:lnTo>
                    <a:pt x="896250" y="0"/>
                  </a:lnTo>
                  <a:cubicBezTo>
                    <a:pt x="900668" y="0"/>
                    <a:pt x="904250" y="3582"/>
                    <a:pt x="904250" y="8000"/>
                  </a:cubicBezTo>
                  <a:lnTo>
                    <a:pt x="904250" y="154766"/>
                  </a:lnTo>
                  <a:cubicBezTo>
                    <a:pt x="904250" y="159184"/>
                    <a:pt x="900668" y="162766"/>
                    <a:pt x="896250" y="162766"/>
                  </a:cubicBezTo>
                  <a:lnTo>
                    <a:pt x="8000" y="162766"/>
                  </a:lnTo>
                  <a:cubicBezTo>
                    <a:pt x="3582" y="162766"/>
                    <a:pt x="0" y="159184"/>
                    <a:pt x="0" y="154766"/>
                  </a:cubicBezTo>
                  <a:lnTo>
                    <a:pt x="0" y="8000"/>
                  </a:lnTo>
                  <a:cubicBezTo>
                    <a:pt x="0" y="3582"/>
                    <a:pt x="3582" y="0"/>
                    <a:pt x="8000" y="0"/>
                  </a:cubicBezTo>
                  <a:close/>
                </a:path>
              </a:pathLst>
            </a:custGeom>
            <a:solidFill>
              <a:srgbClr val="EAF4FB"/>
            </a:solidFill>
            <a:ln w="0">
              <a:noFill/>
            </a:ln>
          </p:spPr>
        </p:sp>
        <p:sp>
          <p:nvSpPr>
            <p:cNvPr id="13" name="Panel hyp h2" descr="s12">
              <a:extLst>
                <a:ext uri="{FF2B5EF4-FFF2-40B4-BE49-F238E27FC236}">
                  <ns2:creationId id="{15E5FAED-2C1E-444C-9A62-5EB3B917C7AF}"/>
                </a:ext>
              </a:extLst>
            </p:cNvPr>
            <p:cNvSpPr>
              <a:spLocks noGrp="1"/>
            </p:cNvSpPr>
            <p:nvPr/>
          </p:nvSpPr>
          <p:spPr>
            <a:xfrm>
              <a:off x="287982" y="18578066"/>
              <a:ext cx="8612981" cy="1230362"/>
            </a:xfrm>
            <a:custGeom>
              <a:avLst/>
              <a:gdLst/>
              <a:ahLst/>
              <a:cxnLst/>
              <a:rect l="0" t="0" r="r" b="b"/>
              <a:pathLst>
                <a:path w="904250" h="129172">
                  <a:moveTo>
                    <a:pt x="8000" y="0"/>
                  </a:moveTo>
                  <a:lnTo>
                    <a:pt x="896250" y="0"/>
                  </a:lnTo>
                  <a:cubicBezTo>
                    <a:pt x="900668" y="0"/>
                    <a:pt x="904250" y="3582"/>
                    <a:pt x="904250" y="8000"/>
                  </a:cubicBezTo>
                  <a:lnTo>
                    <a:pt x="904250" y="121172"/>
                  </a:lnTo>
                  <a:cubicBezTo>
                    <a:pt x="904250" y="125590"/>
                    <a:pt x="900668" y="129172"/>
                    <a:pt x="896250" y="129172"/>
                  </a:cubicBezTo>
                  <a:lnTo>
                    <a:pt x="8000" y="129172"/>
                  </a:lnTo>
                  <a:cubicBezTo>
                    <a:pt x="3582" y="129172"/>
                    <a:pt x="0" y="125590"/>
                    <a:pt x="0" y="121172"/>
                  </a:cubicBezTo>
                  <a:lnTo>
                    <a:pt x="0" y="8000"/>
                  </a:lnTo>
                  <a:cubicBezTo>
                    <a:pt x="0" y="3582"/>
                    <a:pt x="3582" y="0"/>
                    <a:pt x="8000" y="0"/>
                  </a:cubicBezTo>
                  <a:close/>
                </a:path>
              </a:pathLst>
            </a:custGeom>
            <a:solidFill>
              <a:srgbClr val="EFF7E9"/>
            </a:solidFill>
            <a:ln w="0">
              <a:noFill/>
            </a:ln>
          </p:spPr>
        </p:sp>
        <p:sp>
          <p:nvSpPr>
            <p:cNvPr id="14" name="Panel hyp h3" descr="s13">
              <a:extLst>
                <a:ext uri="{FF2B5EF4-FFF2-40B4-BE49-F238E27FC236}">
                  <ns2:creationId id="{BA32288F-50B1-45FB-BD45-D11F3D785AC3}"/>
                </a:ext>
              </a:extLst>
            </p:cNvPr>
            <p:cNvSpPr>
              <a:spLocks noGrp="1"/>
            </p:cNvSpPr>
            <p:nvPr/>
          </p:nvSpPr>
          <p:spPr>
            <a:xfrm>
              <a:off x="287982" y="19865578"/>
              <a:ext cx="8612981" cy="1230362"/>
            </a:xfrm>
            <a:custGeom>
              <a:avLst/>
              <a:gdLst/>
              <a:ahLst/>
              <a:cxnLst/>
              <a:rect l="0" t="0" r="r" b="b"/>
              <a:pathLst>
                <a:path w="904250" h="129172">
                  <a:moveTo>
                    <a:pt x="8000" y="0"/>
                  </a:moveTo>
                  <a:lnTo>
                    <a:pt x="896250" y="0"/>
                  </a:lnTo>
                  <a:cubicBezTo>
                    <a:pt x="900668" y="0"/>
                    <a:pt x="904250" y="3582"/>
                    <a:pt x="904250" y="8000"/>
                  </a:cubicBezTo>
                  <a:lnTo>
                    <a:pt x="904250" y="121172"/>
                  </a:lnTo>
                  <a:cubicBezTo>
                    <a:pt x="904250" y="125590"/>
                    <a:pt x="900668" y="129172"/>
                    <a:pt x="896250" y="129172"/>
                  </a:cubicBezTo>
                  <a:lnTo>
                    <a:pt x="8000" y="129172"/>
                  </a:lnTo>
                  <a:cubicBezTo>
                    <a:pt x="3582" y="129172"/>
                    <a:pt x="0" y="125590"/>
                    <a:pt x="0" y="121172"/>
                  </a:cubicBezTo>
                  <a:lnTo>
                    <a:pt x="0" y="8000"/>
                  </a:lnTo>
                  <a:cubicBezTo>
                    <a:pt x="0" y="3582"/>
                    <a:pt x="3582" y="0"/>
                    <a:pt x="8000" y="0"/>
                  </a:cubicBezTo>
                  <a:close/>
                </a:path>
              </a:pathLst>
            </a:custGeom>
            <a:solidFill>
              <a:srgbClr val="F2EBFA"/>
            </a:solidFill>
            <a:ln w="0">
              <a:noFill/>
            </a:ln>
          </p:spPr>
        </p:sp>
        <p:sp>
          <p:nvSpPr>
            <p:cNvPr id="172" name="5. Hypothesis" descr="t38">
              <a:extLst>
                <a:ext uri="{FF2B5EF4-FFF2-40B4-BE49-F238E27FC236}">
                  <ns2:creationId id="{59896453-E23B-4C4D-A246-8C0ABB382747}"/>
                </a:ext>
              </a:extLst>
            </p:cNvPr>
            <p:cNvSpPr>
              <a:spLocks noGrp="1"/>
            </p:cNvSpPr>
            <p:nvPr/>
          </p:nvSpPr>
          <p:spPr>
            <a:xfrm>
              <a:off x="421469" y="16437012"/>
              <a:ext cx="1872909" cy="46478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800" b="1" i="0" spc="0" kern="0" dirty="0">
                  <a:solidFill>
                    <a:srgbClr val="ffffff"/>
                  </a:solidFill>
                  <a:latin typeface="Barlow Condensed"/>
                  <a:ea typeface="Barlow Condensed"/>
                  <a:cs typeface="Barlow Condensed"/>
                </a:rPr>
                <a:t>5. Hypothesis</a:t>
              </a:r>
              <a:endParaRPr lang="en-GB" sz="2800"/>
            </a:p>
          </p:txBody>
        </p:sp>
        <p:sp>
          <p:nvSpPr>
            <p:cNvPr id="173" name="H1 — Retrieval" descr="t39">
              <a:extLst>
                <a:ext uri="{FF2B5EF4-FFF2-40B4-BE49-F238E27FC236}">
                  <ns2:creationId id="{65B0DDDD-9FA3-42D9-A7C9-B2DCF35EDD98}"/>
                </a:ext>
              </a:extLst>
            </p:cNvPr>
            <p:cNvSpPr>
              <a:spLocks noGrp="1"/>
            </p:cNvSpPr>
            <p:nvPr/>
          </p:nvSpPr>
          <p:spPr>
            <a:xfrm>
              <a:off x="421825" y="17046789"/>
              <a:ext cx="1642498" cy="41906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500" b="1" i="0" spc="0" kern="0" dirty="0">
                  <a:solidFill>
                    <a:srgbClr val="073c64"/>
                  </a:solidFill>
                  <a:latin typeface="Barlow Condensed"/>
                  <a:ea typeface="Barlow Condensed"/>
                  <a:cs typeface="Barlow Condensed"/>
                </a:rPr>
                <a:t>H1 — Retrieval</a:t>
              </a:r>
              <a:endParaRPr lang="en-GB" sz="2500"/>
            </a:p>
          </p:txBody>
        </p:sp>
        <p:sp>
          <p:nvSpPr>
            <p:cNvPr id="174" name="Combining multiple text granularities, semantic and lexical retrieval," descr="t40">
              <a:extLst>
                <a:ext uri="{FF2B5EF4-FFF2-40B4-BE49-F238E27FC236}">
                  <ns2:creationId id="{C064A681-107A-4C6C-98AA-1E3A02F49DC8}"/>
                </a:ext>
              </a:extLst>
            </p:cNvPr>
            <p:cNvSpPr>
              <a:spLocks noGrp="1"/>
            </p:cNvSpPr>
            <p:nvPr/>
          </p:nvSpPr>
          <p:spPr>
            <a:xfrm>
              <a:off x="421469" y="17440585"/>
              <a:ext cx="7549455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Combining multiple text granularities, semantic and lexical retrieval, and</a:t>
              </a:r>
              <a:endParaRPr lang="en-GB" sz="2400"/>
            </a:p>
          </p:txBody>
        </p:sp>
        <p:sp>
          <p:nvSpPr>
            <p:cNvPr id="175" name="relevance reranking will improve answer quality and evidence retrieval" descr="t41">
              <a:extLst>
                <a:ext uri="{FF2B5EF4-FFF2-40B4-BE49-F238E27FC236}">
                  <ns2:creationId id="{1F25BBC9-BFB4-48BF-B26D-ED8F1AFDD6F3}"/>
                </a:ext>
              </a:extLst>
            </p:cNvPr>
            <p:cNvSpPr>
              <a:spLocks noGrp="1"/>
            </p:cNvSpPr>
            <p:nvPr/>
          </p:nvSpPr>
          <p:spPr>
            <a:xfrm>
              <a:off x="421469" y="17754949"/>
              <a:ext cx="7347372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relevance reranking will improve answer quality and evidence retrieval</a:t>
              </a:r>
              <a:endParaRPr lang="en-GB" sz="2400"/>
            </a:p>
          </p:txBody>
        </p:sp>
        <p:sp>
          <p:nvSpPr>
            <p:cNvPr id="176" name="compared with a simple semantic-retrieval baseline." descr="t42">
              <a:extLst>
                <a:ext uri="{FF2B5EF4-FFF2-40B4-BE49-F238E27FC236}">
                  <ns2:creationId id="{E1953FAB-B56E-4BFE-B7A1-A49C2C0866E1}"/>
                </a:ext>
              </a:extLst>
            </p:cNvPr>
            <p:cNvSpPr>
              <a:spLocks noGrp="1"/>
            </p:cNvSpPr>
            <p:nvPr/>
          </p:nvSpPr>
          <p:spPr>
            <a:xfrm>
              <a:off x="421825" y="18078659"/>
              <a:ext cx="5494184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compared with a simple semantic-retrieval baseline.</a:t>
              </a:r>
              <a:endParaRPr lang="en-GB" sz="2400"/>
            </a:p>
          </p:txBody>
        </p:sp>
        <p:sp>
          <p:nvSpPr>
            <p:cNvPr id="177" name="H2 — Robustness to scanned documents" descr="t43">
              <a:extLst>
                <a:ext uri="{FF2B5EF4-FFF2-40B4-BE49-F238E27FC236}">
                  <ns2:creationId id="{3B80B77B-DD7C-480A-AF00-04F987A4489C}"/>
                </a:ext>
              </a:extLst>
            </p:cNvPr>
            <p:cNvSpPr>
              <a:spLocks noGrp="1"/>
            </p:cNvSpPr>
            <p:nvPr/>
          </p:nvSpPr>
          <p:spPr>
            <a:xfrm>
              <a:off x="421825" y="18646989"/>
              <a:ext cx="4674148" cy="41906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500" b="1" i="0" spc="0" kern="0" dirty="0">
                  <a:solidFill>
                    <a:srgbClr val="073c64"/>
                  </a:solidFill>
                  <a:latin typeface="Barlow Condensed"/>
                  <a:ea typeface="Barlow Condensed"/>
                  <a:cs typeface="Barlow Condensed"/>
                </a:rPr>
                <a:t>H2 — Robustness to scanned documents</a:t>
              </a:r>
              <a:endParaRPr lang="en-GB" sz="2500"/>
            </a:p>
          </p:txBody>
        </p:sp>
        <p:sp>
          <p:nvSpPr>
            <p:cNvPr id="178" name="Recovering text from scan-like legal documents will reduce the perform" descr="t44">
              <a:extLst>
                <a:ext uri="{FF2B5EF4-FFF2-40B4-BE49-F238E27FC236}">
                  <ns2:creationId id="{AB75C040-1032-454D-934B-C0A908AF25C2}"/>
                </a:ext>
              </a:extLst>
            </p:cNvPr>
            <p:cNvSpPr>
              <a:spLocks noGrp="1"/>
            </p:cNvSpPr>
            <p:nvPr/>
          </p:nvSpPr>
          <p:spPr>
            <a:xfrm>
              <a:off x="421825" y="19040785"/>
              <a:ext cx="7978308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Recovering text from scan-like legal documents will reduce the performance</a:t>
              </a:r>
              <a:endParaRPr lang="en-GB" sz="2400"/>
            </a:p>
          </p:txBody>
        </p:sp>
        <p:sp>
          <p:nvSpPr>
            <p:cNvPr id="179" name="loss caused by the absence of a machine-readable text layer." descr="t45">
              <a:extLst>
                <a:ext uri="{FF2B5EF4-FFF2-40B4-BE49-F238E27FC236}">
                  <ns2:creationId id="{2C8FD679-E4BD-4A69-8CA0-F23773F15324}"/>
                </a:ext>
              </a:extLst>
            </p:cNvPr>
            <p:cNvSpPr>
              <a:spLocks noGrp="1"/>
            </p:cNvSpPr>
            <p:nvPr/>
          </p:nvSpPr>
          <p:spPr>
            <a:xfrm>
              <a:off x="421469" y="19364483"/>
              <a:ext cx="6381154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loss caused by the absence of a machine-readable text layer.</a:t>
              </a:r>
              <a:endParaRPr lang="en-GB" sz="2400"/>
            </a:p>
          </p:txBody>
        </p:sp>
        <p:sp>
          <p:nvSpPr>
            <p:cNvPr id="180" name="H3 — Citation attribution" descr="t46">
              <a:extLst>
                <a:ext uri="{FF2B5EF4-FFF2-40B4-BE49-F238E27FC236}">
                  <ns2:creationId id="{10D96FF2-CBFC-4E5E-83DC-0DD545258080}"/>
                </a:ext>
              </a:extLst>
            </p:cNvPr>
            <p:cNvSpPr>
              <a:spLocks noGrp="1"/>
            </p:cNvSpPr>
            <p:nvPr/>
          </p:nvSpPr>
          <p:spPr>
            <a:xfrm>
              <a:off x="421825" y="19942516"/>
              <a:ext cx="2847542" cy="41906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500" b="1" i="0" spc="0" kern="0" dirty="0">
                  <a:solidFill>
                    <a:srgbClr val="073c64"/>
                  </a:solidFill>
                  <a:latin typeface="Barlow Condensed"/>
                  <a:ea typeface="Barlow Condensed"/>
                  <a:cs typeface="Barlow Condensed"/>
                </a:rPr>
                <a:t>H3 — Citation attribution</a:t>
              </a:r>
              <a:endParaRPr lang="en-GB" sz="2500"/>
            </a:p>
          </p:txBody>
        </p:sp>
        <p:sp>
          <p:nvSpPr>
            <p:cNvPr id="181" name="Selecting source pages after answer generation will produce a more foc" descr="t47">
              <a:extLst>
                <a:ext uri="{FF2B5EF4-FFF2-40B4-BE49-F238E27FC236}">
                  <ns2:creationId id="{CBCC085B-D88D-4105-9072-7FAF752F3CFD}"/>
                </a:ext>
              </a:extLst>
            </p:cNvPr>
            <p:cNvSpPr>
              <a:spLocks noGrp="1"/>
            </p:cNvSpPr>
            <p:nvPr/>
          </p:nvSpPr>
          <p:spPr>
            <a:xfrm>
              <a:off x="421469" y="20335945"/>
              <a:ext cx="7994464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Selecting source pages after answer generation will produce a more focused</a:t>
              </a:r>
              <a:endParaRPr lang="en-GB" sz="2400"/>
            </a:p>
          </p:txBody>
        </p:sp>
        <p:sp>
          <p:nvSpPr>
            <p:cNvPr id="182" name="citation set without substantially reducing the coverage of relevant e" descr="t48">
              <a:extLst>
                <a:ext uri="{FF2B5EF4-FFF2-40B4-BE49-F238E27FC236}">
                  <ns2:creationId id="{9601E6DB-3DDA-4C7B-B303-F3D95A8E4C0F}"/>
                </a:ext>
              </a:extLst>
            </p:cNvPr>
            <p:cNvSpPr>
              <a:spLocks noGrp="1"/>
            </p:cNvSpPr>
            <p:nvPr/>
          </p:nvSpPr>
          <p:spPr>
            <a:xfrm>
              <a:off x="421825" y="20650307"/>
              <a:ext cx="8041708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citation set without substantially reducing the coverage of relevant evidence.</a:t>
              </a:r>
              <a:endParaRPr lang="en-GB" sz="2400"/>
            </a:p>
          </p:txBody>
        </p:sp>
      </p:grpSp>
      <p:grpSp>
        <p:nvGrpSpPr>
          <p:cNvPr id="550" name="6. Data and Methods"/>
          <p:cNvGrpSpPr/>
          <p:nvPr/>
        </p:nvGrpSpPr>
        <p:grpSpPr>
          <a:xfrm>
            <a:off x="9072414" y="1370112"/>
            <a:ext cx="11731377" cy="10858351"/>
            <a:chOff x="9072414" y="1370112"/>
            <a:chExt cx="11731377" cy="10858351"/>
          </a:xfrm>
        </p:grpSpPr>
        <p:sp>
          <p:nvSpPr>
            <p:cNvPr id="15" name="Panel H2" descr="s14">
              <a:extLst>
                <a:ext uri="{FF2B5EF4-FFF2-40B4-BE49-F238E27FC236}">
                  <ns2:creationId id="{637F59D8-7793-4584-9356-55A92EF202F4}"/>
                </a:ext>
              </a:extLst>
            </p:cNvPr>
            <p:cNvSpPr>
              <a:spLocks noGrp="1"/>
            </p:cNvSpPr>
            <p:nvPr/>
          </p:nvSpPr>
          <p:spPr>
            <a:xfrm>
              <a:off x="9072414" y="1370112"/>
              <a:ext cx="11731377" cy="517327"/>
            </a:xfrm>
            <a:custGeom>
              <a:avLst/>
              <a:gdLst/>
              <a:ahLst/>
              <a:cxnLst/>
              <a:rect l="0" t="0" r="r" b="b"/>
              <a:pathLst>
                <a:path w="1231641" h="54312">
                  <a:moveTo>
                    <a:pt x="6000" y="0"/>
                  </a:moveTo>
                  <a:lnTo>
                    <a:pt x="1225641" y="0"/>
                  </a:lnTo>
                  <a:cubicBezTo>
                    <a:pt x="1228954" y="0"/>
                    <a:pt x="1231641" y="2686"/>
                    <a:pt x="1231641" y="6000"/>
                  </a:cubicBezTo>
                  <a:lnTo>
                    <a:pt x="1231641" y="54312"/>
                  </a:lnTo>
                  <a:cubicBezTo>
                    <a:pt x="1231641" y="54312"/>
                    <a:pt x="1231641" y="54312"/>
                    <a:pt x="1231641" y="54312"/>
                  </a:cubicBezTo>
                  <a:lnTo>
                    <a:pt x="0" y="54312"/>
                  </a:lnTo>
                  <a:cubicBezTo>
                    <a:pt x="0" y="54312"/>
                    <a:pt x="0" y="54312"/>
                    <a:pt x="0" y="54312"/>
                  </a:cubicBezTo>
                  <a:lnTo>
                    <a:pt x="0" y="6000"/>
                  </a:lnTo>
                  <a:cubicBezTo>
                    <a:pt x="0" y="2686"/>
                    <a:pt x="2686" y="0"/>
                    <a:pt x="6000" y="0"/>
                  </a:cubicBezTo>
                  <a:close/>
                </a:path>
              </a:pathLst>
            </a:custGeom>
            <a:gradFill>
              <a:gsLst>
                <a:gs pos="0">
                  <a:srgbClr val="056097"/>
                </a:gs>
                <a:gs pos="100000">
                  <a:srgbClr val="0071AE"/>
                </a:gs>
              </a:gsLst>
              <a:lin ang="0"/>
            </a:gradFill>
            <a:ln w="0">
              <a:noFill/>
            </a:ln>
          </p:spPr>
        </p:sp>
        <p:sp>
          <p:nvSpPr>
            <p:cNvPr id="16" name="Panel content" descr="s15">
              <a:extLst>
                <a:ext uri="{FF2B5EF4-FFF2-40B4-BE49-F238E27FC236}">
                  <ns2:creationId id="{38C9C283-0E8C-482B-86E7-F170F5E070F7}"/>
                </a:ext>
              </a:extLst>
            </p:cNvPr>
            <p:cNvSpPr>
              <a:spLocks noGrp="1"/>
            </p:cNvSpPr>
            <p:nvPr/>
          </p:nvSpPr>
          <p:spPr>
            <a:xfrm>
              <a:off x="9072414" y="1887438"/>
              <a:ext cx="11731377" cy="10341025"/>
            </a:xfrm>
            <a:custGeom>
              <a:avLst/>
              <a:gdLst/>
              <a:ahLst/>
              <a:cxnLst/>
              <a:rect l="0" t="0" r="r" b="b"/>
              <a:pathLst>
                <a:path w="1231641" h="1085672">
                  <a:moveTo>
                    <a:pt x="0" y="0"/>
                  </a:moveTo>
                  <a:lnTo>
                    <a:pt x="1231641" y="0"/>
                  </a:lnTo>
                  <a:cubicBezTo>
                    <a:pt x="1231641" y="0"/>
                    <a:pt x="1231641" y="0"/>
                    <a:pt x="1231641" y="0"/>
                  </a:cubicBezTo>
                  <a:lnTo>
                    <a:pt x="1231641" y="1076672"/>
                  </a:lnTo>
                  <a:cubicBezTo>
                    <a:pt x="1231641" y="1081642"/>
                    <a:pt x="1227611" y="1085672"/>
                    <a:pt x="1222641" y="1085672"/>
                  </a:cubicBezTo>
                  <a:lnTo>
                    <a:pt x="9000" y="1085672"/>
                  </a:lnTo>
                  <a:cubicBezTo>
                    <a:pt x="4029" y="1085672"/>
                    <a:pt x="0" y="1081642"/>
                    <a:pt x="0" y="1076672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2F8FC"/>
            </a:solidFill>
            <a:ln w="9525">
              <a:solidFill>
                <a:srgbClr val="D9E9F1"/>
              </a:solidFill>
            </a:ln>
          </p:spPr>
        </p:sp>
        <p:grpSp>
          <p:nvGrpSpPr>
            <p:cNvPr id="549" name="R0 · Baseline"/>
            <p:cNvGrpSpPr/>
            <p:nvPr/>
          </p:nvGrpSpPr>
          <p:grpSpPr>
            <a:xfrm>
              <a:off x="9234339" y="4696718"/>
              <a:ext cx="11407527" cy="1338858"/>
              <a:chOff x="9234339" y="4696718"/>
              <a:chExt cx="11407527" cy="1338858"/>
            </a:xfrm>
          </p:grpSpPr>
          <p:sp>
            <p:nvSpPr>
              <p:cNvPr id="17" name="Panel baseline" descr="s16">
                <a:extLst>
                  <a:ext uri="{FF2B5EF4-FFF2-40B4-BE49-F238E27FC236}">
                    <ns2:creationId id="{CAE9DBE5-16AA-4816-947E-EA4068AD3AC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234339" y="4696718"/>
                <a:ext cx="11407527" cy="1338858"/>
              </a:xfrm>
              <a:custGeom>
                <a:avLst/>
                <a:gdLst/>
                <a:ahLst/>
                <a:cxnLst/>
                <a:rect l="0" t="0" r="r" b="b"/>
                <a:pathLst>
                  <a:path w="1197641" h="140562">
                    <a:moveTo>
                      <a:pt x="8000" y="0"/>
                    </a:moveTo>
                    <a:lnTo>
                      <a:pt x="1189641" y="0"/>
                    </a:lnTo>
                    <a:cubicBezTo>
                      <a:pt x="1194059" y="0"/>
                      <a:pt x="1197641" y="3582"/>
                      <a:pt x="1197641" y="8000"/>
                    </a:cubicBezTo>
                    <a:lnTo>
                      <a:pt x="1197641" y="132562"/>
                    </a:lnTo>
                    <a:cubicBezTo>
                      <a:pt x="1197641" y="136981"/>
                      <a:pt x="1194059" y="140562"/>
                      <a:pt x="1189641" y="140562"/>
                    </a:cubicBezTo>
                    <a:lnTo>
                      <a:pt x="8000" y="140562"/>
                    </a:lnTo>
                    <a:cubicBezTo>
                      <a:pt x="3582" y="140562"/>
                      <a:pt x="0" y="136981"/>
                      <a:pt x="0" y="132562"/>
                    </a:cubicBezTo>
                    <a:lnTo>
                      <a:pt x="0" y="8000"/>
                    </a:lnTo>
                    <a:cubicBezTo>
                      <a:pt x="0" y="3582"/>
                      <a:pt x="3582" y="0"/>
                      <a:pt x="8000" y="0"/>
                    </a:cubicBezTo>
                    <a:close/>
                  </a:path>
                </a:pathLst>
              </a:custGeom>
              <a:solidFill>
                <a:srgbClr val="E6F3FB"/>
              </a:solidFill>
              <a:ln w="9525">
                <a:solidFill>
                  <a:srgbClr val="CFDFEB"/>
                </a:solidFill>
              </a:ln>
            </p:spPr>
          </p:sp>
          <p:pic>
            <p:nvPicPr>
              <p:cNvPr id="524" name="icon-file" descr="s122"/>
              <p:cNvPicPr>
                <a:picLocks noChangeAspect="1"/>
              </p:cNvPicPr>
              <p:nvPr/>
            </p:nvPicPr>
            <p:blipFill>
              <a:blip r:embed="Rfc804368da8f460b">
                <a:extLst>
                  <a:ext uri="{96DAC541-7B7A-43D3-8B79-37D633B846F1}">
                    <ns4:svgBlip r:embed="Rd4f289a3a9b0470b"/>
                  </a:ext>
                </a:extLst>
              </a:blip>
              <a:stretch/>
            </p:blipFill>
            <p:spPr>
              <a:xfrm>
                <a:off x="10567839" y="5175647"/>
                <a:ext cx="381000" cy="381000"/>
              </a:xfrm>
              <a:prstGeom prst="rect">
                <a:avLst/>
              </a:prstGeom>
            </p:spPr>
          </p:pic>
          <p:pic>
            <p:nvPicPr>
              <p:cNvPr id="525" name="icon-search" descr="s123"/>
              <p:cNvPicPr>
                <a:picLocks noChangeAspect="1"/>
              </p:cNvPicPr>
              <p:nvPr/>
            </p:nvPicPr>
            <p:blipFill>
              <a:blip r:embed="R1de0a2d8709f473d">
                <a:extLst>
                  <a:ext uri="{96DAC541-7B7A-43D3-8B79-37D633B846F1}">
                    <ns4:svgBlip r:embed="R0236f11125004989"/>
                  </a:ext>
                </a:extLst>
              </a:blip>
              <a:stretch/>
            </p:blipFill>
            <p:spPr>
              <a:xfrm>
                <a:off x="12597259" y="5175647"/>
                <a:ext cx="381000" cy="381000"/>
              </a:xfrm>
              <a:prstGeom prst="rect">
                <a:avLst/>
              </a:prstGeom>
            </p:spPr>
          </p:pic>
          <p:pic>
            <p:nvPicPr>
              <p:cNvPr id="526" name="icon-answer" descr="s124"/>
              <p:cNvPicPr>
                <a:picLocks noChangeAspect="1"/>
              </p:cNvPicPr>
              <p:nvPr/>
            </p:nvPicPr>
            <p:blipFill>
              <a:blip r:embed="R1dcb0a0ec22249d3">
                <a:extLst>
                  <a:ext uri="{96DAC541-7B7A-43D3-8B79-37D633B846F1}">
                    <ns4:svgBlip r:embed="R0e0562fac043487e"/>
                  </a:ext>
                </a:extLst>
              </a:blip>
              <a:stretch/>
            </p:blipFill>
            <p:spPr>
              <a:xfrm>
                <a:off x="15913894" y="5175647"/>
                <a:ext cx="381000" cy="381000"/>
              </a:xfrm>
              <a:prstGeom prst="rect">
                <a:avLst/>
              </a:prstGeom>
            </p:spPr>
          </p:pic>
          <p:pic>
            <p:nvPicPr>
              <p:cNvPr id="527" name="icon-file" descr="s125"/>
              <p:cNvPicPr>
                <a:picLocks noChangeAspect="1"/>
              </p:cNvPicPr>
              <p:nvPr/>
            </p:nvPicPr>
            <p:blipFill>
              <a:blip r:embed="Ra3bf8f748f944627">
                <a:extLst>
                  <a:ext uri="{96DAC541-7B7A-43D3-8B79-37D633B846F1}">
                    <ns4:svgBlip r:embed="R04086f6da4624f9d"/>
                  </a:ext>
                </a:extLst>
              </a:blip>
              <a:stretch/>
            </p:blipFill>
            <p:spPr>
              <a:xfrm>
                <a:off x="18311217" y="5175647"/>
                <a:ext cx="381000" cy="381000"/>
              </a:xfrm>
              <a:prstGeom prst="rect">
                <a:avLst/>
              </a:prstGeom>
            </p:spPr>
          </p:pic>
          <p:sp>
            <p:nvSpPr>
              <p:cNvPr id="336" name="R0 ·" descr="t202">
                <a:extLst>
                  <a:ext uri="{FF2B5EF4-FFF2-40B4-BE49-F238E27FC236}">
                    <ns2:creationId id="{8FBC937A-DA3C-4238-8853-40567A811E7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358129" y="5010410"/>
                <a:ext cx="468326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1" i="0" spc="0" kern="0" dirty="0">
                    <a:solidFill>
                      <a:srgbClr val="073c64"/>
                    </a:solidFill>
                    <a:latin typeface="Barlow Condensed"/>
                    <a:ea typeface="Barlow Condensed"/>
                    <a:cs typeface="Barlow Condensed"/>
                  </a:rPr>
                  <a:t>R0 ·</a:t>
                </a:r>
                <a:endParaRPr lang="en-GB" sz="2400"/>
              </a:p>
            </p:txBody>
          </p:sp>
          <p:sp>
            <p:nvSpPr>
              <p:cNvPr id="337" name="Baseline" descr="t203">
                <a:extLst>
                  <a:ext uri="{FF2B5EF4-FFF2-40B4-BE49-F238E27FC236}">
                    <ns2:creationId id="{4BC88DE3-A22C-4DFC-B73C-62E6B10C5EE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358485" y="5343798"/>
                <a:ext cx="994412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1" i="0" spc="0" kern="0" dirty="0">
                    <a:solidFill>
                      <a:srgbClr val="073c64"/>
                    </a:solidFill>
                    <a:latin typeface="Barlow Condensed"/>
                    <a:ea typeface="Barlow Condensed"/>
                    <a:cs typeface="Barlow Condensed"/>
                  </a:rPr>
                  <a:t>Baseline</a:t>
                </a:r>
                <a:endParaRPr lang="en-GB" sz="2400"/>
              </a:p>
            </p:txBody>
          </p:sp>
          <p:sp>
            <p:nvSpPr>
              <p:cNvPr id="338" name="PDF text" descr="t204">
                <a:extLst>
                  <a:ext uri="{FF2B5EF4-FFF2-40B4-BE49-F238E27FC236}">
                    <ns2:creationId id="{F846AB90-0F23-4DC7-80FA-CE140845716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1025437" y="4848561"/>
                <a:ext cx="976429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1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PDF text</a:t>
                </a:r>
                <a:endParaRPr lang="en-GB" sz="2400"/>
              </a:p>
            </p:txBody>
          </p:sp>
          <p:sp>
            <p:nvSpPr>
              <p:cNvPr id="339" name="300-token" descr="t205">
                <a:extLst>
                  <a:ext uri="{FF2B5EF4-FFF2-40B4-BE49-F238E27FC236}">
                    <ns2:creationId id="{8A05E048-8F3C-4575-A19D-259822E0D2E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1025437" y="5181949"/>
                <a:ext cx="1129134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300-token</a:t>
                </a:r>
                <a:endParaRPr lang="en-GB" sz="2400"/>
              </a:p>
            </p:txBody>
          </p:sp>
          <p:sp>
            <p:nvSpPr>
              <p:cNvPr id="340" name="passages" descr="t206">
                <a:extLst>
                  <a:ext uri="{FF2B5EF4-FFF2-40B4-BE49-F238E27FC236}">
                    <ns2:creationId id="{A3E4186E-A858-4FCC-8793-1B6C2B32484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1025437" y="5515349"/>
                <a:ext cx="1023064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passages</a:t>
                </a:r>
                <a:endParaRPr lang="en-GB" sz="2400"/>
              </a:p>
            </p:txBody>
          </p:sp>
          <p:sp>
            <p:nvSpPr>
              <p:cNvPr id="341" name="→" descr="t207">
                <a:extLst>
                  <a:ext uri="{FF2B5EF4-FFF2-40B4-BE49-F238E27FC236}">
                    <ns2:creationId id="{10892BF0-44FE-4979-9735-571D033E36B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2245344" y="5143552"/>
                <a:ext cx="419100" cy="442466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850" b="0" i="0" spc="0" kern="0" dirty="0">
                    <a:solidFill>
                      <a:srgbClr val="427a9c"/>
                    </a:solidFill>
                    <a:latin typeface="Liberation Sans"/>
                    <a:ea typeface="Liberation Sans"/>
                    <a:cs typeface="Liberation Sans"/>
                  </a:rPr>
                  <a:t>→</a:t>
                </a:r>
                <a:endParaRPr lang="en-GB" sz="2850"/>
              </a:p>
            </p:txBody>
          </p:sp>
          <p:sp>
            <p:nvSpPr>
              <p:cNvPr id="342" name="Semantic retrieval" descr="t208">
                <a:extLst>
                  <a:ext uri="{FF2B5EF4-FFF2-40B4-BE49-F238E27FC236}">
                    <ns2:creationId id="{217522E7-5892-4162-98BA-A9031C3CFA4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054957" y="4991398"/>
                <a:ext cx="2091696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1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Semantic retrieval</a:t>
                </a:r>
                <a:endParaRPr lang="en-GB" sz="2400"/>
              </a:p>
            </p:txBody>
          </p:sp>
          <p:sp>
            <p:nvSpPr>
              <p:cNvPr id="343" name="Qwen3-Embedding-0.6B" descr="t209">
                <a:extLst>
                  <a:ext uri="{FF2B5EF4-FFF2-40B4-BE49-F238E27FC236}">
                    <ns2:creationId id="{728BCD82-3BFD-4CBE-B85C-1EB4DC6FE3C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054600" y="5372157"/>
                <a:ext cx="2539140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Qwen3-Embedding-0.6B</a:t>
                </a:r>
                <a:endParaRPr lang="en-GB" sz="2400"/>
              </a:p>
            </p:txBody>
          </p:sp>
          <p:sp>
            <p:nvSpPr>
              <p:cNvPr id="344" name="→" descr="t210">
                <a:extLst>
                  <a:ext uri="{FF2B5EF4-FFF2-40B4-BE49-F238E27FC236}">
                    <ns2:creationId id="{A1BA095A-D04C-45A5-809A-9E5E4D1B26F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5561933" y="5143552"/>
                <a:ext cx="419100" cy="442466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850" b="0" i="0" spc="0" kern="0" dirty="0">
                    <a:solidFill>
                      <a:srgbClr val="427a9c"/>
                    </a:solidFill>
                    <a:latin typeface="Liberation Sans"/>
                    <a:ea typeface="Liberation Sans"/>
                    <a:cs typeface="Liberation Sans"/>
                  </a:rPr>
                  <a:t>→</a:t>
                </a:r>
                <a:endParaRPr lang="en-GB" sz="2850"/>
              </a:p>
            </p:txBody>
          </p:sp>
          <p:sp>
            <p:nvSpPr>
              <p:cNvPr id="345" name="Generate" descr="t211">
                <a:extLst>
                  <a:ext uri="{FF2B5EF4-FFF2-40B4-BE49-F238E27FC236}">
                    <ns2:creationId id="{E1636E91-C967-433E-BBFF-DEBDC1FEB8B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6371545" y="4819859"/>
                <a:ext cx="1054762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1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Generate</a:t>
                </a:r>
                <a:endParaRPr lang="en-GB" sz="2400"/>
              </a:p>
            </p:txBody>
          </p:sp>
          <p:sp>
            <p:nvSpPr>
              <p:cNvPr id="346" name="answer" descr="t212">
                <a:extLst>
                  <a:ext uri="{FF2B5EF4-FFF2-40B4-BE49-F238E27FC236}">
                    <ns2:creationId id="{1E02A207-DA40-4947-8962-19304E24EBF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6371545" y="5153247"/>
                <a:ext cx="861822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1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answer</a:t>
                </a:r>
                <a:endParaRPr lang="en-GB" sz="2400"/>
              </a:p>
            </p:txBody>
          </p:sp>
          <p:sp>
            <p:nvSpPr>
              <p:cNvPr id="347" name="GPT-5.4-mini" descr="t213">
                <a:extLst>
                  <a:ext uri="{FF2B5EF4-FFF2-40B4-BE49-F238E27FC236}">
                    <ns2:creationId id="{1B009BF7-6848-488E-AE27-1EE0E16A9CB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6371189" y="5534361"/>
                <a:ext cx="1395833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GPT-5.4-mini</a:t>
                </a:r>
                <a:endParaRPr lang="en-GB" sz="2400"/>
              </a:p>
            </p:txBody>
          </p:sp>
          <p:sp>
            <p:nvSpPr>
              <p:cNvPr id="348" name="→" descr="t214">
                <a:extLst>
                  <a:ext uri="{FF2B5EF4-FFF2-40B4-BE49-F238E27FC236}">
                    <ns2:creationId id="{892A8540-EE87-4200-AB46-3C5CAD2EB74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7958984" y="5143552"/>
                <a:ext cx="419100" cy="442466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850" b="0" i="0" spc="0" kern="0" dirty="0">
                    <a:solidFill>
                      <a:srgbClr val="427a9c"/>
                    </a:solidFill>
                    <a:latin typeface="Liberation Sans"/>
                    <a:ea typeface="Liberation Sans"/>
                    <a:cs typeface="Liberation Sans"/>
                  </a:rPr>
                  <a:t>→</a:t>
                </a:r>
                <a:endParaRPr lang="en-GB" sz="2850"/>
              </a:p>
            </p:txBody>
          </p:sp>
          <p:sp>
            <p:nvSpPr>
              <p:cNvPr id="349" name="Answer +" descr="t215">
                <a:extLst>
                  <a:ext uri="{FF2B5EF4-FFF2-40B4-BE49-F238E27FC236}">
                    <ns2:creationId id="{A16AA32C-8855-4C43-B9F0-AE63E480F25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8768597" y="5010410"/>
                <a:ext cx="1067256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1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Answer +</a:t>
                </a:r>
                <a:endParaRPr lang="en-GB" sz="2400"/>
              </a:p>
            </p:txBody>
          </p:sp>
          <p:sp>
            <p:nvSpPr>
              <p:cNvPr id="350" name="retrieved pages" descr="t216">
                <a:extLst>
                  <a:ext uri="{FF2B5EF4-FFF2-40B4-BE49-F238E27FC236}">
                    <ns2:creationId id="{40C29D01-0C2E-410B-AA1D-2C43A457D4B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8768597" y="5343798"/>
                <a:ext cx="1791159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1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retrieved pages</a:t>
                </a:r>
                <a:endParaRPr lang="en-GB" sz="2400"/>
              </a:p>
            </p:txBody>
          </p:sp>
        </p:grpSp>
        <p:sp>
          <p:nvSpPr>
            <p:cNvPr id="18" name="Panel phase doc" descr="s17">
              <a:extLst>
                <a:ext uri="{FF2B5EF4-FFF2-40B4-BE49-F238E27FC236}">
                  <ns2:creationId id="{CB0E684F-AF22-4A87-BE79-35D4A4501630}"/>
                </a:ext>
              </a:extLst>
            </p:cNvPr>
            <p:cNvSpPr>
              <a:spLocks noGrp="1"/>
            </p:cNvSpPr>
            <p:nvPr/>
          </p:nvSpPr>
          <p:spPr>
            <a:xfrm>
              <a:off x="9234339" y="6168926"/>
              <a:ext cx="3726210" cy="426541"/>
            </a:xfrm>
            <a:custGeom>
              <a:avLst/>
              <a:gdLst/>
              <a:ahLst/>
              <a:cxnLst/>
              <a:rect l="0" t="0" r="r" b="b"/>
              <a:pathLst>
                <a:path w="391203" h="44781">
                  <a:moveTo>
                    <a:pt x="6000" y="0"/>
                  </a:moveTo>
                  <a:lnTo>
                    <a:pt x="385203" y="0"/>
                  </a:lnTo>
                  <a:cubicBezTo>
                    <a:pt x="388517" y="0"/>
                    <a:pt x="391203" y="2686"/>
                    <a:pt x="391203" y="6000"/>
                  </a:cubicBezTo>
                  <a:lnTo>
                    <a:pt x="391203" y="38781"/>
                  </a:lnTo>
                  <a:cubicBezTo>
                    <a:pt x="391203" y="42095"/>
                    <a:pt x="388517" y="44781"/>
                    <a:pt x="385203" y="44781"/>
                  </a:cubicBezTo>
                  <a:lnTo>
                    <a:pt x="6000" y="44781"/>
                  </a:lnTo>
                  <a:cubicBezTo>
                    <a:pt x="2686" y="44781"/>
                    <a:pt x="0" y="42095"/>
                    <a:pt x="0" y="38781"/>
                  </a:cubicBezTo>
                  <a:lnTo>
                    <a:pt x="0" y="6000"/>
                  </a:lnTo>
                  <a:cubicBezTo>
                    <a:pt x="0" y="2686"/>
                    <a:pt x="2686" y="0"/>
                    <a:pt x="6000" y="0"/>
                  </a:cubicBezTo>
                  <a:close/>
                </a:path>
              </a:pathLst>
            </a:custGeom>
            <a:solidFill>
              <a:srgbClr val="EAF5FC"/>
            </a:solidFill>
            <a:ln w="0">
              <a:noFill/>
            </a:ln>
          </p:spPr>
        </p:sp>
        <p:sp>
          <p:nvSpPr>
            <p:cNvPr id="19" name="Panel phase retr" descr="s18">
              <a:extLst>
                <a:ext uri="{FF2B5EF4-FFF2-40B4-BE49-F238E27FC236}">
                  <ns2:creationId id="{5649FBA5-2466-4265-A868-69ECEBF763AA}"/>
                </a:ext>
              </a:extLst>
            </p:cNvPr>
            <p:cNvSpPr>
              <a:spLocks noGrp="1"/>
            </p:cNvSpPr>
            <p:nvPr/>
          </p:nvSpPr>
          <p:spPr>
            <a:xfrm>
              <a:off x="13074848" y="6168926"/>
              <a:ext cx="3726359" cy="426541"/>
            </a:xfrm>
            <a:custGeom>
              <a:avLst/>
              <a:gdLst/>
              <a:ahLst/>
              <a:cxnLst/>
              <a:rect l="0" t="0" r="r" b="b"/>
              <a:pathLst>
                <a:path w="391219" h="44781">
                  <a:moveTo>
                    <a:pt x="6000" y="0"/>
                  </a:moveTo>
                  <a:lnTo>
                    <a:pt x="385219" y="0"/>
                  </a:lnTo>
                  <a:cubicBezTo>
                    <a:pt x="388532" y="0"/>
                    <a:pt x="391219" y="2686"/>
                    <a:pt x="391219" y="6000"/>
                  </a:cubicBezTo>
                  <a:lnTo>
                    <a:pt x="391219" y="38781"/>
                  </a:lnTo>
                  <a:cubicBezTo>
                    <a:pt x="391219" y="42095"/>
                    <a:pt x="388532" y="44781"/>
                    <a:pt x="385219" y="44781"/>
                  </a:cubicBezTo>
                  <a:lnTo>
                    <a:pt x="6000" y="44781"/>
                  </a:lnTo>
                  <a:cubicBezTo>
                    <a:pt x="2686" y="44781"/>
                    <a:pt x="0" y="42095"/>
                    <a:pt x="0" y="38781"/>
                  </a:cubicBezTo>
                  <a:lnTo>
                    <a:pt x="0" y="6000"/>
                  </a:lnTo>
                  <a:cubicBezTo>
                    <a:pt x="0" y="2686"/>
                    <a:pt x="2686" y="0"/>
                    <a:pt x="6000" y="0"/>
                  </a:cubicBezTo>
                  <a:close/>
                </a:path>
              </a:pathLst>
            </a:custGeom>
            <a:solidFill>
              <a:srgbClr val="EEF7E9"/>
            </a:solidFill>
            <a:ln w="0">
              <a:noFill/>
            </a:ln>
          </p:spPr>
        </p:sp>
        <p:sp>
          <p:nvSpPr>
            <p:cNvPr id="20" name="Panel phase ans single" descr="s19">
              <a:extLst>
                <a:ext uri="{FF2B5EF4-FFF2-40B4-BE49-F238E27FC236}">
                  <ns2:creationId id="{BBA19F8A-06E2-488D-AF6A-FB41F72B354A}"/>
                </a:ext>
              </a:extLst>
            </p:cNvPr>
            <p:cNvSpPr>
              <a:spLocks noGrp="1"/>
            </p:cNvSpPr>
            <p:nvPr/>
          </p:nvSpPr>
          <p:spPr>
            <a:xfrm>
              <a:off x="16915507" y="6168926"/>
              <a:ext cx="1806029" cy="426541"/>
            </a:xfrm>
            <a:custGeom>
              <a:avLst/>
              <a:gdLst/>
              <a:ahLst/>
              <a:cxnLst/>
              <a:rect l="0" t="0" r="r" b="b"/>
              <a:pathLst>
                <a:path w="189609" h="44781">
                  <a:moveTo>
                    <a:pt x="6000" y="0"/>
                  </a:moveTo>
                  <a:lnTo>
                    <a:pt x="183609" y="0"/>
                  </a:lnTo>
                  <a:cubicBezTo>
                    <a:pt x="186923" y="0"/>
                    <a:pt x="189609" y="2686"/>
                    <a:pt x="189609" y="6000"/>
                  </a:cubicBezTo>
                  <a:lnTo>
                    <a:pt x="189609" y="38781"/>
                  </a:lnTo>
                  <a:cubicBezTo>
                    <a:pt x="189609" y="42095"/>
                    <a:pt x="186923" y="44781"/>
                    <a:pt x="183609" y="44781"/>
                  </a:cubicBezTo>
                  <a:lnTo>
                    <a:pt x="6000" y="44781"/>
                  </a:lnTo>
                  <a:cubicBezTo>
                    <a:pt x="2686" y="44781"/>
                    <a:pt x="0" y="42095"/>
                    <a:pt x="0" y="38781"/>
                  </a:cubicBezTo>
                  <a:lnTo>
                    <a:pt x="0" y="6000"/>
                  </a:lnTo>
                  <a:cubicBezTo>
                    <a:pt x="0" y="2686"/>
                    <a:pt x="2686" y="0"/>
                    <a:pt x="6000" y="0"/>
                  </a:cubicBezTo>
                  <a:close/>
                </a:path>
              </a:pathLst>
            </a:custGeom>
            <a:solidFill>
              <a:srgbClr val="FFF1E5"/>
            </a:solidFill>
            <a:ln w="0">
              <a:noFill/>
            </a:ln>
          </p:spPr>
        </p:sp>
        <p:sp>
          <p:nvSpPr>
            <p:cNvPr id="21" name="Panel phase cit single" descr="s20">
              <a:extLst>
                <a:ext uri="{FF2B5EF4-FFF2-40B4-BE49-F238E27FC236}">
                  <ns2:creationId id="{B2DA5F05-A5B8-4C5B-B2C3-4D220484966A}"/>
                </a:ext>
              </a:extLst>
            </p:cNvPr>
            <p:cNvSpPr>
              <a:spLocks noGrp="1"/>
            </p:cNvSpPr>
            <p:nvPr/>
          </p:nvSpPr>
          <p:spPr>
            <a:xfrm>
              <a:off x="18835836" y="6168926"/>
              <a:ext cx="1805880" cy="426541"/>
            </a:xfrm>
            <a:custGeom>
              <a:avLst/>
              <a:gdLst/>
              <a:ahLst/>
              <a:cxnLst/>
              <a:rect l="0" t="0" r="r" b="b"/>
              <a:pathLst>
                <a:path w="189594" h="44781">
                  <a:moveTo>
                    <a:pt x="6000" y="0"/>
                  </a:moveTo>
                  <a:lnTo>
                    <a:pt x="183594" y="0"/>
                  </a:lnTo>
                  <a:cubicBezTo>
                    <a:pt x="186907" y="0"/>
                    <a:pt x="189594" y="2686"/>
                    <a:pt x="189594" y="6000"/>
                  </a:cubicBezTo>
                  <a:lnTo>
                    <a:pt x="189594" y="38781"/>
                  </a:lnTo>
                  <a:cubicBezTo>
                    <a:pt x="189594" y="42095"/>
                    <a:pt x="186907" y="44781"/>
                    <a:pt x="183594" y="44781"/>
                  </a:cubicBezTo>
                  <a:lnTo>
                    <a:pt x="6000" y="44781"/>
                  </a:lnTo>
                  <a:cubicBezTo>
                    <a:pt x="2686" y="44781"/>
                    <a:pt x="0" y="42095"/>
                    <a:pt x="0" y="38781"/>
                  </a:cubicBezTo>
                  <a:lnTo>
                    <a:pt x="0" y="6000"/>
                  </a:lnTo>
                  <a:cubicBezTo>
                    <a:pt x="0" y="2686"/>
                    <a:pt x="2686" y="0"/>
                    <a:pt x="6000" y="0"/>
                  </a:cubicBezTo>
                  <a:close/>
                </a:path>
              </a:pathLst>
            </a:custGeom>
            <a:solidFill>
              <a:srgbClr val="F1EAFB"/>
            </a:solidFill>
            <a:ln w="0">
              <a:noFill/>
            </a:ln>
          </p:spPr>
        </p:sp>
        <p:grpSp>
          <p:nvGrpSpPr>
            <p:cNvPr id="548" name="R1 · Read scans"/>
            <p:cNvGrpSpPr/>
            <p:nvPr/>
          </p:nvGrpSpPr>
          <p:grpSpPr>
            <a:xfrm>
              <a:off x="9234339" y="6671667"/>
              <a:ext cx="1805880" cy="4573935"/>
              <a:chOff x="9234339" y="6671667"/>
              <a:chExt cx="1805880" cy="4573935"/>
            </a:xfrm>
          </p:grpSpPr>
          <p:sp>
            <p:nvSpPr>
              <p:cNvPr id="22" name="Panel stage doc" descr="s21">
                <a:extLst>
                  <a:ext uri="{FF2B5EF4-FFF2-40B4-BE49-F238E27FC236}">
                    <ns2:creationId id="{A225DF66-3893-41B3-882F-5E9584D868E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234339" y="6671667"/>
                <a:ext cx="1805880" cy="4573935"/>
              </a:xfrm>
              <a:custGeom>
                <a:avLst/>
                <a:gdLst/>
                <a:ahLst/>
                <a:cxnLst/>
                <a:rect l="0" t="0" r="r" b="b"/>
                <a:pathLst>
                  <a:path w="189594" h="480203">
                    <a:moveTo>
                      <a:pt x="8000" y="0"/>
                    </a:moveTo>
                    <a:lnTo>
                      <a:pt x="181594" y="0"/>
                    </a:lnTo>
                    <a:cubicBezTo>
                      <a:pt x="186012" y="0"/>
                      <a:pt x="189594" y="3582"/>
                      <a:pt x="189594" y="8000"/>
                    </a:cubicBezTo>
                    <a:lnTo>
                      <a:pt x="189594" y="472203"/>
                    </a:lnTo>
                    <a:cubicBezTo>
                      <a:pt x="189594" y="476621"/>
                      <a:pt x="186012" y="480203"/>
                      <a:pt x="181594" y="480203"/>
                    </a:cubicBezTo>
                    <a:lnTo>
                      <a:pt x="8000" y="480203"/>
                    </a:lnTo>
                    <a:cubicBezTo>
                      <a:pt x="3582" y="480203"/>
                      <a:pt x="0" y="476621"/>
                      <a:pt x="0" y="472203"/>
                    </a:cubicBezTo>
                    <a:lnTo>
                      <a:pt x="0" y="8000"/>
                    </a:lnTo>
                    <a:cubicBezTo>
                      <a:pt x="0" y="3582"/>
                      <a:pt x="3582" y="0"/>
                      <a:pt x="8000" y="0"/>
                    </a:cubicBezTo>
                    <a:close/>
                  </a:path>
                </a:pathLst>
              </a:custGeom>
              <a:solidFill>
                <a:srgbClr val="EAF5FC"/>
              </a:solidFill>
              <a:ln w="9525">
                <a:solidFill>
                  <a:srgbClr val="C7DCE8"/>
                </a:solidFill>
              </a:ln>
            </p:spPr>
          </p:sp>
          <p:sp>
            <p:nvSpPr>
              <p:cNvPr id="23" name="Panel tech" descr="s22">
                <a:extLst>
                  <a:ext uri="{FF2B5EF4-FFF2-40B4-BE49-F238E27FC236}">
                    <ns2:creationId id="{8C8B85AB-D1A9-411D-AE6F-DE9A257041C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243864" y="9748391"/>
                <a:ext cx="1786830" cy="1487686"/>
              </a:xfrm>
              <a:custGeom>
                <a:avLst/>
                <a:gdLst/>
                <a:ahLst/>
                <a:cxnLst/>
                <a:rect l="0" t="0" r="r" b="b"/>
                <a:pathLst>
                  <a:path w="187594" h="156188">
                    <a:moveTo>
                      <a:pt x="6000" y="0"/>
                    </a:moveTo>
                    <a:lnTo>
                      <a:pt x="181594" y="0"/>
                    </a:lnTo>
                    <a:cubicBezTo>
                      <a:pt x="184907" y="0"/>
                      <a:pt x="187594" y="2686"/>
                      <a:pt x="187594" y="6000"/>
                    </a:cubicBezTo>
                    <a:lnTo>
                      <a:pt x="187594" y="149188"/>
                    </a:lnTo>
                    <a:cubicBezTo>
                      <a:pt x="187594" y="153053"/>
                      <a:pt x="184460" y="156188"/>
                      <a:pt x="180594" y="156188"/>
                    </a:cubicBezTo>
                    <a:lnTo>
                      <a:pt x="7000" y="156188"/>
                    </a:lnTo>
                    <a:cubicBezTo>
                      <a:pt x="3134" y="156188"/>
                      <a:pt x="0" y="153053"/>
                      <a:pt x="0" y="149188"/>
                    </a:cubicBezTo>
                    <a:lnTo>
                      <a:pt x="0" y="6000"/>
                    </a:lnTo>
                    <a:cubicBezTo>
                      <a:pt x="0" y="2686"/>
                      <a:pt x="2686" y="0"/>
                      <a:pt x="6000" y="0"/>
                    </a:cubicBezTo>
                    <a:close/>
                  </a:path>
                </a:pathLst>
              </a:custGeom>
              <a:solidFill>
                <a:srgbClr val="DCEEF9"/>
              </a:solidFill>
              <a:ln w="0">
                <a:noFill/>
              </a:ln>
            </p:spPr>
          </p:sp>
          <p:sp>
            <p:nvSpPr>
              <p:cNvPr id="64" name="Stage connector" descr="s63">
                <a:extLst>
                  <a:ext uri="{FF2B5EF4-FFF2-40B4-BE49-F238E27FC236}">
                    <ns2:creationId id="{B865A8D2-0939-4FB1-AB85-97A6FA4CD5B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1040219" y="9348341"/>
                <a:ext cx="104775" cy="171450"/>
              </a:xfrm>
              <a:custGeom>
                <a:pathLst>
                  <a:path w="104775" h="171450">
                    <a:moveTo>
                      <a:pt x="0" y="51435"/>
                    </a:moveTo>
                    <a:lnTo>
                      <a:pt x="57626" y="51435"/>
                    </a:lnTo>
                    <a:lnTo>
                      <a:pt x="57626" y="0"/>
                    </a:lnTo>
                    <a:lnTo>
                      <a:pt x="104775" y="85725"/>
                    </a:lnTo>
                    <a:lnTo>
                      <a:pt x="57626" y="171450"/>
                    </a:lnTo>
                    <a:lnTo>
                      <a:pt x="57626" y="120015"/>
                    </a:lnTo>
                    <a:lnTo>
                      <a:pt x="0" y="120015"/>
                    </a:lnTo>
                    <a:close/>
                  </a:path>
                </a:pathLst>
              </a:custGeom>
              <a:solidFill>
                <a:srgbClr val="147BA7"/>
              </a:solidFill>
              <a:ln w="0">
                <a:noFill/>
              </a:ln>
            </p:spPr>
          </p:sp>
          <p:pic>
            <p:nvPicPr>
              <p:cNvPr id="528" name="icon-scan" descr="s126"/>
              <p:cNvPicPr>
                <a:picLocks noChangeAspect="1"/>
              </p:cNvPicPr>
              <p:nvPr/>
            </p:nvPicPr>
            <p:blipFill>
              <a:blip r:embed="R8b0359b7fc9e475a">
                <a:extLst>
                  <a:ext uri="{96DAC541-7B7A-43D3-8B79-37D633B846F1}">
                    <ns4:svgBlip r:embed="Rd8c012d6541b4d67"/>
                  </a:ext>
                </a:extLst>
              </a:blip>
              <a:stretch/>
            </p:blipFill>
            <p:spPr>
              <a:xfrm>
                <a:off x="9899154" y="9195941"/>
                <a:ext cx="476250" cy="476250"/>
              </a:xfrm>
              <a:prstGeom prst="rect">
                <a:avLst/>
              </a:prstGeom>
            </p:spPr>
          </p:pic>
          <p:sp>
            <p:nvSpPr>
              <p:cNvPr id="351" name="R1 · Read" descr="t217">
                <a:extLst>
                  <a:ext uri="{FF2B5EF4-FFF2-40B4-BE49-F238E27FC236}">
                    <ns2:creationId id="{1E40FD29-BA55-4DDF-8037-F58AD287FF0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301424" y="6753447"/>
                <a:ext cx="1023977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1" i="0" spc="0" kern="0" dirty="0">
                    <a:solidFill>
                      <a:srgbClr val="147ba7"/>
                    </a:solidFill>
                    <a:latin typeface="Barlow Condensed"/>
                    <a:ea typeface="Barlow Condensed"/>
                    <a:cs typeface="Barlow Condensed"/>
                  </a:rPr>
                  <a:t>R1 · Read</a:t>
                </a:r>
                <a:endParaRPr lang="en-GB" sz="2400"/>
              </a:p>
            </p:txBody>
          </p:sp>
          <p:sp>
            <p:nvSpPr>
              <p:cNvPr id="352" name="scans" descr="t218">
                <a:extLst>
                  <a:ext uri="{FF2B5EF4-FFF2-40B4-BE49-F238E27FC236}">
                    <ns2:creationId id="{14111709-0662-4B0F-901E-5878F44FD22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301424" y="7086834"/>
                <a:ext cx="712776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1" i="0" spc="0" kern="0" dirty="0">
                    <a:solidFill>
                      <a:srgbClr val="147ba7"/>
                    </a:solidFill>
                    <a:latin typeface="Barlow Condensed"/>
                    <a:ea typeface="Barlow Condensed"/>
                    <a:cs typeface="Barlow Condensed"/>
                  </a:rPr>
                  <a:t>scans</a:t>
                </a:r>
                <a:endParaRPr lang="en-GB" sz="2400"/>
              </a:p>
            </p:txBody>
          </p:sp>
          <p:sp>
            <p:nvSpPr>
              <p:cNvPr id="353" name="Convert" descr="t219">
                <a:extLst>
                  <a:ext uri="{FF2B5EF4-FFF2-40B4-BE49-F238E27FC236}">
                    <ns2:creationId id="{975254C2-2870-4F22-8D73-0EC4EB5EEA3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301068" y="7810671"/>
                <a:ext cx="852071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Convert</a:t>
                </a:r>
                <a:endParaRPr lang="en-GB" sz="2400"/>
              </a:p>
            </p:txBody>
          </p:sp>
          <p:sp>
            <p:nvSpPr>
              <p:cNvPr id="354" name="scanned pages" descr="t220">
                <a:extLst>
                  <a:ext uri="{FF2B5EF4-FFF2-40B4-BE49-F238E27FC236}">
                    <ns2:creationId id="{8AF36AE4-C3C7-466A-98D5-432F45C43EF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301068" y="8134737"/>
                <a:ext cx="1611634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scanned pages</a:t>
                </a:r>
                <a:endParaRPr lang="en-GB" sz="2400"/>
              </a:p>
            </p:txBody>
          </p:sp>
          <p:sp>
            <p:nvSpPr>
              <p:cNvPr id="355" name="into searchable" descr="t221">
                <a:extLst>
                  <a:ext uri="{FF2B5EF4-FFF2-40B4-BE49-F238E27FC236}">
                    <ns2:creationId id="{ACB766DE-8021-46C8-87DC-C8B71C95534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301068" y="8448744"/>
                <a:ext cx="1654914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into searchable</a:t>
                </a:r>
                <a:endParaRPr lang="en-GB" sz="2400"/>
              </a:p>
            </p:txBody>
          </p:sp>
          <p:sp>
            <p:nvSpPr>
              <p:cNvPr id="356" name="text" descr="t222">
                <a:extLst>
                  <a:ext uri="{FF2B5EF4-FFF2-40B4-BE49-F238E27FC236}">
                    <ns2:creationId id="{4BC528BF-A6FF-42A7-814F-3F6465EFD6B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301424" y="8772798"/>
                <a:ext cx="458573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text</a:t>
                </a:r>
                <a:endParaRPr lang="en-GB" sz="2400"/>
              </a:p>
            </p:txBody>
          </p:sp>
          <p:sp>
            <p:nvSpPr>
              <p:cNvPr id="357" name="PP-OCRv5" descr="t223">
                <a:extLst>
                  <a:ext uri="{FF2B5EF4-FFF2-40B4-BE49-F238E27FC236}">
                    <ns2:creationId id="{05151B61-C4BC-4ECA-8E24-A869D90912B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301424" y="9801320"/>
                <a:ext cx="1072137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PP-OCRv5</a:t>
                </a:r>
                <a:endParaRPr lang="en-GB" sz="2400"/>
              </a:p>
            </p:txBody>
          </p:sp>
        </p:grpSp>
        <p:grpSp>
          <p:nvGrpSpPr>
            <p:cNvPr id="547" name="R2 · Multiple scales"/>
            <p:cNvGrpSpPr/>
            <p:nvPr/>
          </p:nvGrpSpPr>
          <p:grpSpPr>
            <a:xfrm>
              <a:off x="11154519" y="6671667"/>
              <a:ext cx="1806029" cy="4573935"/>
              <a:chOff x="11154519" y="6671667"/>
              <a:chExt cx="1806029" cy="4573935"/>
            </a:xfrm>
          </p:grpSpPr>
          <p:sp>
            <p:nvSpPr>
              <p:cNvPr id="24" name="Panel stage doc" descr="s23">
                <a:extLst>
                  <a:ext uri="{FF2B5EF4-FFF2-40B4-BE49-F238E27FC236}">
                    <ns2:creationId id="{2F3D5BA1-3CCE-4E9F-A24D-089FD4A43E7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1154519" y="6671667"/>
                <a:ext cx="1806029" cy="4573935"/>
              </a:xfrm>
              <a:custGeom>
                <a:avLst/>
                <a:gdLst/>
                <a:ahLst/>
                <a:cxnLst/>
                <a:rect l="0" t="0" r="r" b="b"/>
                <a:pathLst>
                  <a:path w="189609" h="480203">
                    <a:moveTo>
                      <a:pt x="8000" y="0"/>
                    </a:moveTo>
                    <a:lnTo>
                      <a:pt x="181609" y="0"/>
                    </a:lnTo>
                    <a:cubicBezTo>
                      <a:pt x="186028" y="0"/>
                      <a:pt x="189609" y="3582"/>
                      <a:pt x="189609" y="8000"/>
                    </a:cubicBezTo>
                    <a:lnTo>
                      <a:pt x="189609" y="472203"/>
                    </a:lnTo>
                    <a:cubicBezTo>
                      <a:pt x="189609" y="476621"/>
                      <a:pt x="186028" y="480203"/>
                      <a:pt x="181609" y="480203"/>
                    </a:cubicBezTo>
                    <a:lnTo>
                      <a:pt x="8000" y="480203"/>
                    </a:lnTo>
                    <a:cubicBezTo>
                      <a:pt x="3582" y="480203"/>
                      <a:pt x="0" y="476621"/>
                      <a:pt x="0" y="472203"/>
                    </a:cubicBezTo>
                    <a:lnTo>
                      <a:pt x="0" y="8000"/>
                    </a:lnTo>
                    <a:cubicBezTo>
                      <a:pt x="0" y="3582"/>
                      <a:pt x="3582" y="0"/>
                      <a:pt x="8000" y="0"/>
                    </a:cubicBezTo>
                    <a:close/>
                  </a:path>
                </a:pathLst>
              </a:custGeom>
              <a:solidFill>
                <a:srgbClr val="EAF5FC"/>
              </a:solidFill>
              <a:ln w="9525">
                <a:solidFill>
                  <a:srgbClr val="C7DCE8"/>
                </a:solidFill>
              </a:ln>
            </p:spPr>
          </p:sp>
          <p:sp>
            <p:nvSpPr>
              <p:cNvPr id="25" name="Panel tech" descr="s24">
                <a:extLst>
                  <a:ext uri="{FF2B5EF4-FFF2-40B4-BE49-F238E27FC236}">
                    <ns2:creationId id="{BD634465-9ADC-464B-AAB1-09E29BD0FA8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1164044" y="9748391"/>
                <a:ext cx="1786979" cy="1487686"/>
              </a:xfrm>
              <a:custGeom>
                <a:avLst/>
                <a:gdLst/>
                <a:ahLst/>
                <a:cxnLst/>
                <a:rect l="0" t="0" r="r" b="b"/>
                <a:pathLst>
                  <a:path w="187609" h="156188">
                    <a:moveTo>
                      <a:pt x="6000" y="0"/>
                    </a:moveTo>
                    <a:lnTo>
                      <a:pt x="181609" y="0"/>
                    </a:lnTo>
                    <a:cubicBezTo>
                      <a:pt x="184923" y="0"/>
                      <a:pt x="187609" y="2686"/>
                      <a:pt x="187609" y="6000"/>
                    </a:cubicBezTo>
                    <a:lnTo>
                      <a:pt x="187609" y="149188"/>
                    </a:lnTo>
                    <a:cubicBezTo>
                      <a:pt x="187609" y="153053"/>
                      <a:pt x="184475" y="156188"/>
                      <a:pt x="180609" y="156188"/>
                    </a:cubicBezTo>
                    <a:lnTo>
                      <a:pt x="7000" y="156188"/>
                    </a:lnTo>
                    <a:cubicBezTo>
                      <a:pt x="3134" y="156188"/>
                      <a:pt x="0" y="153053"/>
                      <a:pt x="0" y="149188"/>
                    </a:cubicBezTo>
                    <a:lnTo>
                      <a:pt x="0" y="6000"/>
                    </a:lnTo>
                    <a:cubicBezTo>
                      <a:pt x="0" y="2686"/>
                      <a:pt x="2686" y="0"/>
                      <a:pt x="6000" y="0"/>
                    </a:cubicBezTo>
                    <a:close/>
                  </a:path>
                </a:pathLst>
              </a:custGeom>
              <a:solidFill>
                <a:srgbClr val="DCEEF9"/>
              </a:solidFill>
              <a:ln w="0">
                <a:noFill/>
              </a:ln>
            </p:spPr>
          </p:sp>
          <p:sp>
            <p:nvSpPr>
              <p:cNvPr id="65" name="Stage connector" descr="s64">
                <a:extLst>
                  <a:ext uri="{FF2B5EF4-FFF2-40B4-BE49-F238E27FC236}">
                    <ns2:creationId id="{C4877537-C89D-4DB8-BAAA-984906B98E9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2960548" y="9348341"/>
                <a:ext cx="104775" cy="171450"/>
              </a:xfrm>
              <a:custGeom>
                <a:pathLst>
                  <a:path w="104775" h="171450">
                    <a:moveTo>
                      <a:pt x="0" y="51435"/>
                    </a:moveTo>
                    <a:lnTo>
                      <a:pt x="57626" y="51435"/>
                    </a:lnTo>
                    <a:lnTo>
                      <a:pt x="57626" y="0"/>
                    </a:lnTo>
                    <a:lnTo>
                      <a:pt x="104775" y="85725"/>
                    </a:lnTo>
                    <a:lnTo>
                      <a:pt x="57626" y="171450"/>
                    </a:lnTo>
                    <a:lnTo>
                      <a:pt x="57626" y="120015"/>
                    </a:lnTo>
                    <a:lnTo>
                      <a:pt x="0" y="120015"/>
                    </a:lnTo>
                    <a:close/>
                  </a:path>
                </a:pathLst>
              </a:custGeom>
              <a:solidFill>
                <a:srgbClr val="147BA7"/>
              </a:solidFill>
              <a:ln w="0">
                <a:noFill/>
              </a:ln>
            </p:spPr>
          </p:sp>
          <p:pic>
            <p:nvPicPr>
              <p:cNvPr id="529" name="icon-layers" descr="s127"/>
              <p:cNvPicPr>
                <a:picLocks noChangeAspect="1"/>
              </p:cNvPicPr>
              <p:nvPr/>
            </p:nvPicPr>
            <p:blipFill>
              <a:blip r:embed="Rf5f1f5d0a3ca45c7">
                <a:extLst>
                  <a:ext uri="{96DAC541-7B7A-43D3-8B79-37D633B846F1}">
                    <ns4:svgBlip r:embed="R5c8adca68ae34b55"/>
                  </a:ext>
                </a:extLst>
              </a:blip>
              <a:stretch/>
            </p:blipFill>
            <p:spPr>
              <a:xfrm>
                <a:off x="11819334" y="9195941"/>
                <a:ext cx="476250" cy="476250"/>
              </a:xfrm>
              <a:prstGeom prst="rect">
                <a:avLst/>
              </a:prstGeom>
            </p:spPr>
          </p:pic>
          <p:sp>
            <p:nvSpPr>
              <p:cNvPr id="358" name="R2 · Multiple" descr="t224">
                <a:extLst>
                  <a:ext uri="{FF2B5EF4-FFF2-40B4-BE49-F238E27FC236}">
                    <ns2:creationId id="{12B626FA-DDBF-4879-84BC-10ED807B617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1221544" y="6753447"/>
                <a:ext cx="1380289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1" i="0" spc="0" kern="0" dirty="0">
                    <a:solidFill>
                      <a:srgbClr val="147ba7"/>
                    </a:solidFill>
                    <a:latin typeface="Barlow Condensed"/>
                    <a:ea typeface="Barlow Condensed"/>
                    <a:cs typeface="Barlow Condensed"/>
                  </a:rPr>
                  <a:t>R2 · Multiple</a:t>
                </a:r>
                <a:endParaRPr lang="en-GB" sz="2400"/>
              </a:p>
            </p:txBody>
          </p:sp>
          <p:sp>
            <p:nvSpPr>
              <p:cNvPr id="359" name="scales" descr="t225">
                <a:extLst>
                  <a:ext uri="{FF2B5EF4-FFF2-40B4-BE49-F238E27FC236}">
                    <ns2:creationId id="{D174F3C7-55A7-495E-8087-FB6E1A9F39A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1221189" y="7086834"/>
                <a:ext cx="772823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1" i="0" spc="0" kern="0" dirty="0">
                    <a:solidFill>
                      <a:srgbClr val="147ba7"/>
                    </a:solidFill>
                    <a:latin typeface="Barlow Condensed"/>
                    <a:ea typeface="Barlow Condensed"/>
                    <a:cs typeface="Barlow Condensed"/>
                  </a:rPr>
                  <a:t>scales</a:t>
                </a:r>
                <a:endParaRPr lang="en-GB" sz="2400"/>
              </a:p>
            </p:txBody>
          </p:sp>
          <p:sp>
            <p:nvSpPr>
              <p:cNvPr id="360" name="Represent" descr="t226">
                <a:extLst>
                  <a:ext uri="{FF2B5EF4-FFF2-40B4-BE49-F238E27FC236}">
                    <ns2:creationId id="{05277DE7-2E2A-4DBC-9EEA-D14A627486A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1221544" y="7810671"/>
                <a:ext cx="1106580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Represent</a:t>
                </a:r>
                <a:endParaRPr lang="en-GB" sz="2400"/>
              </a:p>
            </p:txBody>
          </p:sp>
          <p:sp>
            <p:nvSpPr>
              <p:cNvPr id="361" name="evidence at" descr="t227">
                <a:extLst>
                  <a:ext uri="{FF2B5EF4-FFF2-40B4-BE49-F238E27FC236}">
                    <ns2:creationId id="{9829177C-2525-4210-AE66-A30211636C7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1221189" y="8134737"/>
                <a:ext cx="1255322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evidence at</a:t>
                </a:r>
                <a:endParaRPr lang="en-GB" sz="2400"/>
              </a:p>
            </p:txBody>
          </p:sp>
          <p:sp>
            <p:nvSpPr>
              <p:cNvPr id="362" name="multiple scales" descr="t228">
                <a:extLst>
                  <a:ext uri="{FF2B5EF4-FFF2-40B4-BE49-F238E27FC236}">
                    <ns2:creationId id="{807009BD-1C8D-40C8-8728-4104C0A6073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1221189" y="8448744"/>
                <a:ext cx="1609501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multiple scales</a:t>
                </a:r>
                <a:endParaRPr lang="en-GB" sz="2400"/>
              </a:p>
            </p:txBody>
          </p:sp>
          <p:sp>
            <p:nvSpPr>
              <p:cNvPr id="363" name="Pages, sections," descr="t229">
                <a:extLst>
                  <a:ext uri="{FF2B5EF4-FFF2-40B4-BE49-F238E27FC236}">
                    <ns2:creationId id="{C745361E-EDED-4A7C-AFCF-336FF564D90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1221189" y="9801320"/>
                <a:ext cx="1724106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Pages, sections,</a:t>
                </a:r>
                <a:endParaRPr lang="en-GB" sz="2400"/>
              </a:p>
            </p:txBody>
          </p:sp>
          <p:sp>
            <p:nvSpPr>
              <p:cNvPr id="364" name="clauses," descr="t230">
                <a:extLst>
                  <a:ext uri="{FF2B5EF4-FFF2-40B4-BE49-F238E27FC236}">
                    <ns2:creationId id="{69633F5F-F83F-44E9-B605-3566205D881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1221189" y="10134708"/>
                <a:ext cx="895352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clauses,</a:t>
                </a:r>
                <a:endParaRPr lang="en-GB" sz="2400"/>
              </a:p>
            </p:txBody>
          </p:sp>
          <p:sp>
            <p:nvSpPr>
              <p:cNvPr id="365" name="microchunks," descr="t231">
                <a:extLst>
                  <a:ext uri="{FF2B5EF4-FFF2-40B4-BE49-F238E27FC236}">
                    <ns2:creationId id="{893A1442-9251-47BE-9261-6840603F111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1221544" y="10468108"/>
                <a:ext cx="1453745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microchunks,</a:t>
                </a:r>
                <a:endParaRPr lang="en-GB" sz="2400"/>
              </a:p>
            </p:txBody>
          </p:sp>
          <p:sp>
            <p:nvSpPr>
              <p:cNvPr id="366" name="tables" descr="t232">
                <a:extLst>
                  <a:ext uri="{FF2B5EF4-FFF2-40B4-BE49-F238E27FC236}">
                    <ns2:creationId id="{C49EF922-1EAE-4E2B-ADF1-9894CC6F6DE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1221189" y="10792161"/>
                <a:ext cx="685954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tables</a:t>
                </a:r>
                <a:endParaRPr lang="en-GB" sz="2400"/>
              </a:p>
            </p:txBody>
          </p:sp>
        </p:grpSp>
        <p:grpSp>
          <p:nvGrpSpPr>
            <p:cNvPr id="546" name="R3 · Find exact terms too"/>
            <p:cNvGrpSpPr/>
            <p:nvPr/>
          </p:nvGrpSpPr>
          <p:grpSpPr>
            <a:xfrm>
              <a:off x="13074848" y="6671667"/>
              <a:ext cx="1806029" cy="4573935"/>
              <a:chOff x="13074848" y="6671667"/>
              <a:chExt cx="1806029" cy="4573935"/>
            </a:xfrm>
          </p:grpSpPr>
          <p:sp>
            <p:nvSpPr>
              <p:cNvPr id="26" name="Panel stage retr" descr="s25">
                <a:extLst>
                  <a:ext uri="{FF2B5EF4-FFF2-40B4-BE49-F238E27FC236}">
                    <ns2:creationId id="{AAF18DEB-7940-4BE9-A640-DBD253D9C4E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074848" y="6671667"/>
                <a:ext cx="1806029" cy="4573935"/>
              </a:xfrm>
              <a:custGeom>
                <a:avLst/>
                <a:gdLst/>
                <a:ahLst/>
                <a:cxnLst/>
                <a:rect l="0" t="0" r="r" b="b"/>
                <a:pathLst>
                  <a:path w="189609" h="480203">
                    <a:moveTo>
                      <a:pt x="8000" y="0"/>
                    </a:moveTo>
                    <a:lnTo>
                      <a:pt x="181609" y="0"/>
                    </a:lnTo>
                    <a:cubicBezTo>
                      <a:pt x="186028" y="0"/>
                      <a:pt x="189609" y="3582"/>
                      <a:pt x="189609" y="8000"/>
                    </a:cubicBezTo>
                    <a:lnTo>
                      <a:pt x="189609" y="472203"/>
                    </a:lnTo>
                    <a:cubicBezTo>
                      <a:pt x="189609" y="476621"/>
                      <a:pt x="186028" y="480203"/>
                      <a:pt x="181609" y="480203"/>
                    </a:cubicBezTo>
                    <a:lnTo>
                      <a:pt x="8000" y="480203"/>
                    </a:lnTo>
                    <a:cubicBezTo>
                      <a:pt x="3582" y="480203"/>
                      <a:pt x="0" y="476621"/>
                      <a:pt x="0" y="472203"/>
                    </a:cubicBezTo>
                    <a:lnTo>
                      <a:pt x="0" y="8000"/>
                    </a:lnTo>
                    <a:cubicBezTo>
                      <a:pt x="0" y="3582"/>
                      <a:pt x="3582" y="0"/>
                      <a:pt x="8000" y="0"/>
                    </a:cubicBezTo>
                    <a:close/>
                  </a:path>
                </a:pathLst>
              </a:custGeom>
              <a:solidFill>
                <a:srgbClr val="EEF7E9"/>
              </a:solidFill>
              <a:ln w="9525">
                <a:solidFill>
                  <a:srgbClr val="C7DCE8"/>
                </a:solidFill>
              </a:ln>
            </p:spPr>
          </p:sp>
          <p:sp>
            <p:nvSpPr>
              <p:cNvPr id="27" name="Panel tech" descr="s26">
                <a:extLst>
                  <a:ext uri="{FF2B5EF4-FFF2-40B4-BE49-F238E27FC236}">
                    <ns2:creationId id="{58E832C5-237A-42D8-B0F3-DAF10A08113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084373" y="9748391"/>
                <a:ext cx="1786979" cy="1487686"/>
              </a:xfrm>
              <a:custGeom>
                <a:avLst/>
                <a:gdLst/>
                <a:ahLst/>
                <a:cxnLst/>
                <a:rect l="0" t="0" r="r" b="b"/>
                <a:pathLst>
                  <a:path w="187609" h="156188">
                    <a:moveTo>
                      <a:pt x="6000" y="0"/>
                    </a:moveTo>
                    <a:lnTo>
                      <a:pt x="181609" y="0"/>
                    </a:lnTo>
                    <a:cubicBezTo>
                      <a:pt x="184923" y="0"/>
                      <a:pt x="187609" y="2686"/>
                      <a:pt x="187609" y="6000"/>
                    </a:cubicBezTo>
                    <a:lnTo>
                      <a:pt x="187609" y="149188"/>
                    </a:lnTo>
                    <a:cubicBezTo>
                      <a:pt x="187609" y="153053"/>
                      <a:pt x="184475" y="156188"/>
                      <a:pt x="180609" y="156188"/>
                    </a:cubicBezTo>
                    <a:lnTo>
                      <a:pt x="7000" y="156188"/>
                    </a:lnTo>
                    <a:cubicBezTo>
                      <a:pt x="3134" y="156188"/>
                      <a:pt x="0" y="153053"/>
                      <a:pt x="0" y="149188"/>
                    </a:cubicBezTo>
                    <a:lnTo>
                      <a:pt x="0" y="6000"/>
                    </a:lnTo>
                    <a:cubicBezTo>
                      <a:pt x="0" y="2686"/>
                      <a:pt x="2686" y="0"/>
                      <a:pt x="6000" y="0"/>
                    </a:cubicBezTo>
                    <a:close/>
                  </a:path>
                </a:pathLst>
              </a:custGeom>
              <a:solidFill>
                <a:srgbClr val="E1EFD9"/>
              </a:solidFill>
              <a:ln w="0">
                <a:noFill/>
              </a:ln>
            </p:spPr>
          </p:sp>
          <p:sp>
            <p:nvSpPr>
              <p:cNvPr id="66" name="Stage connector" descr="s65">
                <a:extLst>
                  <a:ext uri="{FF2B5EF4-FFF2-40B4-BE49-F238E27FC236}">
                    <ns2:creationId id="{26EEC036-6D2E-44E6-9081-DCB8F424121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4880878" y="9348341"/>
                <a:ext cx="104775" cy="171450"/>
              </a:xfrm>
              <a:custGeom>
                <a:pathLst>
                  <a:path w="104775" h="171450">
                    <a:moveTo>
                      <a:pt x="0" y="51435"/>
                    </a:moveTo>
                    <a:lnTo>
                      <a:pt x="57626" y="51435"/>
                    </a:lnTo>
                    <a:lnTo>
                      <a:pt x="57626" y="0"/>
                    </a:lnTo>
                    <a:lnTo>
                      <a:pt x="104775" y="85725"/>
                    </a:lnTo>
                    <a:lnTo>
                      <a:pt x="57626" y="171450"/>
                    </a:lnTo>
                    <a:lnTo>
                      <a:pt x="57626" y="120015"/>
                    </a:lnTo>
                    <a:lnTo>
                      <a:pt x="0" y="120015"/>
                    </a:lnTo>
                    <a:close/>
                  </a:path>
                </a:pathLst>
              </a:custGeom>
              <a:solidFill>
                <a:srgbClr val="3B782D"/>
              </a:solidFill>
              <a:ln w="0">
                <a:noFill/>
              </a:ln>
            </p:spPr>
          </p:sp>
          <p:pic>
            <p:nvPicPr>
              <p:cNvPr id="530" name="icon-search" descr="s128"/>
              <p:cNvPicPr>
                <a:picLocks noChangeAspect="1"/>
              </p:cNvPicPr>
              <p:nvPr/>
            </p:nvPicPr>
            <p:blipFill>
              <a:blip r:embed="Re084cc728f2341d5">
                <a:extLst>
                  <a:ext uri="{96DAC541-7B7A-43D3-8B79-37D633B846F1}">
                    <ns4:svgBlip r:embed="R36eab8183e3c4004"/>
                  </a:ext>
                </a:extLst>
              </a:blip>
              <a:stretch/>
            </p:blipFill>
            <p:spPr>
              <a:xfrm>
                <a:off x="13739664" y="9195941"/>
                <a:ext cx="476250" cy="476250"/>
              </a:xfrm>
              <a:prstGeom prst="rect">
                <a:avLst/>
              </a:prstGeom>
            </p:spPr>
          </p:pic>
          <p:sp>
            <p:nvSpPr>
              <p:cNvPr id="367" name="R3 · Find exact" descr="t233">
                <a:extLst>
                  <a:ext uri="{FF2B5EF4-FFF2-40B4-BE49-F238E27FC236}">
                    <ns2:creationId id="{C5DCA467-8417-40A1-B990-FA1FEB75A93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141607" y="6753447"/>
                <a:ext cx="1673813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1" i="0" spc="0" kern="0" dirty="0">
                    <a:solidFill>
                      <a:srgbClr val="3b782d"/>
                    </a:solidFill>
                    <a:latin typeface="Barlow Condensed"/>
                    <a:ea typeface="Barlow Condensed"/>
                    <a:cs typeface="Barlow Condensed"/>
                  </a:rPr>
                  <a:t>R3 · Find exact</a:t>
                </a:r>
                <a:endParaRPr lang="en-GB" sz="2400"/>
              </a:p>
            </p:txBody>
          </p:sp>
          <p:sp>
            <p:nvSpPr>
              <p:cNvPr id="368" name="terms too" descr="t234">
                <a:extLst>
                  <a:ext uri="{FF2B5EF4-FFF2-40B4-BE49-F238E27FC236}">
                    <ns2:creationId id="{3446023A-BA0A-4E67-AB0A-52808CA2362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141607" y="7086834"/>
                <a:ext cx="1127916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1" i="0" spc="0" kern="0" dirty="0">
                    <a:solidFill>
                      <a:srgbClr val="3b782d"/>
                    </a:solidFill>
                    <a:latin typeface="Barlow Condensed"/>
                    <a:ea typeface="Barlow Condensed"/>
                    <a:cs typeface="Barlow Condensed"/>
                  </a:rPr>
                  <a:t>terms too</a:t>
                </a:r>
                <a:endParaRPr lang="en-GB" sz="2400"/>
              </a:p>
            </p:txBody>
          </p:sp>
          <p:sp>
            <p:nvSpPr>
              <p:cNvPr id="369" name="Combine" descr="t235">
                <a:extLst>
                  <a:ext uri="{FF2B5EF4-FFF2-40B4-BE49-F238E27FC236}">
                    <ns2:creationId id="{AB9545B0-2609-4331-8F0C-5F8D243C1CB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141963" y="7810671"/>
                <a:ext cx="959055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Combine</a:t>
                </a:r>
                <a:endParaRPr lang="en-GB" sz="2400"/>
              </a:p>
            </p:txBody>
          </p:sp>
          <p:sp>
            <p:nvSpPr>
              <p:cNvPr id="370" name="semantic and" descr="t236">
                <a:extLst>
                  <a:ext uri="{FF2B5EF4-FFF2-40B4-BE49-F238E27FC236}">
                    <ns2:creationId id="{14E963EC-9658-4950-B632-45A1CC95FB3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141963" y="8134737"/>
                <a:ext cx="1460148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semantic and</a:t>
                </a:r>
                <a:endParaRPr lang="en-GB" sz="2400"/>
              </a:p>
            </p:txBody>
          </p:sp>
          <p:sp>
            <p:nvSpPr>
              <p:cNvPr id="371" name="exact-word" descr="t237">
                <a:extLst>
                  <a:ext uri="{FF2B5EF4-FFF2-40B4-BE49-F238E27FC236}">
                    <ns2:creationId id="{17356B61-5C41-4F8C-9DF8-DB0FFB5118F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141607" y="8448744"/>
                <a:ext cx="1225756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exact-word</a:t>
                </a:r>
                <a:endParaRPr lang="en-GB" sz="2400"/>
              </a:p>
            </p:txBody>
          </p:sp>
          <p:sp>
            <p:nvSpPr>
              <p:cNvPr id="372" name="search" descr="t238">
                <a:extLst>
                  <a:ext uri="{FF2B5EF4-FFF2-40B4-BE49-F238E27FC236}">
                    <ns2:creationId id="{B1757F31-21B5-4DA4-A629-4F7232542B7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141607" y="8772798"/>
                <a:ext cx="759411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search</a:t>
                </a:r>
                <a:endParaRPr lang="en-GB" sz="2400"/>
              </a:p>
            </p:txBody>
          </p:sp>
          <p:sp>
            <p:nvSpPr>
              <p:cNvPr id="373" name="BM25 + RRF" descr="t239">
                <a:extLst>
                  <a:ext uri="{FF2B5EF4-FFF2-40B4-BE49-F238E27FC236}">
                    <ns2:creationId id="{892F8A48-B547-48B8-8B91-C83F78D02C0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141963" y="9801320"/>
                <a:ext cx="1249835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BM25 + RRF</a:t>
                </a:r>
                <a:endParaRPr lang="en-GB" sz="2400"/>
              </a:p>
            </p:txBody>
          </p:sp>
        </p:grpSp>
        <p:grpSp>
          <p:nvGrpSpPr>
            <p:cNvPr id="545" name="R4 · Prioritize better evidence"/>
            <p:cNvGrpSpPr/>
            <p:nvPr/>
          </p:nvGrpSpPr>
          <p:grpSpPr>
            <a:xfrm>
              <a:off x="14995178" y="6671667"/>
              <a:ext cx="1806029" cy="4573935"/>
              <a:chOff x="14995178" y="6671667"/>
              <a:chExt cx="1806029" cy="4573935"/>
            </a:xfrm>
          </p:grpSpPr>
          <p:sp>
            <p:nvSpPr>
              <p:cNvPr id="28" name="Panel stage retr" descr="s27">
                <a:extLst>
                  <a:ext uri="{FF2B5EF4-FFF2-40B4-BE49-F238E27FC236}">
                    <ns2:creationId id="{1459A333-07DF-4C1B-AF45-AF43D956148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4995178" y="6671667"/>
                <a:ext cx="1806029" cy="4573935"/>
              </a:xfrm>
              <a:custGeom>
                <a:avLst/>
                <a:gdLst/>
                <a:ahLst/>
                <a:cxnLst/>
                <a:rect l="0" t="0" r="r" b="b"/>
                <a:pathLst>
                  <a:path w="189609" h="480203">
                    <a:moveTo>
                      <a:pt x="8000" y="0"/>
                    </a:moveTo>
                    <a:lnTo>
                      <a:pt x="181609" y="0"/>
                    </a:lnTo>
                    <a:cubicBezTo>
                      <a:pt x="186028" y="0"/>
                      <a:pt x="189609" y="3582"/>
                      <a:pt x="189609" y="8000"/>
                    </a:cubicBezTo>
                    <a:lnTo>
                      <a:pt x="189609" y="472203"/>
                    </a:lnTo>
                    <a:cubicBezTo>
                      <a:pt x="189609" y="476621"/>
                      <a:pt x="186028" y="480203"/>
                      <a:pt x="181609" y="480203"/>
                    </a:cubicBezTo>
                    <a:lnTo>
                      <a:pt x="8000" y="480203"/>
                    </a:lnTo>
                    <a:cubicBezTo>
                      <a:pt x="3582" y="480203"/>
                      <a:pt x="0" y="476621"/>
                      <a:pt x="0" y="472203"/>
                    </a:cubicBezTo>
                    <a:lnTo>
                      <a:pt x="0" y="8000"/>
                    </a:lnTo>
                    <a:cubicBezTo>
                      <a:pt x="0" y="3582"/>
                      <a:pt x="3582" y="0"/>
                      <a:pt x="8000" y="0"/>
                    </a:cubicBezTo>
                    <a:close/>
                  </a:path>
                </a:pathLst>
              </a:custGeom>
              <a:solidFill>
                <a:srgbClr val="EEF7E9"/>
              </a:solidFill>
              <a:ln w="9525">
                <a:solidFill>
                  <a:srgbClr val="C7DCE8"/>
                </a:solidFill>
              </a:ln>
            </p:spPr>
          </p:sp>
          <p:sp>
            <p:nvSpPr>
              <p:cNvPr id="29" name="Panel tech" descr="s28">
                <a:extLst>
                  <a:ext uri="{FF2B5EF4-FFF2-40B4-BE49-F238E27FC236}">
                    <ns2:creationId id="{85D19033-C198-4180-A838-9446916D3BD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5004703" y="9748391"/>
                <a:ext cx="1786979" cy="1487686"/>
              </a:xfrm>
              <a:custGeom>
                <a:avLst/>
                <a:gdLst/>
                <a:ahLst/>
                <a:cxnLst/>
                <a:rect l="0" t="0" r="r" b="b"/>
                <a:pathLst>
                  <a:path w="187609" h="156188">
                    <a:moveTo>
                      <a:pt x="6000" y="0"/>
                    </a:moveTo>
                    <a:lnTo>
                      <a:pt x="181609" y="0"/>
                    </a:lnTo>
                    <a:cubicBezTo>
                      <a:pt x="184923" y="0"/>
                      <a:pt x="187609" y="2686"/>
                      <a:pt x="187609" y="6000"/>
                    </a:cubicBezTo>
                    <a:lnTo>
                      <a:pt x="187609" y="149188"/>
                    </a:lnTo>
                    <a:cubicBezTo>
                      <a:pt x="187609" y="153053"/>
                      <a:pt x="184475" y="156188"/>
                      <a:pt x="180609" y="156188"/>
                    </a:cubicBezTo>
                    <a:lnTo>
                      <a:pt x="7000" y="156188"/>
                    </a:lnTo>
                    <a:cubicBezTo>
                      <a:pt x="3134" y="156188"/>
                      <a:pt x="0" y="153053"/>
                      <a:pt x="0" y="149188"/>
                    </a:cubicBezTo>
                    <a:lnTo>
                      <a:pt x="0" y="6000"/>
                    </a:lnTo>
                    <a:cubicBezTo>
                      <a:pt x="0" y="2686"/>
                      <a:pt x="2686" y="0"/>
                      <a:pt x="6000" y="0"/>
                    </a:cubicBezTo>
                    <a:close/>
                  </a:path>
                </a:pathLst>
              </a:custGeom>
              <a:solidFill>
                <a:srgbClr val="E1EFD9"/>
              </a:solidFill>
              <a:ln w="0">
                <a:noFill/>
              </a:ln>
            </p:spPr>
          </p:sp>
          <p:sp>
            <p:nvSpPr>
              <p:cNvPr id="67" name="Stage connector" descr="s66">
                <a:extLst>
                  <a:ext uri="{FF2B5EF4-FFF2-40B4-BE49-F238E27FC236}">
                    <ns2:creationId id="{963EE052-1126-425B-ABBA-56D066FEBA8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6801207" y="9348341"/>
                <a:ext cx="104775" cy="171450"/>
              </a:xfrm>
              <a:custGeom>
                <a:pathLst>
                  <a:path w="104775" h="171450">
                    <a:moveTo>
                      <a:pt x="0" y="51435"/>
                    </a:moveTo>
                    <a:lnTo>
                      <a:pt x="57626" y="51435"/>
                    </a:lnTo>
                    <a:lnTo>
                      <a:pt x="57626" y="0"/>
                    </a:lnTo>
                    <a:lnTo>
                      <a:pt x="104775" y="85725"/>
                    </a:lnTo>
                    <a:lnTo>
                      <a:pt x="57626" y="171450"/>
                    </a:lnTo>
                    <a:lnTo>
                      <a:pt x="57626" y="120015"/>
                    </a:lnTo>
                    <a:lnTo>
                      <a:pt x="0" y="120015"/>
                    </a:lnTo>
                    <a:close/>
                  </a:path>
                </a:pathLst>
              </a:custGeom>
              <a:solidFill>
                <a:srgbClr val="3B782D"/>
              </a:solidFill>
              <a:ln w="0">
                <a:noFill/>
              </a:ln>
            </p:spPr>
          </p:sp>
          <p:pic>
            <p:nvPicPr>
              <p:cNvPr id="531" name="icon-rank" descr="s129"/>
              <p:cNvPicPr>
                <a:picLocks noChangeAspect="1"/>
              </p:cNvPicPr>
              <p:nvPr/>
            </p:nvPicPr>
            <p:blipFill>
              <a:blip r:embed="Reb52887b920e4b13">
                <a:extLst>
                  <a:ext uri="{96DAC541-7B7A-43D3-8B79-37D633B846F1}">
                    <ns4:svgBlip r:embed="R2fdb27ae523d4b6b"/>
                  </a:ext>
                </a:extLst>
              </a:blip>
              <a:stretch/>
            </p:blipFill>
            <p:spPr>
              <a:xfrm>
                <a:off x="15659993" y="9195941"/>
                <a:ext cx="476250" cy="476250"/>
              </a:xfrm>
              <a:prstGeom prst="rect">
                <a:avLst/>
              </a:prstGeom>
            </p:spPr>
          </p:pic>
          <p:sp>
            <p:nvSpPr>
              <p:cNvPr id="374" name="R4 · Prioritize" descr="t240">
                <a:extLst>
                  <a:ext uri="{FF2B5EF4-FFF2-40B4-BE49-F238E27FC236}">
                    <ns2:creationId id="{005F2682-6A34-46A6-9843-5F7EF9FBDD5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5062027" y="6753447"/>
                <a:ext cx="1548236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1" i="0" spc="0" kern="0" dirty="0">
                    <a:solidFill>
                      <a:srgbClr val="3b782d"/>
                    </a:solidFill>
                    <a:latin typeface="Barlow Condensed"/>
                    <a:ea typeface="Barlow Condensed"/>
                    <a:cs typeface="Barlow Condensed"/>
                  </a:rPr>
                  <a:t>R4 · Prioritize</a:t>
                </a:r>
                <a:endParaRPr lang="en-GB" sz="2400"/>
              </a:p>
            </p:txBody>
          </p:sp>
          <p:sp>
            <p:nvSpPr>
              <p:cNvPr id="375" name="better" descr="t241">
                <a:extLst>
                  <a:ext uri="{FF2B5EF4-FFF2-40B4-BE49-F238E27FC236}">
                    <ns2:creationId id="{57201F69-1613-4BCB-9477-9F2BD240FC3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5062382" y="7086834"/>
                <a:ext cx="733808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1" i="0" spc="0" kern="0" dirty="0">
                    <a:solidFill>
                      <a:srgbClr val="3b782d"/>
                    </a:solidFill>
                    <a:latin typeface="Barlow Condensed"/>
                    <a:ea typeface="Barlow Condensed"/>
                    <a:cs typeface="Barlow Condensed"/>
                  </a:rPr>
                  <a:t>better</a:t>
                </a:r>
                <a:endParaRPr lang="en-GB" sz="2400"/>
              </a:p>
            </p:txBody>
          </p:sp>
          <p:sp>
            <p:nvSpPr>
              <p:cNvPr id="376" name="evidence" descr="t242">
                <a:extLst>
                  <a:ext uri="{FF2B5EF4-FFF2-40B4-BE49-F238E27FC236}">
                    <ns2:creationId id="{9068546D-E93A-4D84-8A68-9C99F1101F3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5062382" y="7420221"/>
                <a:ext cx="1055373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1" i="0" spc="0" kern="0" dirty="0">
                    <a:solidFill>
                      <a:srgbClr val="3b782d"/>
                    </a:solidFill>
                    <a:latin typeface="Barlow Condensed"/>
                    <a:ea typeface="Barlow Condensed"/>
                    <a:cs typeface="Barlow Condensed"/>
                  </a:rPr>
                  <a:t>evidence</a:t>
                </a:r>
                <a:endParaRPr lang="en-GB" sz="2400"/>
              </a:p>
            </p:txBody>
          </p:sp>
          <p:sp>
            <p:nvSpPr>
              <p:cNvPr id="377" name="Move the most" descr="t243">
                <a:extLst>
                  <a:ext uri="{FF2B5EF4-FFF2-40B4-BE49-F238E27FC236}">
                    <ns2:creationId id="{199DB3AA-FD53-4B97-AE70-D93D3235563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5062382" y="7810671"/>
                <a:ext cx="1551587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Move the most</a:t>
                </a:r>
                <a:endParaRPr lang="en-GB" sz="2400"/>
              </a:p>
            </p:txBody>
          </p:sp>
          <p:sp>
            <p:nvSpPr>
              <p:cNvPr id="378" name="relevant" descr="t244">
                <a:extLst>
                  <a:ext uri="{FF2B5EF4-FFF2-40B4-BE49-F238E27FC236}">
                    <ns2:creationId id="{0BFE4129-F986-4887-999F-0FDA00DE5FA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5062382" y="8134737"/>
                <a:ext cx="896572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relevant</a:t>
                </a:r>
                <a:endParaRPr lang="en-GB" sz="2400"/>
              </a:p>
            </p:txBody>
          </p:sp>
          <p:sp>
            <p:nvSpPr>
              <p:cNvPr id="379" name="passages to the" descr="t245">
                <a:extLst>
                  <a:ext uri="{FF2B5EF4-FFF2-40B4-BE49-F238E27FC236}">
                    <ns2:creationId id="{273D3E62-3958-4F12-A059-AD82768AE6B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5062382" y="8448744"/>
                <a:ext cx="1687530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passages to the</a:t>
                </a:r>
                <a:endParaRPr lang="en-GB" sz="2400"/>
              </a:p>
            </p:txBody>
          </p:sp>
          <p:sp>
            <p:nvSpPr>
              <p:cNvPr id="380" name="top" descr="t246">
                <a:extLst>
                  <a:ext uri="{FF2B5EF4-FFF2-40B4-BE49-F238E27FC236}">
                    <ns2:creationId id="{275F4A57-E584-4DA3-9C74-134EB6EA7DF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5062027" y="8772798"/>
                <a:ext cx="395478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top</a:t>
                </a:r>
                <a:endParaRPr lang="en-GB" sz="2400"/>
              </a:p>
            </p:txBody>
          </p:sp>
          <p:sp>
            <p:nvSpPr>
              <p:cNvPr id="381" name="Qwen3-" descr="t247">
                <a:extLst>
                  <a:ext uri="{FF2B5EF4-FFF2-40B4-BE49-F238E27FC236}">
                    <ns2:creationId id="{32771DA2-8E9D-41C3-A1F1-E6A626D2220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5062382" y="9801320"/>
                <a:ext cx="831038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Qwen3-</a:t>
                </a:r>
                <a:endParaRPr lang="en-GB" sz="2400"/>
              </a:p>
            </p:txBody>
          </p:sp>
          <p:sp>
            <p:nvSpPr>
              <p:cNvPr id="382" name="Reranker" descr="t248">
                <a:extLst>
                  <a:ext uri="{FF2B5EF4-FFF2-40B4-BE49-F238E27FC236}">
                    <ns2:creationId id="{18CFE005-F806-40F5-B8EC-A09B23F1DC4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5062027" y="10134708"/>
                <a:ext cx="993194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Reranker</a:t>
                </a:r>
                <a:endParaRPr lang="en-GB" sz="2400"/>
              </a:p>
            </p:txBody>
          </p:sp>
        </p:grpSp>
        <p:grpSp>
          <p:nvGrpSpPr>
            <p:cNvPr id="544" name="R5 · Check the answer"/>
            <p:cNvGrpSpPr/>
            <p:nvPr/>
          </p:nvGrpSpPr>
          <p:grpSpPr>
            <a:xfrm>
              <a:off x="16915507" y="6671667"/>
              <a:ext cx="1806029" cy="4573935"/>
              <a:chOff x="16915507" y="6671667"/>
              <a:chExt cx="1806029" cy="4573935"/>
            </a:xfrm>
          </p:grpSpPr>
          <p:sp>
            <p:nvSpPr>
              <p:cNvPr id="30" name="Panel stage ans" descr="s29">
                <a:extLst>
                  <a:ext uri="{FF2B5EF4-FFF2-40B4-BE49-F238E27FC236}">
                    <ns2:creationId id="{8C20C4B7-00D3-47D3-A48D-9A2EF787F34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6915507" y="6671667"/>
                <a:ext cx="1806029" cy="4573935"/>
              </a:xfrm>
              <a:custGeom>
                <a:avLst/>
                <a:gdLst/>
                <a:ahLst/>
                <a:cxnLst/>
                <a:rect l="0" t="0" r="r" b="b"/>
                <a:pathLst>
                  <a:path w="189609" h="480203">
                    <a:moveTo>
                      <a:pt x="8000" y="0"/>
                    </a:moveTo>
                    <a:lnTo>
                      <a:pt x="181609" y="0"/>
                    </a:lnTo>
                    <a:cubicBezTo>
                      <a:pt x="186028" y="0"/>
                      <a:pt x="189609" y="3582"/>
                      <a:pt x="189609" y="8000"/>
                    </a:cubicBezTo>
                    <a:lnTo>
                      <a:pt x="189609" y="472203"/>
                    </a:lnTo>
                    <a:cubicBezTo>
                      <a:pt x="189609" y="476621"/>
                      <a:pt x="186028" y="480203"/>
                      <a:pt x="181609" y="480203"/>
                    </a:cubicBezTo>
                    <a:lnTo>
                      <a:pt x="8000" y="480203"/>
                    </a:lnTo>
                    <a:cubicBezTo>
                      <a:pt x="3582" y="480203"/>
                      <a:pt x="0" y="476621"/>
                      <a:pt x="0" y="472203"/>
                    </a:cubicBezTo>
                    <a:lnTo>
                      <a:pt x="0" y="8000"/>
                    </a:lnTo>
                    <a:cubicBezTo>
                      <a:pt x="0" y="3582"/>
                      <a:pt x="3582" y="0"/>
                      <a:pt x="8000" y="0"/>
                    </a:cubicBezTo>
                    <a:close/>
                  </a:path>
                </a:pathLst>
              </a:custGeom>
              <a:solidFill>
                <a:srgbClr val="FFF1E5"/>
              </a:solidFill>
              <a:ln w="9525">
                <a:solidFill>
                  <a:srgbClr val="C7DCE8"/>
                </a:solidFill>
              </a:ln>
            </p:spPr>
          </p:sp>
          <p:sp>
            <p:nvSpPr>
              <p:cNvPr id="31" name="Panel tech" descr="s30">
                <a:extLst>
                  <a:ext uri="{FF2B5EF4-FFF2-40B4-BE49-F238E27FC236}">
                    <ns2:creationId id="{6F8BC1CB-DB1C-4EC9-B3AF-C411C5C3752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6925032" y="9748391"/>
                <a:ext cx="1786979" cy="1487686"/>
              </a:xfrm>
              <a:custGeom>
                <a:avLst/>
                <a:gdLst/>
                <a:ahLst/>
                <a:cxnLst/>
                <a:rect l="0" t="0" r="r" b="b"/>
                <a:pathLst>
                  <a:path w="187609" h="156188">
                    <a:moveTo>
                      <a:pt x="6000" y="0"/>
                    </a:moveTo>
                    <a:lnTo>
                      <a:pt x="181609" y="0"/>
                    </a:lnTo>
                    <a:cubicBezTo>
                      <a:pt x="184923" y="0"/>
                      <a:pt x="187609" y="2686"/>
                      <a:pt x="187609" y="6000"/>
                    </a:cubicBezTo>
                    <a:lnTo>
                      <a:pt x="187609" y="149188"/>
                    </a:lnTo>
                    <a:cubicBezTo>
                      <a:pt x="187609" y="153053"/>
                      <a:pt x="184475" y="156188"/>
                      <a:pt x="180609" y="156188"/>
                    </a:cubicBezTo>
                    <a:lnTo>
                      <a:pt x="7000" y="156188"/>
                    </a:lnTo>
                    <a:cubicBezTo>
                      <a:pt x="3134" y="156188"/>
                      <a:pt x="0" y="153053"/>
                      <a:pt x="0" y="149188"/>
                    </a:cubicBezTo>
                    <a:lnTo>
                      <a:pt x="0" y="6000"/>
                    </a:lnTo>
                    <a:cubicBezTo>
                      <a:pt x="0" y="2686"/>
                      <a:pt x="2686" y="0"/>
                      <a:pt x="6000" y="0"/>
                    </a:cubicBezTo>
                    <a:close/>
                  </a:path>
                </a:pathLst>
              </a:custGeom>
              <a:solidFill>
                <a:srgbClr val="F8E3CF"/>
              </a:solidFill>
              <a:ln w="0">
                <a:noFill/>
              </a:ln>
            </p:spPr>
          </p:sp>
          <p:sp>
            <p:nvSpPr>
              <p:cNvPr id="68" name="Stage connector" descr="s67">
                <a:extLst>
                  <a:ext uri="{FF2B5EF4-FFF2-40B4-BE49-F238E27FC236}">
                    <ns2:creationId id="{F1AAF75B-248C-458E-A3FE-425D9496EA7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8721536" y="9348341"/>
                <a:ext cx="104775" cy="171450"/>
              </a:xfrm>
              <a:custGeom>
                <a:pathLst>
                  <a:path w="104775" h="171450">
                    <a:moveTo>
                      <a:pt x="0" y="51435"/>
                    </a:moveTo>
                    <a:lnTo>
                      <a:pt x="57626" y="51435"/>
                    </a:lnTo>
                    <a:lnTo>
                      <a:pt x="57626" y="0"/>
                    </a:lnTo>
                    <a:lnTo>
                      <a:pt x="104775" y="85725"/>
                    </a:lnTo>
                    <a:lnTo>
                      <a:pt x="57626" y="171450"/>
                    </a:lnTo>
                    <a:lnTo>
                      <a:pt x="57626" y="120015"/>
                    </a:lnTo>
                    <a:lnTo>
                      <a:pt x="0" y="120015"/>
                    </a:lnTo>
                    <a:close/>
                  </a:path>
                </a:pathLst>
              </a:custGeom>
              <a:solidFill>
                <a:srgbClr val="AB5826"/>
              </a:solidFill>
              <a:ln w="0">
                <a:noFill/>
              </a:ln>
            </p:spPr>
          </p:sp>
          <p:pic>
            <p:nvPicPr>
              <p:cNvPr id="532" name="icon-check" descr="s130"/>
              <p:cNvPicPr>
                <a:picLocks noChangeAspect="1"/>
              </p:cNvPicPr>
              <p:nvPr/>
            </p:nvPicPr>
            <p:blipFill>
              <a:blip r:embed="Rb4fb08ccdc5d41a6">
                <a:extLst>
                  <a:ext uri="{96DAC541-7B7A-43D3-8B79-37D633B846F1}">
                    <ns4:svgBlip r:embed="R50a5b27f92cc4e7a"/>
                  </a:ext>
                </a:extLst>
              </a:blip>
              <a:stretch/>
            </p:blipFill>
            <p:spPr>
              <a:xfrm>
                <a:off x="17580322" y="9195941"/>
                <a:ext cx="476250" cy="476250"/>
              </a:xfrm>
              <a:prstGeom prst="rect">
                <a:avLst/>
              </a:prstGeom>
            </p:spPr>
          </p:pic>
          <p:sp>
            <p:nvSpPr>
              <p:cNvPr id="383" name="R5 · Check the" descr="t249">
                <a:extLst>
                  <a:ext uri="{FF2B5EF4-FFF2-40B4-BE49-F238E27FC236}">
                    <ns2:creationId id="{049D696D-EB4D-4AD4-BB2E-73DD344A0C4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6982444" y="6753447"/>
                <a:ext cx="1623523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1" i="0" spc="0" kern="0" dirty="0">
                    <a:solidFill>
                      <a:srgbClr val="ab5826"/>
                    </a:solidFill>
                    <a:latin typeface="Barlow Condensed"/>
                    <a:ea typeface="Barlow Condensed"/>
                    <a:cs typeface="Barlow Condensed"/>
                  </a:rPr>
                  <a:t>R5 · Check the</a:t>
                </a:r>
                <a:endParaRPr lang="en-GB" sz="2400"/>
              </a:p>
            </p:txBody>
          </p:sp>
          <p:sp>
            <p:nvSpPr>
              <p:cNvPr id="384" name="answer" descr="t250">
                <a:extLst>
                  <a:ext uri="{FF2B5EF4-FFF2-40B4-BE49-F238E27FC236}">
                    <ns2:creationId id="{1B53577F-AF64-4DE3-A9B3-F72BF823E87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6982444" y="7086834"/>
                <a:ext cx="861822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1" i="0" spc="0" kern="0" dirty="0">
                    <a:solidFill>
                      <a:srgbClr val="ab5826"/>
                    </a:solidFill>
                    <a:latin typeface="Barlow Condensed"/>
                    <a:ea typeface="Barlow Condensed"/>
                    <a:cs typeface="Barlow Condensed"/>
                  </a:rPr>
                  <a:t>answer</a:t>
                </a:r>
                <a:endParaRPr lang="en-GB" sz="2400"/>
              </a:p>
            </p:txBody>
          </p:sp>
          <p:sp>
            <p:nvSpPr>
              <p:cNvPr id="385" name="Normalize and" descr="t251">
                <a:extLst>
                  <a:ext uri="{FF2B5EF4-FFF2-40B4-BE49-F238E27FC236}">
                    <ns2:creationId id="{2E490E47-0555-49AC-88BA-979CBEB66F7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6982089" y="7810671"/>
                <a:ext cx="1543966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Normalize and</a:t>
                </a:r>
                <a:endParaRPr lang="en-GB" sz="2400"/>
              </a:p>
            </p:txBody>
          </p:sp>
          <p:sp>
            <p:nvSpPr>
              <p:cNvPr id="386" name="validate the" descr="t252">
                <a:extLst>
                  <a:ext uri="{FF2B5EF4-FFF2-40B4-BE49-F238E27FC236}">
                    <ns2:creationId id="{02C40BB6-5DAD-4835-B821-29DFED80617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6982089" y="8134737"/>
                <a:ext cx="1271170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validate the</a:t>
                </a:r>
                <a:endParaRPr lang="en-GB" sz="2400"/>
              </a:p>
            </p:txBody>
          </p:sp>
          <p:sp>
            <p:nvSpPr>
              <p:cNvPr id="387" name="expected" descr="t253">
                <a:extLst>
                  <a:ext uri="{FF2B5EF4-FFF2-40B4-BE49-F238E27FC236}">
                    <ns2:creationId id="{5EE121BC-DE7E-43DB-8EF6-5749BDDCF35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6982089" y="8448744"/>
                <a:ext cx="1006300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expected</a:t>
                </a:r>
                <a:endParaRPr lang="en-GB" sz="2400"/>
              </a:p>
            </p:txBody>
          </p:sp>
          <p:sp>
            <p:nvSpPr>
              <p:cNvPr id="388" name="answer type" descr="t254">
                <a:extLst>
                  <a:ext uri="{FF2B5EF4-FFF2-40B4-BE49-F238E27FC236}">
                    <ns2:creationId id="{1E717A7F-B321-496B-8E4E-240F4D9FD59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6982089" y="8772798"/>
                <a:ext cx="1312318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answer type</a:t>
                </a:r>
                <a:endParaRPr lang="en-GB" sz="2400"/>
              </a:p>
            </p:txBody>
          </p:sp>
          <p:sp>
            <p:nvSpPr>
              <p:cNvPr id="389" name="Typed schema" descr="t255">
                <a:extLst>
                  <a:ext uri="{FF2B5EF4-FFF2-40B4-BE49-F238E27FC236}">
                    <ns2:creationId id="{51729C4B-8DBD-4D1E-9C2A-8B599B4C03A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6982444" y="9801320"/>
                <a:ext cx="1546710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Typed schema</a:t>
                </a:r>
                <a:endParaRPr lang="en-GB" sz="2400"/>
              </a:p>
            </p:txBody>
          </p:sp>
        </p:grpSp>
        <p:grpSp>
          <p:nvGrpSpPr>
            <p:cNvPr id="543" name="R6 · Refine citations"/>
            <p:cNvGrpSpPr/>
            <p:nvPr/>
          </p:nvGrpSpPr>
          <p:grpSpPr>
            <a:xfrm>
              <a:off x="18835836" y="6671667"/>
              <a:ext cx="1805880" cy="4573935"/>
              <a:chOff x="18835836" y="6671667"/>
              <a:chExt cx="1805880" cy="4573935"/>
            </a:xfrm>
          </p:grpSpPr>
          <p:sp>
            <p:nvSpPr>
              <p:cNvPr id="32" name="Panel stage cit" descr="s31">
                <a:extLst>
                  <a:ext uri="{FF2B5EF4-FFF2-40B4-BE49-F238E27FC236}">
                    <ns2:creationId id="{D403EBE7-5A2A-4AEE-9C57-FEDF90F42CE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8835836" y="6671667"/>
                <a:ext cx="1805880" cy="4573935"/>
              </a:xfrm>
              <a:custGeom>
                <a:avLst/>
                <a:gdLst/>
                <a:ahLst/>
                <a:cxnLst/>
                <a:rect l="0" t="0" r="r" b="b"/>
                <a:pathLst>
                  <a:path w="189594" h="480203">
                    <a:moveTo>
                      <a:pt x="8000" y="0"/>
                    </a:moveTo>
                    <a:lnTo>
                      <a:pt x="181594" y="0"/>
                    </a:lnTo>
                    <a:cubicBezTo>
                      <a:pt x="186012" y="0"/>
                      <a:pt x="189594" y="3582"/>
                      <a:pt x="189594" y="8000"/>
                    </a:cubicBezTo>
                    <a:lnTo>
                      <a:pt x="189594" y="472203"/>
                    </a:lnTo>
                    <a:cubicBezTo>
                      <a:pt x="189594" y="476621"/>
                      <a:pt x="186012" y="480203"/>
                      <a:pt x="181594" y="480203"/>
                    </a:cubicBezTo>
                    <a:lnTo>
                      <a:pt x="8000" y="480203"/>
                    </a:lnTo>
                    <a:cubicBezTo>
                      <a:pt x="3582" y="480203"/>
                      <a:pt x="0" y="476621"/>
                      <a:pt x="0" y="472203"/>
                    </a:cubicBezTo>
                    <a:lnTo>
                      <a:pt x="0" y="8000"/>
                    </a:lnTo>
                    <a:cubicBezTo>
                      <a:pt x="0" y="3582"/>
                      <a:pt x="3582" y="0"/>
                      <a:pt x="8000" y="0"/>
                    </a:cubicBezTo>
                    <a:close/>
                  </a:path>
                </a:pathLst>
              </a:custGeom>
              <a:solidFill>
                <a:srgbClr val="F1EAFB"/>
              </a:solidFill>
              <a:ln w="9525">
                <a:solidFill>
                  <a:srgbClr val="C7DCE8"/>
                </a:solidFill>
              </a:ln>
            </p:spPr>
          </p:sp>
          <p:sp>
            <p:nvSpPr>
              <p:cNvPr id="33" name="Panel tech" descr="s32">
                <a:extLst>
                  <a:ext uri="{FF2B5EF4-FFF2-40B4-BE49-F238E27FC236}">
                    <ns2:creationId id="{69BB4732-1A24-40EB-B35C-E08C1AD2903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8845361" y="9748391"/>
                <a:ext cx="1786830" cy="1487686"/>
              </a:xfrm>
              <a:custGeom>
                <a:avLst/>
                <a:gdLst/>
                <a:ahLst/>
                <a:cxnLst/>
                <a:rect l="0" t="0" r="r" b="b"/>
                <a:pathLst>
                  <a:path w="187594" h="156188">
                    <a:moveTo>
                      <a:pt x="6000" y="0"/>
                    </a:moveTo>
                    <a:lnTo>
                      <a:pt x="181594" y="0"/>
                    </a:lnTo>
                    <a:cubicBezTo>
                      <a:pt x="184907" y="0"/>
                      <a:pt x="187594" y="2686"/>
                      <a:pt x="187594" y="6000"/>
                    </a:cubicBezTo>
                    <a:lnTo>
                      <a:pt x="187594" y="149188"/>
                    </a:lnTo>
                    <a:cubicBezTo>
                      <a:pt x="187594" y="153053"/>
                      <a:pt x="184460" y="156188"/>
                      <a:pt x="180594" y="156188"/>
                    </a:cubicBezTo>
                    <a:lnTo>
                      <a:pt x="7000" y="156188"/>
                    </a:lnTo>
                    <a:cubicBezTo>
                      <a:pt x="3134" y="156188"/>
                      <a:pt x="0" y="153053"/>
                      <a:pt x="0" y="149188"/>
                    </a:cubicBezTo>
                    <a:lnTo>
                      <a:pt x="0" y="6000"/>
                    </a:lnTo>
                    <a:cubicBezTo>
                      <a:pt x="0" y="2686"/>
                      <a:pt x="2686" y="0"/>
                      <a:pt x="6000" y="0"/>
                    </a:cubicBezTo>
                    <a:close/>
                  </a:path>
                </a:pathLst>
              </a:custGeom>
              <a:solidFill>
                <a:srgbClr val="E7DDF4"/>
              </a:solidFill>
              <a:ln w="0">
                <a:noFill/>
              </a:ln>
            </p:spPr>
          </p:sp>
          <p:pic>
            <p:nvPicPr>
              <p:cNvPr id="533" name="icon-link" descr="s131"/>
              <p:cNvPicPr>
                <a:picLocks noChangeAspect="1"/>
              </p:cNvPicPr>
              <p:nvPr/>
            </p:nvPicPr>
            <p:blipFill>
              <a:blip r:embed="Rfbc1cd89e4ce4903">
                <a:extLst>
                  <a:ext uri="{96DAC541-7B7A-43D3-8B79-37D633B846F1}">
                    <ns4:svgBlip r:embed="R314ecc830f024ed7"/>
                  </a:ext>
                </a:extLst>
              </a:blip>
              <a:stretch/>
            </p:blipFill>
            <p:spPr>
              <a:xfrm>
                <a:off x="19500652" y="9195941"/>
                <a:ext cx="476250" cy="476250"/>
              </a:xfrm>
              <a:prstGeom prst="rect">
                <a:avLst/>
              </a:prstGeom>
            </p:spPr>
          </p:pic>
          <p:sp>
            <p:nvSpPr>
              <p:cNvPr id="390" name="R6 · Refine" descr="t256">
                <a:extLst>
                  <a:ext uri="{FF2B5EF4-FFF2-40B4-BE49-F238E27FC236}">
                    <ns2:creationId id="{4F70F5AF-8EFC-4C14-B006-64EA3A1CA0E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8902863" y="6753447"/>
                <a:ext cx="1228193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1" i="0" spc="0" kern="0" dirty="0">
                    <a:solidFill>
                      <a:srgbClr val="6845a0"/>
                    </a:solidFill>
                    <a:latin typeface="Barlow Condensed"/>
                    <a:ea typeface="Barlow Condensed"/>
                    <a:cs typeface="Barlow Condensed"/>
                  </a:rPr>
                  <a:t>R6 · Refine</a:t>
                </a:r>
                <a:endParaRPr lang="en-GB" sz="2400"/>
              </a:p>
            </p:txBody>
          </p:sp>
          <p:sp>
            <p:nvSpPr>
              <p:cNvPr id="391" name="citations" descr="t257">
                <a:extLst>
                  <a:ext uri="{FF2B5EF4-FFF2-40B4-BE49-F238E27FC236}">
                    <ns2:creationId id="{48E2EB3A-5B90-4DDE-9586-29B2B464A39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8902508" y="7086834"/>
                <a:ext cx="1032818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1" i="0" spc="0" kern="0" dirty="0">
                    <a:solidFill>
                      <a:srgbClr val="6845a0"/>
                    </a:solidFill>
                    <a:latin typeface="Barlow Condensed"/>
                    <a:ea typeface="Barlow Condensed"/>
                    <a:cs typeface="Barlow Condensed"/>
                  </a:rPr>
                  <a:t>citations</a:t>
                </a:r>
                <a:endParaRPr lang="en-GB" sz="2400"/>
              </a:p>
            </p:txBody>
          </p:sp>
          <p:sp>
            <p:nvSpPr>
              <p:cNvPr id="392" name="Keep only" descr="t258">
                <a:extLst>
                  <a:ext uri="{FF2B5EF4-FFF2-40B4-BE49-F238E27FC236}">
                    <ns2:creationId id="{38A5BDF2-6AEA-44A7-8032-E54DA113743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8902863" y="7810671"/>
                <a:ext cx="1057508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Keep only</a:t>
                </a:r>
                <a:endParaRPr lang="en-GB" sz="2400"/>
              </a:p>
            </p:txBody>
          </p:sp>
          <p:sp>
            <p:nvSpPr>
              <p:cNvPr id="393" name="pages that" descr="t259">
                <a:extLst>
                  <a:ext uri="{FF2B5EF4-FFF2-40B4-BE49-F238E27FC236}">
                    <ns2:creationId id="{B377EB4C-6959-44CA-97CA-F9028AD7509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8902863" y="8134737"/>
                <a:ext cx="1155650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pages that</a:t>
                </a:r>
                <a:endParaRPr lang="en-GB" sz="2400"/>
              </a:p>
            </p:txBody>
          </p:sp>
          <p:sp>
            <p:nvSpPr>
              <p:cNvPr id="394" name="support the" descr="t260">
                <a:extLst>
                  <a:ext uri="{FF2B5EF4-FFF2-40B4-BE49-F238E27FC236}">
                    <ns2:creationId id="{4844FF50-C295-4F85-ACB2-7413E8E109C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8902508" y="8448744"/>
                <a:ext cx="1253793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support the</a:t>
                </a:r>
                <a:endParaRPr lang="en-GB" sz="2400"/>
              </a:p>
            </p:txBody>
          </p:sp>
          <p:sp>
            <p:nvSpPr>
              <p:cNvPr id="395" name="final answer" descr="t261">
                <a:extLst>
                  <a:ext uri="{FF2B5EF4-FFF2-40B4-BE49-F238E27FC236}">
                    <ns2:creationId id="{8B15E6E6-D50F-49EA-BA25-B1B222D5693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8902863" y="8772798"/>
                <a:ext cx="1322074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final answer</a:t>
                </a:r>
                <a:endParaRPr lang="en-GB" sz="2400"/>
              </a:p>
            </p:txBody>
          </p:sp>
          <p:sp>
            <p:nvSpPr>
              <p:cNvPr id="396" name="Supporting-" descr="t262">
                <a:extLst>
                  <a:ext uri="{FF2B5EF4-FFF2-40B4-BE49-F238E27FC236}">
                    <ns2:creationId id="{F53AD68C-1D39-439D-8F0E-6AECC02DE0F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8902508" y="9801320"/>
                <a:ext cx="1284887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Supporting-</a:t>
                </a:r>
                <a:endParaRPr lang="en-GB" sz="2400"/>
              </a:p>
            </p:txBody>
          </p:sp>
          <p:sp>
            <p:nvSpPr>
              <p:cNvPr id="397" name="chunk" descr="t263">
                <a:extLst>
                  <a:ext uri="{FF2B5EF4-FFF2-40B4-BE49-F238E27FC236}">
                    <ns2:creationId id="{4A4A9E74-4243-4E26-B52C-DB264A3BA8C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8902508" y="10134708"/>
                <a:ext cx="690829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chunk</a:t>
                </a:r>
                <a:endParaRPr lang="en-GB" sz="2400"/>
              </a:p>
            </p:txBody>
          </p:sp>
          <p:sp>
            <p:nvSpPr>
              <p:cNvPr id="398" name="references" descr="t264">
                <a:extLst>
                  <a:ext uri="{FF2B5EF4-FFF2-40B4-BE49-F238E27FC236}">
                    <ns2:creationId id="{6720A711-27E9-4C07-B659-D3F8D502227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8902863" y="10468108"/>
                <a:ext cx="1177292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references</a:t>
                </a:r>
                <a:endParaRPr lang="en-GB" sz="2400"/>
              </a:p>
            </p:txBody>
          </p:sp>
        </p:grpSp>
        <p:sp>
          <p:nvSpPr>
            <p:cNvPr id="34" name="Rule" descr="s33">
              <a:extLst>
                <a:ext uri="{FF2B5EF4-FFF2-40B4-BE49-F238E27FC236}">
                  <ns2:creationId id="{E14A0C40-809F-4344-A024-18ACDB51AC36}"/>
                </a:ext>
              </a:extLst>
            </p:cNvPr>
            <p:cNvSpPr>
              <a:spLocks noGrp="1"/>
            </p:cNvSpPr>
            <p:nvPr/>
          </p:nvSpPr>
          <p:spPr>
            <a:xfrm>
              <a:off x="9234339" y="11350377"/>
              <a:ext cx="11407527" cy="9525"/>
            </a:xfrm>
            <a:prstGeom prst="rect">
              <a:avLst/>
            </a:prstGeom>
            <a:solidFill>
              <a:srgbClr val="CBDDE7"/>
            </a:solidFill>
            <a:ln w="0">
              <a:noFill/>
            </a:ln>
          </p:spPr>
        </p:sp>
        <p:sp>
          <p:nvSpPr>
            <p:cNvPr id="183" name="6. Data and Methods" descr="t49">
              <a:extLst>
                <a:ext uri="{FF2B5EF4-FFF2-40B4-BE49-F238E27FC236}">
                  <ns2:creationId id="{D0375A4E-FACA-4A5A-9346-E3AF9C03D21D}"/>
                </a:ext>
              </a:extLst>
            </p:cNvPr>
            <p:cNvSpPr>
              <a:spLocks noGrp="1"/>
            </p:cNvSpPr>
            <p:nvPr/>
          </p:nvSpPr>
          <p:spPr>
            <a:xfrm>
              <a:off x="9205971" y="1415809"/>
              <a:ext cx="2737383" cy="46478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800" b="1" i="0" spc="0" kern="0" dirty="0">
                  <a:solidFill>
                    <a:srgbClr val="ffffff"/>
                  </a:solidFill>
                  <a:latin typeface="Barlow Condensed"/>
                  <a:ea typeface="Barlow Condensed"/>
                  <a:cs typeface="Barlow Condensed"/>
                </a:rPr>
                <a:t>6. Data and Methods</a:t>
              </a:r>
              <a:endParaRPr lang="en-GB" sz="2800"/>
            </a:p>
          </p:txBody>
        </p:sp>
        <p:sp>
          <p:nvSpPr>
            <p:cNvPr id="184" name="Data" descr="t50">
              <a:extLst>
                <a:ext uri="{FF2B5EF4-FFF2-40B4-BE49-F238E27FC236}">
                  <ns2:creationId id="{FAC561CF-B0FB-48A3-AC4B-0B6666F83242}"/>
                </a:ext>
              </a:extLst>
            </p:cNvPr>
            <p:cNvSpPr>
              <a:spLocks noGrp="1"/>
            </p:cNvSpPr>
            <p:nvPr/>
          </p:nvSpPr>
          <p:spPr>
            <a:xfrm>
              <a:off x="9234673" y="1997240"/>
              <a:ext cx="583807" cy="41906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500" b="1" i="0" spc="0" kern="0" dirty="0">
                  <a:solidFill>
                    <a:srgbClr val="073c64"/>
                  </a:solidFill>
                  <a:latin typeface="Barlow Condensed"/>
                  <a:ea typeface="Barlow Condensed"/>
                  <a:cs typeface="Barlow Condensed"/>
                </a:rPr>
                <a:t>Data</a:t>
              </a:r>
              <a:endParaRPr lang="en-GB" sz="2500"/>
            </a:p>
          </p:txBody>
        </p:sp>
        <p:sp>
          <p:nvSpPr>
            <p:cNvPr id="185" name="30 DIFC legal PDFs (590 pages), 100 questions, including 70 structured" descr="t51">
              <a:extLst>
                <a:ext uri="{FF2B5EF4-FFF2-40B4-BE49-F238E27FC236}">
                  <ns2:creationId id="{19D55564-87D0-4D0D-B9F2-0DC80CDF5E6E}"/>
                </a:ext>
              </a:extLst>
            </p:cNvPr>
            <p:cNvSpPr>
              <a:spLocks noGrp="1"/>
            </p:cNvSpPr>
            <p:nvPr/>
          </p:nvSpPr>
          <p:spPr>
            <a:xfrm>
              <a:off x="9234673" y="2391021"/>
              <a:ext cx="10985773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30 DIFC legal PDFs (590 pages), 100 questions, including 70 structured-answer and 30 free-text questions.</a:t>
              </a:r>
              <a:endParaRPr lang="en-GB" sz="2400"/>
            </a:p>
          </p:txBody>
        </p:sp>
        <p:sp>
          <p:nvSpPr>
            <p:cNvPr id="186" name="Reference source pages are available for 95 questions. For the scan-ro" descr="t52">
              <a:extLst>
                <a:ext uri="{FF2B5EF4-FFF2-40B4-BE49-F238E27FC236}">
                  <ns2:creationId id="{7F96ECD4-92D8-496C-99A7-7FB64226F1E8}"/>
                </a:ext>
              </a:extLst>
            </p:cNvPr>
            <p:cNvSpPr>
              <a:spLocks noGrp="1"/>
            </p:cNvSpPr>
            <p:nvPr/>
          </p:nvSpPr>
          <p:spPr>
            <a:xfrm>
              <a:off x="9234317" y="2714720"/>
              <a:ext cx="11300637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Reference source pages are available for 95 questions. For the scan-robustness test, 10 of the 30 documents</a:t>
              </a:r>
              <a:endParaRPr lang="en-GB" sz="2400"/>
            </a:p>
          </p:txBody>
        </p:sp>
        <p:sp>
          <p:nvSpPr>
            <p:cNvPr id="187" name="(107 pages) were converted into synthetic scans: each page was rasteri" descr="t53">
              <a:extLst>
                <a:ext uri="{FF2B5EF4-FFF2-40B4-BE49-F238E27FC236}">
                  <ns2:creationId id="{B2CBE438-6F6F-4C3A-903D-EC60A1EB10DE}"/>
                </a:ext>
              </a:extLst>
            </p:cNvPr>
            <p:cNvSpPr>
              <a:spLocks noGrp="1"/>
            </p:cNvSpPr>
            <p:nvPr/>
          </p:nvSpPr>
          <p:spPr>
            <a:xfrm>
              <a:off x="9234317" y="3029096"/>
              <a:ext cx="10905617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(107 pages) were converted into synthetic scans: each page was rasterised as an image and its machine-</a:t>
              </a:r>
              <a:endParaRPr lang="en-GB" sz="2400"/>
            </a:p>
          </p:txBody>
        </p:sp>
        <p:sp>
          <p:nvSpPr>
            <p:cNvPr id="188" name="readable text layer was removed." descr="t54">
              <a:extLst>
                <a:ext uri="{FF2B5EF4-FFF2-40B4-BE49-F238E27FC236}">
                  <ns2:creationId id="{2D0580F7-8CFA-442B-8482-AB615CA5B7C8}"/>
                </a:ext>
              </a:extLst>
            </p:cNvPr>
            <p:cNvSpPr>
              <a:spLocks noGrp="1"/>
            </p:cNvSpPr>
            <p:nvPr/>
          </p:nvSpPr>
          <p:spPr>
            <a:xfrm>
              <a:off x="9234673" y="3353149"/>
              <a:ext cx="3466955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readable text layer was removed.</a:t>
              </a:r>
              <a:endParaRPr lang="en-GB" sz="2400"/>
            </a:p>
          </p:txBody>
        </p:sp>
        <p:sp>
          <p:nvSpPr>
            <p:cNvPr id="189" name="Pipeline" descr="t55">
              <a:extLst>
                <a:ext uri="{FF2B5EF4-FFF2-40B4-BE49-F238E27FC236}">
                  <ns2:creationId id="{182E3217-0E3F-458B-BAB7-3A6D32AEE884}"/>
                </a:ext>
              </a:extLst>
            </p:cNvPr>
            <p:cNvSpPr>
              <a:spLocks noGrp="1"/>
            </p:cNvSpPr>
            <p:nvPr/>
          </p:nvSpPr>
          <p:spPr>
            <a:xfrm>
              <a:off x="9234317" y="3797681"/>
              <a:ext cx="971096" cy="41906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500" b="1" i="0" spc="0" kern="0" dirty="0">
                  <a:solidFill>
                    <a:srgbClr val="073c64"/>
                  </a:solidFill>
                  <a:latin typeface="Barlow Condensed"/>
                  <a:ea typeface="Barlow Condensed"/>
                  <a:cs typeface="Barlow Condensed"/>
                </a:rPr>
                <a:t>Pipeline</a:t>
              </a:r>
              <a:endParaRPr lang="en-GB" sz="2500"/>
            </a:p>
          </p:txBody>
        </p:sp>
        <p:sp>
          <p:nvSpPr>
            <p:cNvPr id="190" name="Starting from a simple baseline, we add one capability at a time. Each" descr="t56">
              <a:extLst>
                <a:ext uri="{FF2B5EF4-FFF2-40B4-BE49-F238E27FC236}">
                  <ns2:creationId id="{8CE0DE5F-FE8E-49F3-AFD4-B7B699A488B9}"/>
                </a:ext>
              </a:extLst>
            </p:cNvPr>
            <p:cNvSpPr>
              <a:spLocks noGrp="1"/>
            </p:cNvSpPr>
            <p:nvPr/>
          </p:nvSpPr>
          <p:spPr>
            <a:xfrm>
              <a:off x="9234673" y="4191107"/>
              <a:ext cx="11306125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Starting from a simple baseline, we add one capability at a time. Each variant includes all previous additions.</a:t>
              </a:r>
              <a:endParaRPr lang="en-GB" sz="2400"/>
            </a:p>
          </p:txBody>
        </p:sp>
        <p:sp>
          <p:nvSpPr>
            <p:cNvPr id="191" name="DOCUMENT PROCESSING" descr="t57">
              <a:extLst>
                <a:ext uri="{FF2B5EF4-FFF2-40B4-BE49-F238E27FC236}">
                  <ns2:creationId id="{48AF505F-4FA7-4ACD-B05D-2748CA3BFD2A}"/>
                </a:ext>
              </a:extLst>
            </p:cNvPr>
            <p:cNvSpPr>
              <a:spLocks noGrp="1"/>
            </p:cNvSpPr>
            <p:nvPr/>
          </p:nvSpPr>
          <p:spPr>
            <a:xfrm>
              <a:off x="9914274" y="6207200"/>
              <a:ext cx="2423255" cy="37334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00" b="1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DOCUMENT PROCESSING</a:t>
              </a:r>
              <a:endParaRPr lang="en-GB" sz="2200"/>
            </a:p>
          </p:txBody>
        </p:sp>
        <p:sp>
          <p:nvSpPr>
            <p:cNvPr id="192" name="RETRIEVAL" descr="t58">
              <a:extLst>
                <a:ext uri="{FF2B5EF4-FFF2-40B4-BE49-F238E27FC236}">
                  <ns2:creationId id="{3813118F-3B1E-42B1-8670-3976402F4B77}"/>
                </a:ext>
              </a:extLst>
            </p:cNvPr>
            <p:cNvSpPr>
              <a:spLocks noGrp="1"/>
            </p:cNvSpPr>
            <p:nvPr/>
          </p:nvSpPr>
          <p:spPr>
            <a:xfrm>
              <a:off x="14402453" y="6207200"/>
              <a:ext cx="1129023" cy="37334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00" b="1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RETRIEVAL</a:t>
              </a:r>
              <a:endParaRPr lang="en-GB" sz="2200"/>
            </a:p>
          </p:txBody>
        </p:sp>
        <p:sp>
          <p:nvSpPr>
            <p:cNvPr id="193" name="ANSWERING" descr="t59">
              <a:extLst>
                <a:ext uri="{FF2B5EF4-FFF2-40B4-BE49-F238E27FC236}">
                  <ns2:creationId id="{890984A0-F2DC-423D-8C9C-7D2055D6B629}"/>
                </a:ext>
              </a:extLst>
            </p:cNvPr>
            <p:cNvSpPr>
              <a:spLocks noGrp="1"/>
            </p:cNvSpPr>
            <p:nvPr/>
          </p:nvSpPr>
          <p:spPr>
            <a:xfrm>
              <a:off x="17227283" y="6207200"/>
              <a:ext cx="1239926" cy="37334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00" b="1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ANSWERING</a:t>
              </a:r>
              <a:endParaRPr lang="en-GB" sz="2200"/>
            </a:p>
          </p:txBody>
        </p:sp>
        <p:sp>
          <p:nvSpPr>
            <p:cNvPr id="194" name="CITATIONS" descr="t60">
              <a:extLst>
                <a:ext uri="{FF2B5EF4-FFF2-40B4-BE49-F238E27FC236}">
                  <ns2:creationId id="{167E595D-DAA9-4ACA-9FE1-54D469B48EA9}"/>
                </a:ext>
              </a:extLst>
            </p:cNvPr>
            <p:cNvSpPr>
              <a:spLocks noGrp="1"/>
            </p:cNvSpPr>
            <p:nvPr/>
          </p:nvSpPr>
          <p:spPr>
            <a:xfrm>
              <a:off x="19228160" y="6207200"/>
              <a:ext cx="1079297" cy="37334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00" b="1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CITATIONS</a:t>
              </a:r>
              <a:endParaRPr lang="en-GB" sz="2200"/>
            </a:p>
          </p:txBody>
        </p:sp>
        <p:sp>
          <p:nvSpPr>
            <p:cNvPr id="195" name="Answer generation:" descr="t61">
              <a:extLst>
                <a:ext uri="{FF2B5EF4-FFF2-40B4-BE49-F238E27FC236}">
                  <ns2:creationId id="{735880B0-EE68-4D57-B3A6-C0627F09CDB4}"/>
                </a:ext>
              </a:extLst>
            </p:cNvPr>
            <p:cNvSpPr>
              <a:spLocks noGrp="1"/>
            </p:cNvSpPr>
            <p:nvPr/>
          </p:nvSpPr>
          <p:spPr>
            <a:xfrm>
              <a:off x="9234317" y="11430234"/>
              <a:ext cx="2213617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1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Answer generation:</a:t>
              </a:r>
              <a:endParaRPr lang="en-GB" sz="2400"/>
            </a:p>
          </p:txBody>
        </p:sp>
        <p:sp>
          <p:nvSpPr>
            <p:cNvPr id="196" name=" A fixed GPT-5.4-mini configuration is used across variants, so change" descr="t62">
              <a:extLst>
                <a:ext uri="{FF2B5EF4-FFF2-40B4-BE49-F238E27FC236}">
                  <ns2:creationId id="{DC8E9DF1-3A83-40CA-8C74-5B517C159D7D}"/>
                </a:ext>
              </a:extLst>
            </p:cNvPr>
            <p:cNvSpPr>
              <a:spLocks noGrp="1"/>
            </p:cNvSpPr>
            <p:nvPr/>
          </p:nvSpPr>
          <p:spPr>
            <a:xfrm>
              <a:off x="11390937" y="11430234"/>
              <a:ext cx="9059436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 A fixed GPT-5.4-mini configuration is used across variants, so changes in performance</a:t>
              </a:r>
              <a:endParaRPr lang="en-GB" sz="2400"/>
            </a:p>
          </p:txBody>
        </p:sp>
        <p:sp>
          <p:nvSpPr>
            <p:cNvPr id="197" name="reflect modifications to the surrounding pipeline rather than a change" descr="t63">
              <a:extLst>
                <a:ext uri="{FF2B5EF4-FFF2-40B4-BE49-F238E27FC236}">
                  <ns2:creationId id="{66F24A82-61B3-422A-A735-669F04E79C75}"/>
                </a:ext>
              </a:extLst>
            </p:cNvPr>
            <p:cNvSpPr>
              <a:spLocks noGrp="1"/>
            </p:cNvSpPr>
            <p:nvPr/>
          </p:nvSpPr>
          <p:spPr>
            <a:xfrm>
              <a:off x="9234673" y="11744598"/>
              <a:ext cx="9677578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reflect modifications to the surrounding pipeline rather than a change of the generating LLM.</a:t>
              </a:r>
              <a:endParaRPr lang="en-GB" sz="2400"/>
            </a:p>
          </p:txBody>
        </p:sp>
      </p:grpSp>
      <p:grpSp>
        <p:nvGrpSpPr>
          <p:cNvPr id="542" name="7. Evaluation"/>
          <p:cNvGrpSpPr/>
          <p:nvPr/>
        </p:nvGrpSpPr>
        <p:grpSpPr>
          <a:xfrm>
            <a:off x="9072414" y="12323713"/>
            <a:ext cx="11731377" cy="3833366"/>
            <a:chOff x="9072414" y="12323713"/>
            <a:chExt cx="11731377" cy="3833366"/>
          </a:xfrm>
        </p:grpSpPr>
        <p:sp>
          <p:nvSpPr>
            <p:cNvPr id="35" name="Panel H2" descr="s34">
              <a:extLst>
                <a:ext uri="{FF2B5EF4-FFF2-40B4-BE49-F238E27FC236}">
                  <ns2:creationId id="{359B52E0-4D12-4146-B3CA-7C965A632C8F}"/>
                </a:ext>
              </a:extLst>
            </p:cNvPr>
            <p:cNvSpPr>
              <a:spLocks noGrp="1"/>
            </p:cNvSpPr>
            <p:nvPr/>
          </p:nvSpPr>
          <p:spPr>
            <a:xfrm>
              <a:off x="9072414" y="12323713"/>
              <a:ext cx="11731377" cy="517327"/>
            </a:xfrm>
            <a:custGeom>
              <a:avLst/>
              <a:gdLst/>
              <a:ahLst/>
              <a:cxnLst/>
              <a:rect l="0" t="0" r="r" b="b"/>
              <a:pathLst>
                <a:path w="1231641" h="54312">
                  <a:moveTo>
                    <a:pt x="6000" y="0"/>
                  </a:moveTo>
                  <a:lnTo>
                    <a:pt x="1225641" y="0"/>
                  </a:lnTo>
                  <a:cubicBezTo>
                    <a:pt x="1228954" y="0"/>
                    <a:pt x="1231641" y="2686"/>
                    <a:pt x="1231641" y="6000"/>
                  </a:cubicBezTo>
                  <a:lnTo>
                    <a:pt x="1231641" y="54312"/>
                  </a:lnTo>
                  <a:cubicBezTo>
                    <a:pt x="1231641" y="54312"/>
                    <a:pt x="1231641" y="54312"/>
                    <a:pt x="1231641" y="54312"/>
                  </a:cubicBezTo>
                  <a:lnTo>
                    <a:pt x="0" y="54312"/>
                  </a:lnTo>
                  <a:cubicBezTo>
                    <a:pt x="0" y="54312"/>
                    <a:pt x="0" y="54312"/>
                    <a:pt x="0" y="54312"/>
                  </a:cubicBezTo>
                  <a:lnTo>
                    <a:pt x="0" y="6000"/>
                  </a:lnTo>
                  <a:cubicBezTo>
                    <a:pt x="0" y="2686"/>
                    <a:pt x="2686" y="0"/>
                    <a:pt x="6000" y="0"/>
                  </a:cubicBezTo>
                  <a:close/>
                </a:path>
              </a:pathLst>
            </a:custGeom>
            <a:gradFill>
              <a:gsLst>
                <a:gs pos="0">
                  <a:srgbClr val="056097"/>
                </a:gs>
                <a:gs pos="100000">
                  <a:srgbClr val="0071AE"/>
                </a:gs>
              </a:gsLst>
              <a:lin ang="0"/>
            </a:gradFill>
            <a:ln w="0">
              <a:noFill/>
            </a:ln>
          </p:spPr>
        </p:sp>
        <p:sp>
          <p:nvSpPr>
            <p:cNvPr id="36" name="Panel content" descr="s35">
              <a:extLst>
                <a:ext uri="{FF2B5EF4-FFF2-40B4-BE49-F238E27FC236}">
                  <ns2:creationId id="{3D949C51-51BF-4BD8-A1E2-4F35D700ED91}"/>
                </a:ext>
              </a:extLst>
            </p:cNvPr>
            <p:cNvSpPr>
              <a:spLocks noGrp="1"/>
            </p:cNvSpPr>
            <p:nvPr/>
          </p:nvSpPr>
          <p:spPr>
            <a:xfrm>
              <a:off x="9072414" y="12841039"/>
              <a:ext cx="11731377" cy="3316039"/>
            </a:xfrm>
            <a:custGeom>
              <a:avLst/>
              <a:gdLst/>
              <a:ahLst/>
              <a:cxnLst/>
              <a:rect l="0" t="0" r="r" b="b"/>
              <a:pathLst>
                <a:path w="1231641" h="348141">
                  <a:moveTo>
                    <a:pt x="0" y="0"/>
                  </a:moveTo>
                  <a:lnTo>
                    <a:pt x="1231641" y="0"/>
                  </a:lnTo>
                  <a:cubicBezTo>
                    <a:pt x="1231641" y="0"/>
                    <a:pt x="1231641" y="0"/>
                    <a:pt x="1231641" y="0"/>
                  </a:cubicBezTo>
                  <a:lnTo>
                    <a:pt x="1231641" y="339141"/>
                  </a:lnTo>
                  <a:cubicBezTo>
                    <a:pt x="1231641" y="344111"/>
                    <a:pt x="1227611" y="348141"/>
                    <a:pt x="1222641" y="348141"/>
                  </a:cubicBezTo>
                  <a:lnTo>
                    <a:pt x="9000" y="348141"/>
                  </a:lnTo>
                  <a:cubicBezTo>
                    <a:pt x="4029" y="348141"/>
                    <a:pt x="0" y="344111"/>
                    <a:pt x="0" y="339141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2F8FC"/>
            </a:solidFill>
            <a:ln w="9525">
              <a:solidFill>
                <a:srgbClr val="D9E9F1"/>
              </a:solidFill>
            </a:ln>
          </p:spPr>
        </p:sp>
        <p:sp>
          <p:nvSpPr>
            <p:cNvPr id="37" name="Panel doc" descr="s36">
              <a:extLst>
                <a:ext uri="{FF2B5EF4-FFF2-40B4-BE49-F238E27FC236}">
                  <ns2:creationId id="{C16A004A-7030-4750-98CD-1EA65805FF14}"/>
                </a:ext>
              </a:extLst>
            </p:cNvPr>
            <p:cNvSpPr>
              <a:spLocks noGrp="1"/>
            </p:cNvSpPr>
            <p:nvPr/>
          </p:nvSpPr>
          <p:spPr>
            <a:xfrm>
              <a:off x="9234339" y="14039106"/>
              <a:ext cx="3739009" cy="1984623"/>
            </a:xfrm>
            <a:custGeom>
              <a:avLst/>
              <a:gdLst/>
              <a:ahLst/>
              <a:cxnLst/>
              <a:rect l="0" t="0" r="r" b="b"/>
              <a:pathLst>
                <a:path w="392547" h="208359">
                  <a:moveTo>
                    <a:pt x="7000" y="0"/>
                  </a:moveTo>
                  <a:lnTo>
                    <a:pt x="385547" y="0"/>
                  </a:lnTo>
                  <a:cubicBezTo>
                    <a:pt x="389413" y="0"/>
                    <a:pt x="392547" y="3134"/>
                    <a:pt x="392547" y="7000"/>
                  </a:cubicBezTo>
                  <a:lnTo>
                    <a:pt x="392547" y="201359"/>
                  </a:lnTo>
                  <a:cubicBezTo>
                    <a:pt x="392547" y="205225"/>
                    <a:pt x="389413" y="208359"/>
                    <a:pt x="385547" y="208359"/>
                  </a:cubicBezTo>
                  <a:lnTo>
                    <a:pt x="7000" y="208359"/>
                  </a:lnTo>
                  <a:cubicBezTo>
                    <a:pt x="3134" y="208359"/>
                    <a:pt x="0" y="205225"/>
                    <a:pt x="0" y="201359"/>
                  </a:cubicBezTo>
                  <a:lnTo>
                    <a:pt x="0" y="7000"/>
                  </a:lnTo>
                  <a:cubicBezTo>
                    <a:pt x="0" y="3134"/>
                    <a:pt x="3134" y="0"/>
                    <a:pt x="7000" y="0"/>
                  </a:cubicBezTo>
                  <a:close/>
                </a:path>
              </a:pathLst>
            </a:custGeom>
            <a:solidFill>
              <a:srgbClr val="EAF5FC"/>
            </a:solidFill>
            <a:ln w="0">
              <a:noFill/>
            </a:ln>
          </p:spPr>
        </p:sp>
        <p:sp>
          <p:nvSpPr>
            <p:cNvPr id="38" name="Panel retr" descr="s37">
              <a:extLst>
                <a:ext uri="{FF2B5EF4-FFF2-40B4-BE49-F238E27FC236}">
                  <ns2:creationId id="{8DF0DFC8-B8A3-4575-8768-C45905195701}"/>
                </a:ext>
              </a:extLst>
            </p:cNvPr>
            <p:cNvSpPr>
              <a:spLocks noGrp="1"/>
            </p:cNvSpPr>
            <p:nvPr/>
          </p:nvSpPr>
          <p:spPr>
            <a:xfrm>
              <a:off x="13068598" y="14039106"/>
              <a:ext cx="3739009" cy="1984623"/>
            </a:xfrm>
            <a:custGeom>
              <a:avLst/>
              <a:gdLst/>
              <a:ahLst/>
              <a:cxnLst/>
              <a:rect l="0" t="0" r="r" b="b"/>
              <a:pathLst>
                <a:path w="392547" h="208359">
                  <a:moveTo>
                    <a:pt x="7000" y="0"/>
                  </a:moveTo>
                  <a:lnTo>
                    <a:pt x="385547" y="0"/>
                  </a:lnTo>
                  <a:cubicBezTo>
                    <a:pt x="389413" y="0"/>
                    <a:pt x="392547" y="3134"/>
                    <a:pt x="392547" y="7000"/>
                  </a:cubicBezTo>
                  <a:lnTo>
                    <a:pt x="392547" y="201359"/>
                  </a:lnTo>
                  <a:cubicBezTo>
                    <a:pt x="392547" y="205225"/>
                    <a:pt x="389413" y="208359"/>
                    <a:pt x="385547" y="208359"/>
                  </a:cubicBezTo>
                  <a:lnTo>
                    <a:pt x="7000" y="208359"/>
                  </a:lnTo>
                  <a:cubicBezTo>
                    <a:pt x="3134" y="208359"/>
                    <a:pt x="0" y="205225"/>
                    <a:pt x="0" y="201359"/>
                  </a:cubicBezTo>
                  <a:lnTo>
                    <a:pt x="0" y="7000"/>
                  </a:lnTo>
                  <a:cubicBezTo>
                    <a:pt x="0" y="3134"/>
                    <a:pt x="3134" y="0"/>
                    <a:pt x="7000" y="0"/>
                  </a:cubicBezTo>
                  <a:close/>
                </a:path>
              </a:pathLst>
            </a:custGeom>
            <a:solidFill>
              <a:srgbClr val="EEF7E9"/>
            </a:solidFill>
            <a:ln w="0">
              <a:noFill/>
            </a:ln>
          </p:spPr>
        </p:sp>
        <p:sp>
          <p:nvSpPr>
            <p:cNvPr id="39" name="Panel ans" descr="s38">
              <a:extLst>
                <a:ext uri="{FF2B5EF4-FFF2-40B4-BE49-F238E27FC236}">
                  <ns2:creationId id="{E5F7F5A0-8889-4941-B805-B1CA9D185E4F}"/>
                </a:ext>
              </a:extLst>
            </p:cNvPr>
            <p:cNvSpPr>
              <a:spLocks noGrp="1"/>
            </p:cNvSpPr>
            <p:nvPr/>
          </p:nvSpPr>
          <p:spPr>
            <a:xfrm>
              <a:off x="16902857" y="14039106"/>
              <a:ext cx="3739009" cy="1984623"/>
            </a:xfrm>
            <a:custGeom>
              <a:avLst/>
              <a:gdLst/>
              <a:ahLst/>
              <a:cxnLst/>
              <a:rect l="0" t="0" r="r" b="b"/>
              <a:pathLst>
                <a:path w="392547" h="208359">
                  <a:moveTo>
                    <a:pt x="7000" y="0"/>
                  </a:moveTo>
                  <a:lnTo>
                    <a:pt x="385547" y="0"/>
                  </a:lnTo>
                  <a:cubicBezTo>
                    <a:pt x="389413" y="0"/>
                    <a:pt x="392547" y="3134"/>
                    <a:pt x="392547" y="7000"/>
                  </a:cubicBezTo>
                  <a:lnTo>
                    <a:pt x="392547" y="201359"/>
                  </a:lnTo>
                  <a:cubicBezTo>
                    <a:pt x="392547" y="205225"/>
                    <a:pt x="389413" y="208359"/>
                    <a:pt x="385547" y="208359"/>
                  </a:cubicBezTo>
                  <a:lnTo>
                    <a:pt x="7000" y="208359"/>
                  </a:lnTo>
                  <a:cubicBezTo>
                    <a:pt x="3134" y="208359"/>
                    <a:pt x="0" y="205225"/>
                    <a:pt x="0" y="201359"/>
                  </a:cubicBezTo>
                  <a:lnTo>
                    <a:pt x="0" y="7000"/>
                  </a:lnTo>
                  <a:cubicBezTo>
                    <a:pt x="0" y="3134"/>
                    <a:pt x="3134" y="0"/>
                    <a:pt x="7000" y="0"/>
                  </a:cubicBezTo>
                  <a:close/>
                </a:path>
              </a:pathLst>
            </a:custGeom>
            <a:solidFill>
              <a:srgbClr val="FFF1E5"/>
            </a:solidFill>
            <a:ln w="0">
              <a:noFill/>
            </a:ln>
          </p:spPr>
        </p:sp>
        <p:sp>
          <p:nvSpPr>
            <p:cNvPr id="198" name="7. Evaluation" descr="t64">
              <a:extLst>
                <a:ext uri="{FF2B5EF4-FFF2-40B4-BE49-F238E27FC236}">
                  <ns2:creationId id="{CABBC855-954C-43D6-AC83-3B9F5C8BEF0E}"/>
                </a:ext>
              </a:extLst>
            </p:cNvPr>
            <p:cNvSpPr>
              <a:spLocks noGrp="1"/>
            </p:cNvSpPr>
            <p:nvPr/>
          </p:nvSpPr>
          <p:spPr>
            <a:xfrm>
              <a:off x="9205971" y="12369584"/>
              <a:ext cx="1773403" cy="46478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800" b="1" i="0" spc="0" kern="0" dirty="0">
                  <a:solidFill>
                    <a:srgbClr val="ffffff"/>
                  </a:solidFill>
                  <a:latin typeface="Barlow Condensed"/>
                  <a:ea typeface="Barlow Condensed"/>
                  <a:cs typeface="Barlow Condensed"/>
                </a:rPr>
                <a:t>7. Evaluation</a:t>
              </a:r>
              <a:endParaRPr lang="en-GB" sz="2800"/>
            </a:p>
          </p:txBody>
        </p:sp>
        <p:sp>
          <p:nvSpPr>
            <p:cNvPr id="199" name="A correct answer does not necessarily imply good citations. A system m" descr="t65">
              <a:extLst>
                <a:ext uri="{FF2B5EF4-FFF2-40B4-BE49-F238E27FC236}">
                  <ns2:creationId id="{94394B6D-8A60-44AA-BF7C-692B41BC42F6}"/>
                </a:ext>
              </a:extLst>
            </p:cNvPr>
            <p:cNvSpPr>
              <a:spLocks noGrp="1"/>
            </p:cNvSpPr>
            <p:nvPr/>
          </p:nvSpPr>
          <p:spPr>
            <a:xfrm>
              <a:off x="9234673" y="12944658"/>
              <a:ext cx="10940968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A correct answer does not necessarily imply good citations. A system may produce the right answer while</a:t>
              </a:r>
              <a:endParaRPr lang="en-GB" sz="2400"/>
            </a:p>
          </p:txBody>
        </p:sp>
        <p:sp>
          <p:nvSpPr>
            <p:cNvPr id="200" name="citing irrelevant pages, or it may cite only part of the evidence requ" descr="t66">
              <a:extLst>
                <a:ext uri="{FF2B5EF4-FFF2-40B4-BE49-F238E27FC236}">
                  <ns2:creationId id="{0AEB5926-E026-4856-97DD-FF653195FFB6}"/>
                </a:ext>
              </a:extLst>
            </p:cNvPr>
            <p:cNvSpPr>
              <a:spLocks noGrp="1"/>
            </p:cNvSpPr>
            <p:nvPr/>
          </p:nvSpPr>
          <p:spPr>
            <a:xfrm>
              <a:off x="9234317" y="13268725"/>
              <a:ext cx="11210111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citing irrelevant pages, or it may cite only part of the evidence required to support the answer. We therefore</a:t>
              </a:r>
              <a:endParaRPr lang="en-GB" sz="2400"/>
            </a:p>
          </p:txBody>
        </p:sp>
        <p:sp>
          <p:nvSpPr>
            <p:cNvPr id="201" name="evaluate answer quality and citation quality separately." descr="t67">
              <a:extLst>
                <a:ext uri="{FF2B5EF4-FFF2-40B4-BE49-F238E27FC236}">
                  <ns2:creationId id="{C36F1629-AD6D-4590-AD35-CC249BDE9702}"/>
                </a:ext>
              </a:extLst>
            </p:cNvPr>
            <p:cNvSpPr>
              <a:spLocks noGrp="1"/>
            </p:cNvSpPr>
            <p:nvPr/>
          </p:nvSpPr>
          <p:spPr>
            <a:xfrm>
              <a:off x="9234673" y="13582732"/>
              <a:ext cx="5756317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evaluate answer quality and citation quality separately.</a:t>
              </a:r>
              <a:endParaRPr lang="en-GB" sz="2400"/>
            </a:p>
          </p:txBody>
        </p:sp>
        <p:sp>
          <p:nvSpPr>
            <p:cNvPr id="202" name="Answer quality" descr="t68">
              <a:extLst>
                <a:ext uri="{FF2B5EF4-FFF2-40B4-BE49-F238E27FC236}">
                  <ns2:creationId id="{48E785CE-1278-40A7-9F90-C6EB42D6D99E}"/>
                </a:ext>
              </a:extLst>
            </p:cNvPr>
            <p:cNvSpPr>
              <a:spLocks noGrp="1"/>
            </p:cNvSpPr>
            <p:nvPr/>
          </p:nvSpPr>
          <p:spPr>
            <a:xfrm>
              <a:off x="9329783" y="14113039"/>
              <a:ext cx="1758371" cy="41906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500" b="1" i="0" spc="0" kern="0" dirty="0">
                  <a:solidFill>
                    <a:srgbClr val="073c64"/>
                  </a:solidFill>
                  <a:latin typeface="Barlow Condensed"/>
                  <a:ea typeface="Barlow Condensed"/>
                  <a:cs typeface="Barlow Condensed"/>
                </a:rPr>
                <a:t>Answer quality</a:t>
              </a:r>
              <a:endParaRPr lang="en-GB" sz="2500"/>
            </a:p>
          </p:txBody>
        </p:sp>
        <p:sp>
          <p:nvSpPr>
            <p:cNvPr id="203" name="Is the generated answer correct?" descr="t69">
              <a:extLst>
                <a:ext uri="{FF2B5EF4-FFF2-40B4-BE49-F238E27FC236}">
                  <ns2:creationId id="{2E12F8AE-9763-4570-8444-A2D06385DC5A}"/>
                </a:ext>
              </a:extLst>
            </p:cNvPr>
            <p:cNvSpPr>
              <a:spLocks noGrp="1"/>
            </p:cNvSpPr>
            <p:nvPr/>
          </p:nvSpPr>
          <p:spPr>
            <a:xfrm>
              <a:off x="9329656" y="14525847"/>
              <a:ext cx="3570284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1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Is the generated answer correct?</a:t>
              </a:r>
              <a:endParaRPr lang="en-GB" sz="2400"/>
            </a:p>
          </p:txBody>
        </p:sp>
        <p:sp>
          <p:nvSpPr>
            <p:cNvPr id="204" name="Q = 0.7 × structured score" descr="t70">
              <a:extLst>
                <a:ext uri="{FF2B5EF4-FFF2-40B4-BE49-F238E27FC236}">
                  <ns2:creationId id="{A4ED3962-37D3-4613-93F2-706ABF16BEA9}"/>
                </a:ext>
              </a:extLst>
            </p:cNvPr>
            <p:cNvSpPr>
              <a:spLocks noGrp="1"/>
            </p:cNvSpPr>
            <p:nvPr/>
          </p:nvSpPr>
          <p:spPr>
            <a:xfrm>
              <a:off x="9329783" y="14944998"/>
              <a:ext cx="2869243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1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Q = 0.7 × structured score</a:t>
              </a:r>
              <a:endParaRPr lang="en-GB" sz="2400"/>
            </a:p>
          </p:txBody>
        </p:sp>
        <p:sp>
          <p:nvSpPr>
            <p:cNvPr id="205" name="+ 0.3 × free-text score" descr="t71">
              <a:extLst>
                <a:ext uri="{FF2B5EF4-FFF2-40B4-BE49-F238E27FC236}">
                  <ns2:creationId id="{9E5F5A46-C2BD-4319-9E94-4DB70DC82E79}"/>
                </a:ext>
              </a:extLst>
            </p:cNvPr>
            <p:cNvSpPr>
              <a:spLocks noGrp="1"/>
            </p:cNvSpPr>
            <p:nvPr/>
          </p:nvSpPr>
          <p:spPr>
            <a:xfrm>
              <a:off x="9329415" y="15259372"/>
              <a:ext cx="2515367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1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+ 0.3 × free-text score</a:t>
              </a:r>
              <a:endParaRPr lang="en-GB" sz="2400"/>
            </a:p>
          </p:txBody>
        </p:sp>
        <p:sp>
          <p:nvSpPr>
            <p:cNvPr id="206" name="Citation precision" descr="t72">
              <a:extLst>
                <a:ext uri="{FF2B5EF4-FFF2-40B4-BE49-F238E27FC236}">
                  <ns2:creationId id="{C322048A-D82E-4FDE-85BB-9A9D562A18BE}"/>
                </a:ext>
              </a:extLst>
            </p:cNvPr>
            <p:cNvSpPr>
              <a:spLocks noGrp="1"/>
            </p:cNvSpPr>
            <p:nvPr/>
          </p:nvSpPr>
          <p:spPr>
            <a:xfrm>
              <a:off x="13164298" y="14113039"/>
              <a:ext cx="2086614" cy="41906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500" b="1" i="0" spc="0" kern="0" dirty="0">
                  <a:solidFill>
                    <a:srgbClr val="073c64"/>
                  </a:solidFill>
                  <a:latin typeface="Barlow Condensed"/>
                  <a:ea typeface="Barlow Condensed"/>
                  <a:cs typeface="Barlow Condensed"/>
                </a:rPr>
                <a:t>Citation precision</a:t>
              </a:r>
              <a:endParaRPr lang="en-GB" sz="2500"/>
            </a:p>
          </p:txBody>
        </p:sp>
        <p:sp>
          <p:nvSpPr>
            <p:cNvPr id="207" name="Are the cited pages actually" descr="t73">
              <a:extLst>
                <a:ext uri="{FF2B5EF4-FFF2-40B4-BE49-F238E27FC236}">
                  <ns2:creationId id="{819FBFB7-FEB9-44D5-AF98-0F9522A09745}"/>
                </a:ext>
              </a:extLst>
            </p:cNvPr>
            <p:cNvSpPr>
              <a:spLocks noGrp="1"/>
            </p:cNvSpPr>
            <p:nvPr/>
          </p:nvSpPr>
          <p:spPr>
            <a:xfrm>
              <a:off x="13164171" y="14525847"/>
              <a:ext cx="3010367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1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Are the cited pages actually</a:t>
              </a:r>
              <a:endParaRPr lang="en-GB" sz="2400"/>
            </a:p>
          </p:txBody>
        </p:sp>
        <p:sp>
          <p:nvSpPr>
            <p:cNvPr id="208" name="relevant?" descr="t74">
              <a:extLst>
                <a:ext uri="{FF2B5EF4-FFF2-40B4-BE49-F238E27FC236}">
                  <ns2:creationId id="{0D8664EC-40BE-4E93-9388-39C71CCFB43D}"/>
                </a:ext>
              </a:extLst>
            </p:cNvPr>
            <p:cNvSpPr>
              <a:spLocks noGrp="1"/>
            </p:cNvSpPr>
            <p:nvPr/>
          </p:nvSpPr>
          <p:spPr>
            <a:xfrm>
              <a:off x="13164171" y="14849545"/>
              <a:ext cx="1100787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1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relevant?</a:t>
              </a:r>
              <a:endParaRPr lang="en-GB" sz="2400"/>
            </a:p>
          </p:txBody>
        </p:sp>
        <p:sp>
          <p:nvSpPr>
            <p:cNvPr id="209" name="Share of cited pages that support" descr="t75">
              <a:extLst>
                <a:ext uri="{FF2B5EF4-FFF2-40B4-BE49-F238E27FC236}">
                  <ns2:creationId id="{40D7B268-946B-4DF0-9EA1-C36989E68DF7}"/>
                </a:ext>
              </a:extLst>
            </p:cNvPr>
            <p:cNvSpPr>
              <a:spLocks noGrp="1"/>
            </p:cNvSpPr>
            <p:nvPr/>
          </p:nvSpPr>
          <p:spPr>
            <a:xfrm>
              <a:off x="13163930" y="15259372"/>
              <a:ext cx="3525481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Share of cited pages that support</a:t>
              </a:r>
              <a:endParaRPr lang="en-GB" sz="2400"/>
            </a:p>
          </p:txBody>
        </p:sp>
        <p:sp>
          <p:nvSpPr>
            <p:cNvPr id="210" name="the answer." descr="t76">
              <a:extLst>
                <a:ext uri="{FF2B5EF4-FFF2-40B4-BE49-F238E27FC236}">
                  <ns2:creationId id="{60DF114D-5489-4074-81DC-777D47FA0F6D}"/>
                </a:ext>
              </a:extLst>
            </p:cNvPr>
            <p:cNvSpPr>
              <a:spLocks noGrp="1"/>
            </p:cNvSpPr>
            <p:nvPr/>
          </p:nvSpPr>
          <p:spPr>
            <a:xfrm>
              <a:off x="13163930" y="15583071"/>
              <a:ext cx="1256847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the answer.</a:t>
              </a:r>
              <a:endParaRPr lang="en-GB" sz="2400"/>
            </a:p>
          </p:txBody>
        </p:sp>
        <p:sp>
          <p:nvSpPr>
            <p:cNvPr id="211" name="Citation recall" descr="t77">
              <a:extLst>
                <a:ext uri="{FF2B5EF4-FFF2-40B4-BE49-F238E27FC236}">
                  <ns2:creationId id="{C1D02AB5-A234-4505-A0F3-8664F58435B7}"/>
                </a:ext>
              </a:extLst>
            </p:cNvPr>
            <p:cNvSpPr>
              <a:spLocks noGrp="1"/>
            </p:cNvSpPr>
            <p:nvPr/>
          </p:nvSpPr>
          <p:spPr>
            <a:xfrm>
              <a:off x="16998457" y="14113039"/>
              <a:ext cx="1666625" cy="41906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500" b="1" i="0" spc="0" kern="0" dirty="0">
                  <a:solidFill>
                    <a:srgbClr val="073c64"/>
                  </a:solidFill>
                  <a:latin typeface="Barlow Condensed"/>
                  <a:ea typeface="Barlow Condensed"/>
                  <a:cs typeface="Barlow Condensed"/>
                </a:rPr>
                <a:t>Citation recall</a:t>
              </a:r>
              <a:endParaRPr lang="en-GB" sz="2500"/>
            </a:p>
          </p:txBody>
        </p:sp>
        <p:sp>
          <p:nvSpPr>
            <p:cNvPr id="212" name="Did the system cite all required" descr="t78">
              <a:extLst>
                <a:ext uri="{FF2B5EF4-FFF2-40B4-BE49-F238E27FC236}">
                  <ns2:creationId id="{440081F8-0920-4869-BDB4-411247657E07}"/>
                </a:ext>
              </a:extLst>
            </p:cNvPr>
            <p:cNvSpPr>
              <a:spLocks noGrp="1"/>
            </p:cNvSpPr>
            <p:nvPr/>
          </p:nvSpPr>
          <p:spPr>
            <a:xfrm>
              <a:off x="16998331" y="14525847"/>
              <a:ext cx="3363936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1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Did the system cite all required</a:t>
              </a:r>
              <a:endParaRPr lang="en-GB" sz="2400"/>
            </a:p>
          </p:txBody>
        </p:sp>
        <p:sp>
          <p:nvSpPr>
            <p:cNvPr id="213" name="evidence?" descr="t79">
              <a:extLst>
                <a:ext uri="{FF2B5EF4-FFF2-40B4-BE49-F238E27FC236}">
                  <ns2:creationId id="{0A3638F2-2920-4737-84B0-64CEE2F8DA3F}"/>
                </a:ext>
              </a:extLst>
            </p:cNvPr>
            <p:cNvSpPr>
              <a:spLocks noGrp="1"/>
            </p:cNvSpPr>
            <p:nvPr/>
          </p:nvSpPr>
          <p:spPr>
            <a:xfrm>
              <a:off x="16997975" y="14849545"/>
              <a:ext cx="1191312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1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evidence?</a:t>
              </a:r>
              <a:endParaRPr lang="en-GB" sz="2400"/>
            </a:p>
          </p:txBody>
        </p:sp>
        <p:sp>
          <p:nvSpPr>
            <p:cNvPr id="214" name="Share of annotated supporting" descr="t80">
              <a:extLst>
                <a:ext uri="{FF2B5EF4-FFF2-40B4-BE49-F238E27FC236}">
                  <ns2:creationId id="{040DF4D9-01CE-4BA3-B451-2F7FA1EDCDEF}"/>
                </a:ext>
              </a:extLst>
            </p:cNvPr>
            <p:cNvSpPr>
              <a:spLocks noGrp="1"/>
            </p:cNvSpPr>
            <p:nvPr/>
          </p:nvSpPr>
          <p:spPr>
            <a:xfrm>
              <a:off x="16998088" y="15259372"/>
              <a:ext cx="3216714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Share of annotated supporting</a:t>
              </a:r>
              <a:endParaRPr lang="en-GB" sz="2400"/>
            </a:p>
          </p:txBody>
        </p:sp>
        <p:sp>
          <p:nvSpPr>
            <p:cNvPr id="215" name="pages that were cited." descr="t81">
              <a:extLst>
                <a:ext uri="{FF2B5EF4-FFF2-40B4-BE49-F238E27FC236}">
                  <ns2:creationId id="{F3991236-2E93-4E0D-BF74-E536A9AB4342}"/>
                </a:ext>
              </a:extLst>
            </p:cNvPr>
            <p:cNvSpPr>
              <a:spLocks noGrp="1"/>
            </p:cNvSpPr>
            <p:nvPr/>
          </p:nvSpPr>
          <p:spPr>
            <a:xfrm>
              <a:off x="16998088" y="15583071"/>
              <a:ext cx="2358399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pages that were cited.</a:t>
              </a:r>
              <a:endParaRPr lang="en-GB" sz="2400"/>
            </a:p>
          </p:txBody>
        </p:sp>
      </p:grpSp>
      <p:grpSp>
        <p:nvGrpSpPr>
          <p:cNvPr id="541" name="8. Results"/>
          <p:cNvGrpSpPr/>
          <p:nvPr/>
        </p:nvGrpSpPr>
        <p:grpSpPr>
          <a:xfrm>
            <a:off x="9072414" y="16271825"/>
            <a:ext cx="11731377" cy="4824115"/>
            <a:chOff x="9072414" y="16271825"/>
            <a:chExt cx="11731377" cy="4824115"/>
          </a:xfrm>
        </p:grpSpPr>
        <p:sp>
          <p:nvSpPr>
            <p:cNvPr id="40" name="Panel H2" descr="s39">
              <a:extLst>
                <a:ext uri="{FF2B5EF4-FFF2-40B4-BE49-F238E27FC236}">
                  <ns2:creationId id="{92EC0D82-62D5-4CF9-958B-09D121CF8829}"/>
                </a:ext>
              </a:extLst>
            </p:cNvPr>
            <p:cNvSpPr>
              <a:spLocks noGrp="1"/>
            </p:cNvSpPr>
            <p:nvPr/>
          </p:nvSpPr>
          <p:spPr>
            <a:xfrm>
              <a:off x="9072414" y="16271825"/>
              <a:ext cx="11731377" cy="517327"/>
            </a:xfrm>
            <a:custGeom>
              <a:avLst/>
              <a:gdLst/>
              <a:ahLst/>
              <a:cxnLst/>
              <a:rect l="0" t="0" r="r" b="b"/>
              <a:pathLst>
                <a:path w="1231641" h="54312">
                  <a:moveTo>
                    <a:pt x="6000" y="0"/>
                  </a:moveTo>
                  <a:lnTo>
                    <a:pt x="1225641" y="0"/>
                  </a:lnTo>
                  <a:cubicBezTo>
                    <a:pt x="1228954" y="0"/>
                    <a:pt x="1231641" y="2686"/>
                    <a:pt x="1231641" y="6000"/>
                  </a:cubicBezTo>
                  <a:lnTo>
                    <a:pt x="1231641" y="54312"/>
                  </a:lnTo>
                  <a:cubicBezTo>
                    <a:pt x="1231641" y="54312"/>
                    <a:pt x="1231641" y="54312"/>
                    <a:pt x="1231641" y="54312"/>
                  </a:cubicBezTo>
                  <a:lnTo>
                    <a:pt x="0" y="54312"/>
                  </a:lnTo>
                  <a:cubicBezTo>
                    <a:pt x="0" y="54312"/>
                    <a:pt x="0" y="54312"/>
                    <a:pt x="0" y="54312"/>
                  </a:cubicBezTo>
                  <a:lnTo>
                    <a:pt x="0" y="6000"/>
                  </a:lnTo>
                  <a:cubicBezTo>
                    <a:pt x="0" y="2686"/>
                    <a:pt x="2686" y="0"/>
                    <a:pt x="6000" y="0"/>
                  </a:cubicBezTo>
                  <a:close/>
                </a:path>
              </a:pathLst>
            </a:custGeom>
            <a:gradFill>
              <a:gsLst>
                <a:gs pos="0">
                  <a:srgbClr val="056097"/>
                </a:gs>
                <a:gs pos="100000">
                  <a:srgbClr val="0071AE"/>
                </a:gs>
              </a:gsLst>
              <a:lin ang="0"/>
            </a:gradFill>
            <a:ln w="0">
              <a:noFill/>
            </a:ln>
          </p:spPr>
        </p:sp>
        <p:sp>
          <p:nvSpPr>
            <p:cNvPr id="41" name="Panel content" descr="s40">
              <a:extLst>
                <a:ext uri="{FF2B5EF4-FFF2-40B4-BE49-F238E27FC236}">
                  <ns2:creationId id="{B5D933CF-344F-4674-816F-B6FF961706A9}"/>
                </a:ext>
              </a:extLst>
            </p:cNvPr>
            <p:cNvSpPr>
              <a:spLocks noGrp="1"/>
            </p:cNvSpPr>
            <p:nvPr/>
          </p:nvSpPr>
          <p:spPr>
            <a:xfrm>
              <a:off x="9072414" y="16789152"/>
              <a:ext cx="11731377" cy="4306788"/>
            </a:xfrm>
            <a:custGeom>
              <a:avLst/>
              <a:gdLst/>
              <a:ahLst/>
              <a:cxnLst/>
              <a:rect l="0" t="0" r="r" b="b"/>
              <a:pathLst>
                <a:path w="1231641" h="452156">
                  <a:moveTo>
                    <a:pt x="0" y="0"/>
                  </a:moveTo>
                  <a:lnTo>
                    <a:pt x="1231641" y="0"/>
                  </a:lnTo>
                  <a:cubicBezTo>
                    <a:pt x="1231641" y="0"/>
                    <a:pt x="1231641" y="0"/>
                    <a:pt x="1231641" y="0"/>
                  </a:cubicBezTo>
                  <a:lnTo>
                    <a:pt x="1231641" y="443156"/>
                  </a:lnTo>
                  <a:cubicBezTo>
                    <a:pt x="1231641" y="448127"/>
                    <a:pt x="1227611" y="452156"/>
                    <a:pt x="1222641" y="452156"/>
                  </a:cubicBezTo>
                  <a:lnTo>
                    <a:pt x="9000" y="452156"/>
                  </a:lnTo>
                  <a:cubicBezTo>
                    <a:pt x="4029" y="452156"/>
                    <a:pt x="0" y="448127"/>
                    <a:pt x="0" y="443156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2F8FC"/>
            </a:solidFill>
            <a:ln w="9525">
              <a:solidFill>
                <a:srgbClr val="D9E9F1"/>
              </a:solidFill>
            </a:ln>
          </p:spPr>
        </p:sp>
        <p:sp>
          <p:nvSpPr>
            <p:cNvPr id="69" name="Chart grid" descr="s68">
              <a:extLst>
                <a:ext uri="{FF2B5EF4-FFF2-40B4-BE49-F238E27FC236}">
                  <ns2:creationId id="{258A5556-D823-441E-8C77-970A26035AF9}"/>
                </a:ext>
              </a:extLst>
            </p:cNvPr>
            <p:cNvSpPr>
              <a:spLocks noGrp="1"/>
            </p:cNvSpPr>
            <p:nvPr/>
          </p:nvSpPr>
          <p:spPr>
            <a:xfrm>
              <a:off x="9709753" y="20229433"/>
              <a:ext cx="3089479" cy="95"/>
            </a:xfrm>
            <a:custGeom>
              <a:pathLst>
                <a:path w="3089479" h="95">
                  <a:moveTo>
                    <a:pt x="0" y="0"/>
                  </a:moveTo>
                  <a:lnTo>
                    <a:pt x="3089479" y="0"/>
                  </a:lnTo>
                </a:path>
              </a:pathLst>
            </a:custGeom>
            <a:noFill/>
            <a:ln w="17824">
              <a:solidFill>
                <a:srgbClr val="DCE6ED"/>
              </a:solidFill>
            </a:ln>
          </p:spPr>
        </p:sp>
        <p:sp>
          <p:nvSpPr>
            <p:cNvPr id="70" name="Chart grid" descr="s69">
              <a:extLst>
                <a:ext uri="{FF2B5EF4-FFF2-40B4-BE49-F238E27FC236}">
                  <ns2:creationId id="{EE05BBC5-05FE-4EAD-A8B4-6AF8C1295F7E}"/>
                </a:ext>
              </a:extLst>
            </p:cNvPr>
            <p:cNvSpPr>
              <a:spLocks noGrp="1"/>
            </p:cNvSpPr>
            <p:nvPr/>
          </p:nvSpPr>
          <p:spPr>
            <a:xfrm>
              <a:off x="9709753" y="19176039"/>
              <a:ext cx="3089479" cy="95"/>
            </a:xfrm>
            <a:custGeom>
              <a:pathLst>
                <a:path w="3089479" h="95">
                  <a:moveTo>
                    <a:pt x="0" y="0"/>
                  </a:moveTo>
                  <a:lnTo>
                    <a:pt x="3089479" y="0"/>
                  </a:lnTo>
                </a:path>
              </a:pathLst>
            </a:custGeom>
            <a:noFill/>
            <a:ln w="17824">
              <a:solidFill>
                <a:srgbClr val="DCE6ED"/>
              </a:solidFill>
            </a:ln>
          </p:spPr>
        </p:sp>
        <p:sp>
          <p:nvSpPr>
            <p:cNvPr id="71" name="Chart grid" descr="s70">
              <a:extLst>
                <a:ext uri="{FF2B5EF4-FFF2-40B4-BE49-F238E27FC236}">
                  <ns2:creationId id="{455D2152-D886-4AA6-A4AD-700C2550B651}"/>
                </a:ext>
              </a:extLst>
            </p:cNvPr>
            <p:cNvSpPr>
              <a:spLocks noGrp="1"/>
            </p:cNvSpPr>
            <p:nvPr/>
          </p:nvSpPr>
          <p:spPr>
            <a:xfrm>
              <a:off x="9709753" y="18122646"/>
              <a:ext cx="3089479" cy="95"/>
            </a:xfrm>
            <a:custGeom>
              <a:pathLst>
                <a:path w="3089479" h="95">
                  <a:moveTo>
                    <a:pt x="0" y="0"/>
                  </a:moveTo>
                  <a:lnTo>
                    <a:pt x="3089479" y="0"/>
                  </a:lnTo>
                </a:path>
              </a:pathLst>
            </a:custGeom>
            <a:noFill/>
            <a:ln w="17824">
              <a:solidFill>
                <a:srgbClr val="DCE6ED"/>
              </a:solidFill>
            </a:ln>
          </p:spPr>
        </p:sp>
        <p:sp>
          <p:nvSpPr>
            <p:cNvPr id="72" name="Measured series" descr="s71">
              <a:extLst>
                <a:ext uri="{FF2B5EF4-FFF2-40B4-BE49-F238E27FC236}">
                  <ns2:creationId id="{72EB4B33-795E-4148-91AB-F511970817EA}"/>
                </a:ext>
              </a:extLst>
            </p:cNvPr>
            <p:cNvSpPr>
              <a:spLocks noGrp="1"/>
            </p:cNvSpPr>
            <p:nvPr/>
          </p:nvSpPr>
          <p:spPr>
            <a:xfrm>
              <a:off x="9709753" y="18451319"/>
              <a:ext cx="2994418" cy="804809"/>
            </a:xfrm>
            <a:custGeom>
              <a:pathLst>
                <a:path w="2994418" h="804809">
                  <a:moveTo>
                    <a:pt x="0" y="804809"/>
                  </a:moveTo>
                  <a:lnTo>
                    <a:pt x="499070" y="446667"/>
                  </a:lnTo>
                  <a:lnTo>
                    <a:pt x="998139" y="728879"/>
                  </a:lnTo>
                  <a:lnTo>
                    <a:pt x="1497209" y="206401"/>
                  </a:lnTo>
                  <a:lnTo>
                    <a:pt x="1996279" y="0"/>
                  </a:lnTo>
                  <a:lnTo>
                    <a:pt x="2495349" y="0"/>
                  </a:lnTo>
                  <a:lnTo>
                    <a:pt x="2994418" y="0"/>
                  </a:lnTo>
                </a:path>
              </a:pathLst>
            </a:custGeom>
            <a:noFill/>
            <a:ln w="47530">
              <a:solidFill>
                <a:srgbClr val="0674B6"/>
              </a:solidFill>
            </a:ln>
          </p:spPr>
        </p:sp>
        <p:sp>
          <p:nvSpPr>
            <p:cNvPr id="73" name="Measured point" descr="s72">
              <a:extLst>
                <a:ext uri="{FF2B5EF4-FFF2-40B4-BE49-F238E27FC236}">
                  <ns2:creationId id="{4B224173-9AA3-4299-A78C-5DDF64792FC4}"/>
                </a:ext>
              </a:extLst>
            </p:cNvPr>
            <p:cNvSpPr>
              <a:spLocks noGrp="1"/>
            </p:cNvSpPr>
            <p:nvPr/>
          </p:nvSpPr>
          <p:spPr>
            <a:xfrm>
              <a:off x="9650340" y="19196715"/>
              <a:ext cx="118826" cy="118826"/>
            </a:xfrm>
            <a:prstGeom prst="ellipse">
              <a:avLst/>
            </a:prstGeom>
            <a:solidFill>
              <a:srgbClr val="0674B6"/>
            </a:solidFill>
            <a:ln w="0">
              <a:noFill/>
            </a:ln>
          </p:spPr>
        </p:sp>
        <p:sp>
          <p:nvSpPr>
            <p:cNvPr id="74" name="Measured point" descr="s73">
              <a:extLst>
                <a:ext uri="{FF2B5EF4-FFF2-40B4-BE49-F238E27FC236}">
                  <ns2:creationId id="{68DBAA2A-DB69-46A8-876B-4626A2B8A36B}"/>
                </a:ext>
              </a:extLst>
            </p:cNvPr>
            <p:cNvSpPr>
              <a:spLocks noGrp="1"/>
            </p:cNvSpPr>
            <p:nvPr/>
          </p:nvSpPr>
          <p:spPr>
            <a:xfrm>
              <a:off x="10149409" y="18838573"/>
              <a:ext cx="118826" cy="118826"/>
            </a:xfrm>
            <a:prstGeom prst="ellipse">
              <a:avLst/>
            </a:prstGeom>
            <a:solidFill>
              <a:srgbClr val="0674B6"/>
            </a:solidFill>
            <a:ln w="0">
              <a:noFill/>
            </a:ln>
          </p:spPr>
        </p:sp>
        <p:sp>
          <p:nvSpPr>
            <p:cNvPr id="75" name="Measured point" descr="s74">
              <a:extLst>
                <a:ext uri="{FF2B5EF4-FFF2-40B4-BE49-F238E27FC236}">
                  <ns2:creationId id="{3B62D72B-4EDA-4F67-B687-3A9EFFFB6D70}"/>
                </a:ext>
              </a:extLst>
            </p:cNvPr>
            <p:cNvSpPr>
              <a:spLocks noGrp="1"/>
            </p:cNvSpPr>
            <p:nvPr/>
          </p:nvSpPr>
          <p:spPr>
            <a:xfrm>
              <a:off x="10648479" y="19120785"/>
              <a:ext cx="118826" cy="118826"/>
            </a:xfrm>
            <a:prstGeom prst="ellipse">
              <a:avLst/>
            </a:prstGeom>
            <a:solidFill>
              <a:srgbClr val="0674B6"/>
            </a:solidFill>
            <a:ln w="0">
              <a:noFill/>
            </a:ln>
          </p:spPr>
        </p:sp>
        <p:sp>
          <p:nvSpPr>
            <p:cNvPr id="76" name="Measured point" descr="s75">
              <a:extLst>
                <a:ext uri="{FF2B5EF4-FFF2-40B4-BE49-F238E27FC236}">
                  <ns2:creationId id="{8AA997AF-65D4-4A3F-B0EE-F31FD66DB107}"/>
                </a:ext>
              </a:extLst>
            </p:cNvPr>
            <p:cNvSpPr>
              <a:spLocks noGrp="1"/>
            </p:cNvSpPr>
            <p:nvPr/>
          </p:nvSpPr>
          <p:spPr>
            <a:xfrm>
              <a:off x="11147549" y="18598307"/>
              <a:ext cx="118826" cy="118826"/>
            </a:xfrm>
            <a:prstGeom prst="ellipse">
              <a:avLst/>
            </a:prstGeom>
            <a:solidFill>
              <a:srgbClr val="0674B6"/>
            </a:solidFill>
            <a:ln w="0">
              <a:noFill/>
            </a:ln>
          </p:spPr>
        </p:sp>
        <p:sp>
          <p:nvSpPr>
            <p:cNvPr id="77" name="Measured point" descr="s76">
              <a:extLst>
                <a:ext uri="{FF2B5EF4-FFF2-40B4-BE49-F238E27FC236}">
                  <ns2:creationId id="{3EAC186E-D16F-4541-B99D-1F6D9FAEFC66}"/>
                </a:ext>
              </a:extLst>
            </p:cNvPr>
            <p:cNvSpPr>
              <a:spLocks noGrp="1"/>
            </p:cNvSpPr>
            <p:nvPr/>
          </p:nvSpPr>
          <p:spPr>
            <a:xfrm>
              <a:off x="11646618" y="18391906"/>
              <a:ext cx="118826" cy="118826"/>
            </a:xfrm>
            <a:prstGeom prst="ellipse">
              <a:avLst/>
            </a:prstGeom>
            <a:solidFill>
              <a:srgbClr val="0674B6"/>
            </a:solidFill>
            <a:ln w="0">
              <a:noFill/>
            </a:ln>
          </p:spPr>
        </p:sp>
        <p:sp>
          <p:nvSpPr>
            <p:cNvPr id="78" name="Measured point" descr="s77">
              <a:extLst>
                <a:ext uri="{FF2B5EF4-FFF2-40B4-BE49-F238E27FC236}">
                  <ns2:creationId id="{E5F90763-B277-40F5-AF8D-92DA1016FB38}"/>
                </a:ext>
              </a:extLst>
            </p:cNvPr>
            <p:cNvSpPr>
              <a:spLocks noGrp="1"/>
            </p:cNvSpPr>
            <p:nvPr/>
          </p:nvSpPr>
          <p:spPr>
            <a:xfrm>
              <a:off x="12145688" y="18391906"/>
              <a:ext cx="118826" cy="118826"/>
            </a:xfrm>
            <a:prstGeom prst="ellipse">
              <a:avLst/>
            </a:prstGeom>
            <a:solidFill>
              <a:srgbClr val="0674B6"/>
            </a:solidFill>
            <a:ln w="0">
              <a:noFill/>
            </a:ln>
          </p:spPr>
        </p:sp>
        <p:sp>
          <p:nvSpPr>
            <p:cNvPr id="79" name="Measured point" descr="s78">
              <a:extLst>
                <a:ext uri="{FF2B5EF4-FFF2-40B4-BE49-F238E27FC236}">
                  <ns2:creationId id="{C82F7002-882F-4378-BB00-5C0662B037D7}"/>
                </a:ext>
              </a:extLst>
            </p:cNvPr>
            <p:cNvSpPr>
              <a:spLocks noGrp="1"/>
            </p:cNvSpPr>
            <p:nvPr/>
          </p:nvSpPr>
          <p:spPr>
            <a:xfrm>
              <a:off x="12644758" y="18391906"/>
              <a:ext cx="118826" cy="118826"/>
            </a:xfrm>
            <a:prstGeom prst="ellipse">
              <a:avLst/>
            </a:prstGeom>
            <a:solidFill>
              <a:srgbClr val="0674B6"/>
            </a:solidFill>
            <a:ln w="0">
              <a:noFill/>
            </a:ln>
          </p:spPr>
        </p:sp>
        <p:sp>
          <p:nvSpPr>
            <p:cNvPr id="80" name="Chart grid" descr="s79">
              <a:extLst>
                <a:ext uri="{FF2B5EF4-FFF2-40B4-BE49-F238E27FC236}">
                  <ns2:creationId id="{EED7EA39-F0B8-47DF-B0D1-C846BF80E560}"/>
                </a:ext>
              </a:extLst>
            </p:cNvPr>
            <p:cNvSpPr>
              <a:spLocks noGrp="1"/>
            </p:cNvSpPr>
            <p:nvPr/>
          </p:nvSpPr>
          <p:spPr>
            <a:xfrm>
              <a:off x="13547836" y="20229433"/>
              <a:ext cx="3089479" cy="95"/>
            </a:xfrm>
            <a:custGeom>
              <a:pathLst>
                <a:path w="3089479" h="95">
                  <a:moveTo>
                    <a:pt x="0" y="0"/>
                  </a:moveTo>
                  <a:lnTo>
                    <a:pt x="3089479" y="0"/>
                  </a:lnTo>
                </a:path>
              </a:pathLst>
            </a:custGeom>
            <a:noFill/>
            <a:ln w="17824">
              <a:solidFill>
                <a:srgbClr val="DCE6ED"/>
              </a:solidFill>
            </a:ln>
          </p:spPr>
        </p:sp>
        <p:sp>
          <p:nvSpPr>
            <p:cNvPr id="81" name="Chart grid" descr="s80">
              <a:extLst>
                <a:ext uri="{FF2B5EF4-FFF2-40B4-BE49-F238E27FC236}">
                  <ns2:creationId id="{A30068E8-1527-4D6D-BBF6-A487A6D981C2}"/>
                </a:ext>
              </a:extLst>
            </p:cNvPr>
            <p:cNvSpPr>
              <a:spLocks noGrp="1"/>
            </p:cNvSpPr>
            <p:nvPr/>
          </p:nvSpPr>
          <p:spPr>
            <a:xfrm>
              <a:off x="13547836" y="19176039"/>
              <a:ext cx="3089479" cy="95"/>
            </a:xfrm>
            <a:custGeom>
              <a:pathLst>
                <a:path w="3089479" h="95">
                  <a:moveTo>
                    <a:pt x="0" y="0"/>
                  </a:moveTo>
                  <a:lnTo>
                    <a:pt x="3089479" y="0"/>
                  </a:lnTo>
                </a:path>
              </a:pathLst>
            </a:custGeom>
            <a:noFill/>
            <a:ln w="17824">
              <a:solidFill>
                <a:srgbClr val="DCE6ED"/>
              </a:solidFill>
            </a:ln>
          </p:spPr>
        </p:sp>
        <p:sp>
          <p:nvSpPr>
            <p:cNvPr id="82" name="Chart grid" descr="s81">
              <a:extLst>
                <a:ext uri="{FF2B5EF4-FFF2-40B4-BE49-F238E27FC236}">
                  <ns2:creationId id="{D8101962-186C-4977-B2F8-0D283DF6C767}"/>
                </a:ext>
              </a:extLst>
            </p:cNvPr>
            <p:cNvSpPr>
              <a:spLocks noGrp="1"/>
            </p:cNvSpPr>
            <p:nvPr/>
          </p:nvSpPr>
          <p:spPr>
            <a:xfrm>
              <a:off x="13547836" y="18122646"/>
              <a:ext cx="3089479" cy="95"/>
            </a:xfrm>
            <a:custGeom>
              <a:pathLst>
                <a:path w="3089479" h="95">
                  <a:moveTo>
                    <a:pt x="0" y="0"/>
                  </a:moveTo>
                  <a:lnTo>
                    <a:pt x="3089479" y="0"/>
                  </a:lnTo>
                </a:path>
              </a:pathLst>
            </a:custGeom>
            <a:noFill/>
            <a:ln w="17824">
              <a:solidFill>
                <a:srgbClr val="DCE6ED"/>
              </a:solidFill>
            </a:ln>
          </p:spPr>
        </p:sp>
        <p:sp>
          <p:nvSpPr>
            <p:cNvPr id="83" name="Measured series" descr="s82">
              <a:extLst>
                <a:ext uri="{FF2B5EF4-FFF2-40B4-BE49-F238E27FC236}">
                  <ns2:creationId id="{02DBDD39-7E81-423B-B70E-A4849A1DC6AB}"/>
                </a:ext>
              </a:extLst>
            </p:cNvPr>
            <p:cNvSpPr>
              <a:spLocks noGrp="1"/>
            </p:cNvSpPr>
            <p:nvPr/>
          </p:nvSpPr>
          <p:spPr>
            <a:xfrm>
              <a:off x="13547836" y="18928168"/>
              <a:ext cx="2994418" cy="1141087"/>
            </a:xfrm>
            <a:custGeom>
              <a:pathLst>
                <a:path w="2994418" h="1141087">
                  <a:moveTo>
                    <a:pt x="0" y="1141087"/>
                  </a:moveTo>
                  <a:lnTo>
                    <a:pt x="499070" y="1064920"/>
                  </a:lnTo>
                  <a:lnTo>
                    <a:pt x="998139" y="990891"/>
                  </a:lnTo>
                  <a:lnTo>
                    <a:pt x="1497209" y="833922"/>
                  </a:lnTo>
                  <a:lnTo>
                    <a:pt x="1996279" y="730781"/>
                  </a:lnTo>
                  <a:lnTo>
                    <a:pt x="2495349" y="730781"/>
                  </a:lnTo>
                  <a:lnTo>
                    <a:pt x="2994418" y="0"/>
                  </a:lnTo>
                </a:path>
              </a:pathLst>
            </a:custGeom>
            <a:noFill/>
            <a:ln w="47530">
              <a:solidFill>
                <a:srgbClr val="0674B6"/>
              </a:solidFill>
            </a:ln>
          </p:spPr>
        </p:sp>
        <p:sp>
          <p:nvSpPr>
            <p:cNvPr id="84" name="Measured point" descr="s83">
              <a:extLst>
                <a:ext uri="{FF2B5EF4-FFF2-40B4-BE49-F238E27FC236}">
                  <ns2:creationId id="{CA7F9513-DD9C-40F6-A203-C783B084DCAC}"/>
                </a:ext>
              </a:extLst>
            </p:cNvPr>
            <p:cNvSpPr>
              <a:spLocks noGrp="1"/>
            </p:cNvSpPr>
            <p:nvPr/>
          </p:nvSpPr>
          <p:spPr>
            <a:xfrm>
              <a:off x="13488423" y="20009842"/>
              <a:ext cx="118826" cy="118826"/>
            </a:xfrm>
            <a:prstGeom prst="ellipse">
              <a:avLst/>
            </a:prstGeom>
            <a:solidFill>
              <a:srgbClr val="0674B6"/>
            </a:solidFill>
            <a:ln w="0">
              <a:noFill/>
            </a:ln>
          </p:spPr>
        </p:sp>
        <p:sp>
          <p:nvSpPr>
            <p:cNvPr id="85" name="Measured point" descr="s84">
              <a:extLst>
                <a:ext uri="{FF2B5EF4-FFF2-40B4-BE49-F238E27FC236}">
                  <ns2:creationId id="{1DA129D8-6A6D-42FD-B235-7FF2753A4C27}"/>
                </a:ext>
              </a:extLst>
            </p:cNvPr>
            <p:cNvSpPr>
              <a:spLocks noGrp="1"/>
            </p:cNvSpPr>
            <p:nvPr/>
          </p:nvSpPr>
          <p:spPr>
            <a:xfrm>
              <a:off x="13987493" y="19933675"/>
              <a:ext cx="118826" cy="118826"/>
            </a:xfrm>
            <a:prstGeom prst="ellipse">
              <a:avLst/>
            </a:prstGeom>
            <a:solidFill>
              <a:srgbClr val="0674B6"/>
            </a:solidFill>
            <a:ln w="0">
              <a:noFill/>
            </a:ln>
          </p:spPr>
        </p:sp>
        <p:sp>
          <p:nvSpPr>
            <p:cNvPr id="86" name="Measured point" descr="s85">
              <a:extLst>
                <a:ext uri="{FF2B5EF4-FFF2-40B4-BE49-F238E27FC236}">
                  <ns2:creationId id="{C0CD590F-7684-4A02-9772-212B5156C5AF}"/>
                </a:ext>
              </a:extLst>
            </p:cNvPr>
            <p:cNvSpPr>
              <a:spLocks noGrp="1"/>
            </p:cNvSpPr>
            <p:nvPr/>
          </p:nvSpPr>
          <p:spPr>
            <a:xfrm>
              <a:off x="14486563" y="19859646"/>
              <a:ext cx="118826" cy="118826"/>
            </a:xfrm>
            <a:prstGeom prst="ellipse">
              <a:avLst/>
            </a:prstGeom>
            <a:solidFill>
              <a:srgbClr val="0674B6"/>
            </a:solidFill>
            <a:ln w="0">
              <a:noFill/>
            </a:ln>
          </p:spPr>
        </p:sp>
        <p:sp>
          <p:nvSpPr>
            <p:cNvPr id="87" name="Measured point" descr="s86">
              <a:extLst>
                <a:ext uri="{FF2B5EF4-FFF2-40B4-BE49-F238E27FC236}">
                  <ns2:creationId id="{A3C14C0C-5DD9-47B7-9BE0-587280820124}"/>
                </a:ext>
              </a:extLst>
            </p:cNvPr>
            <p:cNvSpPr>
              <a:spLocks noGrp="1"/>
            </p:cNvSpPr>
            <p:nvPr/>
          </p:nvSpPr>
          <p:spPr>
            <a:xfrm>
              <a:off x="14985633" y="19702677"/>
              <a:ext cx="118826" cy="118826"/>
            </a:xfrm>
            <a:prstGeom prst="ellipse">
              <a:avLst/>
            </a:prstGeom>
            <a:solidFill>
              <a:srgbClr val="0674B6"/>
            </a:solidFill>
            <a:ln w="0">
              <a:noFill/>
            </a:ln>
          </p:spPr>
        </p:sp>
        <p:sp>
          <p:nvSpPr>
            <p:cNvPr id="88" name="Measured point" descr="s87">
              <a:extLst>
                <a:ext uri="{FF2B5EF4-FFF2-40B4-BE49-F238E27FC236}">
                  <ns2:creationId id="{00A2D6BF-2B34-4A17-94B7-0A80042DADB5}"/>
                </a:ext>
              </a:extLst>
            </p:cNvPr>
            <p:cNvSpPr>
              <a:spLocks noGrp="1"/>
            </p:cNvSpPr>
            <p:nvPr/>
          </p:nvSpPr>
          <p:spPr>
            <a:xfrm>
              <a:off x="15484702" y="19599536"/>
              <a:ext cx="118826" cy="118826"/>
            </a:xfrm>
            <a:prstGeom prst="ellipse">
              <a:avLst/>
            </a:prstGeom>
            <a:solidFill>
              <a:srgbClr val="0674B6"/>
            </a:solidFill>
            <a:ln w="0">
              <a:noFill/>
            </a:ln>
          </p:spPr>
        </p:sp>
        <p:sp>
          <p:nvSpPr>
            <p:cNvPr id="89" name="Measured point" descr="s88">
              <a:extLst>
                <a:ext uri="{FF2B5EF4-FFF2-40B4-BE49-F238E27FC236}">
                  <ns2:creationId id="{0E2371D6-FC36-4212-AF58-DF52A73CAC2A}"/>
                </a:ext>
              </a:extLst>
            </p:cNvPr>
            <p:cNvSpPr>
              <a:spLocks noGrp="1"/>
            </p:cNvSpPr>
            <p:nvPr/>
          </p:nvSpPr>
          <p:spPr>
            <a:xfrm>
              <a:off x="15983772" y="19599536"/>
              <a:ext cx="118826" cy="118826"/>
            </a:xfrm>
            <a:prstGeom prst="ellipse">
              <a:avLst/>
            </a:prstGeom>
            <a:solidFill>
              <a:srgbClr val="0674B6"/>
            </a:solidFill>
            <a:ln w="0">
              <a:noFill/>
            </a:ln>
          </p:spPr>
        </p:sp>
        <p:sp>
          <p:nvSpPr>
            <p:cNvPr id="90" name="Measured point" descr="s89">
              <a:extLst>
                <a:ext uri="{FF2B5EF4-FFF2-40B4-BE49-F238E27FC236}">
                  <ns2:creationId id="{04D7FE7E-E989-4BBA-9E66-FF2DEEB89D63}"/>
                </a:ext>
              </a:extLst>
            </p:cNvPr>
            <p:cNvSpPr>
              <a:spLocks noGrp="1"/>
            </p:cNvSpPr>
            <p:nvPr/>
          </p:nvSpPr>
          <p:spPr>
            <a:xfrm>
              <a:off x="16482842" y="18868755"/>
              <a:ext cx="118826" cy="118826"/>
            </a:xfrm>
            <a:prstGeom prst="ellipse">
              <a:avLst/>
            </a:prstGeom>
            <a:solidFill>
              <a:srgbClr val="0674B6"/>
            </a:solidFill>
            <a:ln w="0">
              <a:noFill/>
            </a:ln>
          </p:spPr>
        </p:sp>
        <p:sp>
          <p:nvSpPr>
            <p:cNvPr id="91" name="Chart grid" descr="s90">
              <a:extLst>
                <a:ext uri="{FF2B5EF4-FFF2-40B4-BE49-F238E27FC236}">
                  <ns2:creationId id="{73EC1C34-E197-4383-9411-4380E066A305}"/>
                </a:ext>
              </a:extLst>
            </p:cNvPr>
            <p:cNvSpPr>
              <a:spLocks noGrp="1"/>
            </p:cNvSpPr>
            <p:nvPr/>
          </p:nvSpPr>
          <p:spPr>
            <a:xfrm>
              <a:off x="17385920" y="20229433"/>
              <a:ext cx="3089479" cy="95"/>
            </a:xfrm>
            <a:custGeom>
              <a:pathLst>
                <a:path w="3089479" h="95">
                  <a:moveTo>
                    <a:pt x="0" y="0"/>
                  </a:moveTo>
                  <a:lnTo>
                    <a:pt x="3089479" y="0"/>
                  </a:lnTo>
                </a:path>
              </a:pathLst>
            </a:custGeom>
            <a:noFill/>
            <a:ln w="17824">
              <a:solidFill>
                <a:srgbClr val="DCE6ED"/>
              </a:solidFill>
            </a:ln>
          </p:spPr>
        </p:sp>
        <p:sp>
          <p:nvSpPr>
            <p:cNvPr id="92" name="Chart grid" descr="s91">
              <a:extLst>
                <a:ext uri="{FF2B5EF4-FFF2-40B4-BE49-F238E27FC236}">
                  <ns2:creationId id="{38C0D3E8-48AD-4FCF-B106-655DFD79B86E}"/>
                </a:ext>
              </a:extLst>
            </p:cNvPr>
            <p:cNvSpPr>
              <a:spLocks noGrp="1"/>
            </p:cNvSpPr>
            <p:nvPr/>
          </p:nvSpPr>
          <p:spPr>
            <a:xfrm>
              <a:off x="17385920" y="19176039"/>
              <a:ext cx="3089479" cy="95"/>
            </a:xfrm>
            <a:custGeom>
              <a:pathLst>
                <a:path w="3089479" h="95">
                  <a:moveTo>
                    <a:pt x="0" y="0"/>
                  </a:moveTo>
                  <a:lnTo>
                    <a:pt x="3089479" y="0"/>
                  </a:lnTo>
                </a:path>
              </a:pathLst>
            </a:custGeom>
            <a:noFill/>
            <a:ln w="17824">
              <a:solidFill>
                <a:srgbClr val="DCE6ED"/>
              </a:solidFill>
            </a:ln>
          </p:spPr>
        </p:sp>
        <p:sp>
          <p:nvSpPr>
            <p:cNvPr id="93" name="Chart grid" descr="s92">
              <a:extLst>
                <a:ext uri="{FF2B5EF4-FFF2-40B4-BE49-F238E27FC236}">
                  <ns2:creationId id="{2C9867EF-ABCD-466A-9ABD-D35FC60DE261}"/>
                </a:ext>
              </a:extLst>
            </p:cNvPr>
            <p:cNvSpPr>
              <a:spLocks noGrp="1"/>
            </p:cNvSpPr>
            <p:nvPr/>
          </p:nvSpPr>
          <p:spPr>
            <a:xfrm>
              <a:off x="17385920" y="18122646"/>
              <a:ext cx="3089479" cy="95"/>
            </a:xfrm>
            <a:custGeom>
              <a:pathLst>
                <a:path w="3089479" h="95">
                  <a:moveTo>
                    <a:pt x="0" y="0"/>
                  </a:moveTo>
                  <a:lnTo>
                    <a:pt x="3089479" y="0"/>
                  </a:lnTo>
                </a:path>
              </a:pathLst>
            </a:custGeom>
            <a:noFill/>
            <a:ln w="17824">
              <a:solidFill>
                <a:srgbClr val="DCE6ED"/>
              </a:solidFill>
            </a:ln>
          </p:spPr>
        </p:sp>
        <p:sp>
          <p:nvSpPr>
            <p:cNvPr id="94" name="Measured series" descr="s93">
              <a:extLst>
                <a:ext uri="{FF2B5EF4-FFF2-40B4-BE49-F238E27FC236}">
                  <ns2:creationId id="{5CBF365A-05E8-4808-81DD-66E59D75A76C}"/>
                </a:ext>
              </a:extLst>
            </p:cNvPr>
            <p:cNvSpPr>
              <a:spLocks noGrp="1"/>
            </p:cNvSpPr>
            <p:nvPr/>
          </p:nvSpPr>
          <p:spPr>
            <a:xfrm>
              <a:off x="17385920" y="18566224"/>
              <a:ext cx="2994418" cy="851864"/>
            </a:xfrm>
            <a:custGeom>
              <a:pathLst>
                <a:path w="2994418" h="851864">
                  <a:moveTo>
                    <a:pt x="0" y="851864"/>
                  </a:moveTo>
                  <a:lnTo>
                    <a:pt x="499070" y="364915"/>
                  </a:lnTo>
                  <a:lnTo>
                    <a:pt x="998139" y="548858"/>
                  </a:lnTo>
                  <a:lnTo>
                    <a:pt x="1497209" y="132135"/>
                  </a:lnTo>
                  <a:lnTo>
                    <a:pt x="1996279" y="0"/>
                  </a:lnTo>
                  <a:lnTo>
                    <a:pt x="2495349" y="0"/>
                  </a:lnTo>
                  <a:lnTo>
                    <a:pt x="2994418" y="88644"/>
                  </a:lnTo>
                </a:path>
              </a:pathLst>
            </a:custGeom>
            <a:noFill/>
            <a:ln w="47530">
              <a:solidFill>
                <a:srgbClr val="0674B6"/>
              </a:solidFill>
            </a:ln>
          </p:spPr>
        </p:sp>
        <p:sp>
          <p:nvSpPr>
            <p:cNvPr id="95" name="Measured point" descr="s94">
              <a:extLst>
                <a:ext uri="{FF2B5EF4-FFF2-40B4-BE49-F238E27FC236}">
                  <ns2:creationId id="{91E19DE9-32A9-4442-9103-F7A6CA51C4BD}"/>
                </a:ext>
              </a:extLst>
            </p:cNvPr>
            <p:cNvSpPr>
              <a:spLocks noGrp="1"/>
            </p:cNvSpPr>
            <p:nvPr/>
          </p:nvSpPr>
          <p:spPr>
            <a:xfrm>
              <a:off x="17326507" y="19358675"/>
              <a:ext cx="118826" cy="118826"/>
            </a:xfrm>
            <a:prstGeom prst="ellipse">
              <a:avLst/>
            </a:prstGeom>
            <a:solidFill>
              <a:srgbClr val="0674B6"/>
            </a:solidFill>
            <a:ln w="0">
              <a:noFill/>
            </a:ln>
          </p:spPr>
        </p:sp>
        <p:sp>
          <p:nvSpPr>
            <p:cNvPr id="96" name="Measured point" descr="s95">
              <a:extLst>
                <a:ext uri="{FF2B5EF4-FFF2-40B4-BE49-F238E27FC236}">
                  <ns2:creationId id="{C2D009F9-467C-4360-914B-28B8ADEDD20F}"/>
                </a:ext>
              </a:extLst>
            </p:cNvPr>
            <p:cNvSpPr>
              <a:spLocks noGrp="1"/>
            </p:cNvSpPr>
            <p:nvPr/>
          </p:nvSpPr>
          <p:spPr>
            <a:xfrm>
              <a:off x="17825577" y="18871726"/>
              <a:ext cx="118826" cy="118826"/>
            </a:xfrm>
            <a:prstGeom prst="ellipse">
              <a:avLst/>
            </a:prstGeom>
            <a:solidFill>
              <a:srgbClr val="0674B6"/>
            </a:solidFill>
            <a:ln w="0">
              <a:noFill/>
            </a:ln>
          </p:spPr>
        </p:sp>
        <p:sp>
          <p:nvSpPr>
            <p:cNvPr id="97" name="Measured point" descr="s96">
              <a:extLst>
                <a:ext uri="{FF2B5EF4-FFF2-40B4-BE49-F238E27FC236}">
                  <ns2:creationId id="{430F6E9C-99FD-438B-97E0-31B6547B3820}"/>
                </a:ext>
              </a:extLst>
            </p:cNvPr>
            <p:cNvSpPr>
              <a:spLocks noGrp="1"/>
            </p:cNvSpPr>
            <p:nvPr/>
          </p:nvSpPr>
          <p:spPr>
            <a:xfrm>
              <a:off x="18324647" y="19055669"/>
              <a:ext cx="118826" cy="118826"/>
            </a:xfrm>
            <a:prstGeom prst="ellipse">
              <a:avLst/>
            </a:prstGeom>
            <a:solidFill>
              <a:srgbClr val="0674B6"/>
            </a:solidFill>
            <a:ln w="0">
              <a:noFill/>
            </a:ln>
          </p:spPr>
        </p:sp>
        <p:sp>
          <p:nvSpPr>
            <p:cNvPr id="98" name="Measured point" descr="s97">
              <a:extLst>
                <a:ext uri="{FF2B5EF4-FFF2-40B4-BE49-F238E27FC236}">
                  <ns2:creationId id="{0AC05461-8AF0-448F-865B-F0D763F3A32B}"/>
                </a:ext>
              </a:extLst>
            </p:cNvPr>
            <p:cNvSpPr>
              <a:spLocks noGrp="1"/>
            </p:cNvSpPr>
            <p:nvPr/>
          </p:nvSpPr>
          <p:spPr>
            <a:xfrm>
              <a:off x="18823716" y="18638945"/>
              <a:ext cx="118826" cy="118826"/>
            </a:xfrm>
            <a:prstGeom prst="ellipse">
              <a:avLst/>
            </a:prstGeom>
            <a:solidFill>
              <a:srgbClr val="0674B6"/>
            </a:solidFill>
            <a:ln w="0">
              <a:noFill/>
            </a:ln>
          </p:spPr>
        </p:sp>
        <p:sp>
          <p:nvSpPr>
            <p:cNvPr id="99" name="Measured point" descr="s98">
              <a:extLst>
                <a:ext uri="{FF2B5EF4-FFF2-40B4-BE49-F238E27FC236}">
                  <ns2:creationId id="{FEBD2D70-4B7B-4DBC-A328-8986A2FC0DEB}"/>
                </a:ext>
              </a:extLst>
            </p:cNvPr>
            <p:cNvSpPr>
              <a:spLocks noGrp="1"/>
            </p:cNvSpPr>
            <p:nvPr/>
          </p:nvSpPr>
          <p:spPr>
            <a:xfrm>
              <a:off x="19322786" y="18506811"/>
              <a:ext cx="118826" cy="118826"/>
            </a:xfrm>
            <a:prstGeom prst="ellipse">
              <a:avLst/>
            </a:prstGeom>
            <a:solidFill>
              <a:srgbClr val="0674B6"/>
            </a:solidFill>
            <a:ln w="0">
              <a:noFill/>
            </a:ln>
          </p:spPr>
        </p:sp>
        <p:sp>
          <p:nvSpPr>
            <p:cNvPr id="100" name="Measured point" descr="s99">
              <a:extLst>
                <a:ext uri="{FF2B5EF4-FFF2-40B4-BE49-F238E27FC236}">
                  <ns2:creationId id="{E916AA3E-564E-445F-AC37-6352007B48F9}"/>
                </a:ext>
              </a:extLst>
            </p:cNvPr>
            <p:cNvSpPr>
              <a:spLocks noGrp="1"/>
            </p:cNvSpPr>
            <p:nvPr/>
          </p:nvSpPr>
          <p:spPr>
            <a:xfrm>
              <a:off x="19821856" y="18506811"/>
              <a:ext cx="118826" cy="118826"/>
            </a:xfrm>
            <a:prstGeom prst="ellipse">
              <a:avLst/>
            </a:prstGeom>
            <a:solidFill>
              <a:srgbClr val="0674B6"/>
            </a:solidFill>
            <a:ln w="0">
              <a:noFill/>
            </a:ln>
          </p:spPr>
        </p:sp>
        <p:sp>
          <p:nvSpPr>
            <p:cNvPr id="101" name="Measured point" descr="s100">
              <a:extLst>
                <a:ext uri="{FF2B5EF4-FFF2-40B4-BE49-F238E27FC236}">
                  <ns2:creationId id="{7F6EB2E5-DC87-443D-93F3-441E3AA71714}"/>
                </a:ext>
              </a:extLst>
            </p:cNvPr>
            <p:cNvSpPr>
              <a:spLocks noGrp="1"/>
            </p:cNvSpPr>
            <p:nvPr/>
          </p:nvSpPr>
          <p:spPr>
            <a:xfrm>
              <a:off x="20320926" y="18595455"/>
              <a:ext cx="118826" cy="118826"/>
            </a:xfrm>
            <a:prstGeom prst="ellipse">
              <a:avLst/>
            </a:prstGeom>
            <a:solidFill>
              <a:srgbClr val="0674B6"/>
            </a:solidFill>
            <a:ln w="0">
              <a:noFill/>
            </a:ln>
          </p:spPr>
        </p:sp>
        <p:sp>
          <p:nvSpPr>
            <p:cNvPr id="102" name="46.2" descr="s101">
              <a:extLst>
                <a:ext uri="{FF2B5EF4-FFF2-40B4-BE49-F238E27FC236}">
                  <ns2:creationId id="{4AB47B57-4803-4B54-9E54-C7824B982528}"/>
                </a:ext>
              </a:extLst>
            </p:cNvPr>
            <p:cNvSpPr>
              <a:spLocks noGrp="1"/>
            </p:cNvSpPr>
            <p:nvPr/>
          </p:nvSpPr>
          <p:spPr>
            <a:xfrm>
              <a:off x="9474283" y="19324625"/>
              <a:ext cx="531057" cy="39052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46.2</a:t>
              </a:r>
              <a:endParaRPr lang="en-GB" sz="2339"/>
            </a:p>
          </p:txBody>
        </p:sp>
        <p:sp>
          <p:nvSpPr>
            <p:cNvPr id="103" name="63.2" descr="s102">
              <a:extLst>
                <a:ext uri="{FF2B5EF4-FFF2-40B4-BE49-F238E27FC236}">
                  <ns2:creationId id="{C48FF86A-A96C-4AB8-B4F6-D94C48ABD743}"/>
                </a:ext>
              </a:extLst>
            </p:cNvPr>
            <p:cNvSpPr>
              <a:spLocks noGrp="1"/>
            </p:cNvSpPr>
            <p:nvPr/>
          </p:nvSpPr>
          <p:spPr>
            <a:xfrm>
              <a:off x="9980906" y="18408289"/>
              <a:ext cx="516806" cy="3905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63.2</a:t>
              </a:r>
              <a:endParaRPr lang="en-GB" sz="2339"/>
            </a:p>
          </p:txBody>
        </p:sp>
        <p:sp>
          <p:nvSpPr>
            <p:cNvPr id="104" name="49.8" descr="s103">
              <a:extLst>
                <a:ext uri="{FF2B5EF4-FFF2-40B4-BE49-F238E27FC236}">
                  <ns2:creationId id="{24B34B74-9E9B-4245-86A5-3BBEB40CE90B}"/>
                </a:ext>
              </a:extLst>
            </p:cNvPr>
            <p:cNvSpPr>
              <a:spLocks noGrp="1"/>
            </p:cNvSpPr>
            <p:nvPr/>
          </p:nvSpPr>
          <p:spPr>
            <a:xfrm>
              <a:off x="10473170" y="19214361"/>
              <a:ext cx="527000" cy="3905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49.8</a:t>
              </a:r>
              <a:endParaRPr lang="en-GB" sz="2339"/>
            </a:p>
          </p:txBody>
        </p:sp>
        <p:sp>
          <p:nvSpPr>
            <p:cNvPr id="105" name="74.6" descr="s104">
              <a:extLst>
                <a:ext uri="{FF2B5EF4-FFF2-40B4-BE49-F238E27FC236}">
                  <ns2:creationId id="{011B6279-1BE6-4B08-9909-EB29FC233BBF}"/>
                </a:ext>
              </a:extLst>
            </p:cNvPr>
            <p:cNvSpPr>
              <a:spLocks noGrp="1"/>
            </p:cNvSpPr>
            <p:nvPr/>
          </p:nvSpPr>
          <p:spPr>
            <a:xfrm>
              <a:off x="10976370" y="18167876"/>
              <a:ext cx="518665" cy="3905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74.6</a:t>
              </a:r>
              <a:endParaRPr lang="en-GB" sz="2339"/>
            </a:p>
          </p:txBody>
        </p:sp>
        <p:sp>
          <p:nvSpPr>
            <p:cNvPr id="106" name="84.4" descr="s105">
              <a:extLst>
                <a:ext uri="{FF2B5EF4-FFF2-40B4-BE49-F238E27FC236}">
                  <ns2:creationId id="{6A632E4A-FE0C-4A05-A41C-66E2ABF87FDF}"/>
                </a:ext>
              </a:extLst>
            </p:cNvPr>
            <p:cNvSpPr>
              <a:spLocks noGrp="1"/>
            </p:cNvSpPr>
            <p:nvPr/>
          </p:nvSpPr>
          <p:spPr>
            <a:xfrm>
              <a:off x="11464301" y="17961359"/>
              <a:ext cx="541437" cy="3905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84.4</a:t>
              </a:r>
              <a:endParaRPr lang="en-GB" sz="2339"/>
            </a:p>
          </p:txBody>
        </p:sp>
        <p:sp>
          <p:nvSpPr>
            <p:cNvPr id="107" name="84.4" descr="s106">
              <a:extLst>
                <a:ext uri="{FF2B5EF4-FFF2-40B4-BE49-F238E27FC236}">
                  <ns2:creationId id="{DDA4AAA1-CF5D-4BC9-A65A-D9828E8CC6BF}"/>
                </a:ext>
              </a:extLst>
            </p:cNvPr>
            <p:cNvSpPr>
              <a:spLocks noGrp="1"/>
            </p:cNvSpPr>
            <p:nvPr/>
          </p:nvSpPr>
          <p:spPr>
            <a:xfrm>
              <a:off x="11963481" y="18519969"/>
              <a:ext cx="541437" cy="3905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84.4</a:t>
              </a:r>
              <a:endParaRPr lang="en-GB" sz="2339"/>
            </a:p>
          </p:txBody>
        </p:sp>
        <p:sp>
          <p:nvSpPr>
            <p:cNvPr id="108" name="84.4" descr="s107">
              <a:extLst>
                <a:ext uri="{FF2B5EF4-FFF2-40B4-BE49-F238E27FC236}">
                  <ns2:creationId id="{52913578-24A6-433B-A0C9-A08A5C97C15A}"/>
                </a:ext>
              </a:extLst>
            </p:cNvPr>
            <p:cNvSpPr>
              <a:spLocks noGrp="1"/>
            </p:cNvSpPr>
            <p:nvPr/>
          </p:nvSpPr>
          <p:spPr>
            <a:xfrm>
              <a:off x="12462295" y="17961359"/>
              <a:ext cx="541437" cy="3905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84.4</a:t>
              </a:r>
              <a:endParaRPr lang="en-GB" sz="2339"/>
            </a:p>
          </p:txBody>
        </p:sp>
        <p:sp>
          <p:nvSpPr>
            <p:cNvPr id="109" name="7.6" descr="s108">
              <a:extLst>
                <a:ext uri="{FF2B5EF4-FFF2-40B4-BE49-F238E27FC236}">
                  <ns2:creationId id="{2424B0CF-753D-49F3-9FE6-77B91284E2CB}"/>
                </a:ext>
              </a:extLst>
            </p:cNvPr>
            <p:cNvSpPr>
              <a:spLocks noGrp="1"/>
            </p:cNvSpPr>
            <p:nvPr/>
          </p:nvSpPr>
          <p:spPr>
            <a:xfrm>
              <a:off x="13395657" y="19579392"/>
              <a:ext cx="361206" cy="3905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7.6</a:t>
              </a:r>
              <a:endParaRPr lang="en-GB" sz="2339"/>
            </a:p>
          </p:txBody>
        </p:sp>
        <p:sp>
          <p:nvSpPr>
            <p:cNvPr id="110" name="11.2" descr="s109">
              <a:extLst>
                <a:ext uri="{FF2B5EF4-FFF2-40B4-BE49-F238E27FC236}">
                  <ns2:creationId id="{4F912256-4F07-4359-8C63-9044E8B45D7C}"/>
                </a:ext>
              </a:extLst>
            </p:cNvPr>
            <p:cNvSpPr>
              <a:spLocks noGrp="1"/>
            </p:cNvSpPr>
            <p:nvPr/>
          </p:nvSpPr>
          <p:spPr>
            <a:xfrm>
              <a:off x="13865510" y="19503371"/>
              <a:ext cx="422981" cy="3905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11.2</a:t>
              </a:r>
              <a:endParaRPr lang="en-GB" sz="2339"/>
            </a:p>
          </p:txBody>
        </p:sp>
        <p:sp>
          <p:nvSpPr>
            <p:cNvPr id="111" name="14.7" descr="s110">
              <a:extLst>
                <a:ext uri="{FF2B5EF4-FFF2-40B4-BE49-F238E27FC236}">
                  <ns2:creationId id="{F573E083-0C1D-402B-BE0E-9D5CEA26642F}"/>
                </a:ext>
              </a:extLst>
            </p:cNvPr>
            <p:cNvSpPr>
              <a:spLocks noGrp="1"/>
            </p:cNvSpPr>
            <p:nvPr/>
          </p:nvSpPr>
          <p:spPr>
            <a:xfrm>
              <a:off x="14343716" y="19429113"/>
              <a:ext cx="465117" cy="3905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14.7</a:t>
              </a:r>
              <a:endParaRPr lang="en-GB" sz="2339"/>
            </a:p>
          </p:txBody>
        </p:sp>
        <p:sp>
          <p:nvSpPr>
            <p:cNvPr id="112" name="22.2" descr="s111">
              <a:extLst>
                <a:ext uri="{FF2B5EF4-FFF2-40B4-BE49-F238E27FC236}">
                  <ns2:creationId id="{0456F21D-0C66-47AD-BEA2-F8C7E32C51DC}"/>
                </a:ext>
              </a:extLst>
            </p:cNvPr>
            <p:cNvSpPr>
              <a:spLocks noGrp="1"/>
            </p:cNvSpPr>
            <p:nvPr/>
          </p:nvSpPr>
          <p:spPr>
            <a:xfrm>
              <a:off x="14817117" y="19272148"/>
              <a:ext cx="516806" cy="3905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22.2</a:t>
              </a:r>
              <a:endParaRPr lang="en-GB" sz="2339"/>
            </a:p>
          </p:txBody>
        </p:sp>
        <p:sp>
          <p:nvSpPr>
            <p:cNvPr id="113" name="27.1" descr="s112">
              <a:extLst>
                <a:ext uri="{FF2B5EF4-FFF2-40B4-BE49-F238E27FC236}">
                  <ns2:creationId id="{9722F87D-EB15-4E6E-B28A-D45E5499019A}"/>
                </a:ext>
              </a:extLst>
            </p:cNvPr>
            <p:cNvSpPr>
              <a:spLocks noGrp="1"/>
            </p:cNvSpPr>
            <p:nvPr/>
          </p:nvSpPr>
          <p:spPr>
            <a:xfrm>
              <a:off x="15350709" y="19169180"/>
              <a:ext cx="444996" cy="39052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27.1</a:t>
              </a:r>
              <a:endParaRPr lang="en-GB" sz="2339"/>
            </a:p>
          </p:txBody>
        </p:sp>
        <p:sp>
          <p:nvSpPr>
            <p:cNvPr id="114" name="27.1" descr="s113">
              <a:extLst>
                <a:ext uri="{FF2B5EF4-FFF2-40B4-BE49-F238E27FC236}">
                  <ns2:creationId id="{F7B79467-D2C2-494F-A5A7-23745D3D1D40}"/>
                </a:ext>
              </a:extLst>
            </p:cNvPr>
            <p:cNvSpPr>
              <a:spLocks noGrp="1"/>
            </p:cNvSpPr>
            <p:nvPr/>
          </p:nvSpPr>
          <p:spPr>
            <a:xfrm>
              <a:off x="15849523" y="19693070"/>
              <a:ext cx="444996" cy="3905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27.1</a:t>
              </a:r>
              <a:endParaRPr lang="en-GB" sz="2339"/>
            </a:p>
          </p:txBody>
        </p:sp>
        <p:sp>
          <p:nvSpPr>
            <p:cNvPr id="115" name="61.8" descr="s114">
              <a:extLst>
                <a:ext uri="{FF2B5EF4-FFF2-40B4-BE49-F238E27FC236}">
                  <ns2:creationId id="{FD0050D5-8875-4105-8272-6EE61FE93C58}"/>
                </a:ext>
              </a:extLst>
            </p:cNvPr>
            <p:cNvSpPr>
              <a:spLocks noGrp="1"/>
            </p:cNvSpPr>
            <p:nvPr/>
          </p:nvSpPr>
          <p:spPr>
            <a:xfrm>
              <a:off x="16338308" y="18438415"/>
              <a:ext cx="465832" cy="39052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61.8</a:t>
              </a:r>
              <a:endParaRPr lang="en-GB" sz="2339"/>
            </a:p>
          </p:txBody>
        </p:sp>
        <p:sp>
          <p:nvSpPr>
            <p:cNvPr id="116" name="38.5" descr="s115">
              <a:extLst>
                <a:ext uri="{FF2B5EF4-FFF2-40B4-BE49-F238E27FC236}">
                  <ns2:creationId id="{438D15AA-7ECA-4929-9206-34AEE9353FDE}"/>
                </a:ext>
              </a:extLst>
            </p:cNvPr>
            <p:cNvSpPr>
              <a:spLocks noGrp="1"/>
            </p:cNvSpPr>
            <p:nvPr/>
          </p:nvSpPr>
          <p:spPr>
            <a:xfrm>
              <a:off x="17157844" y="19486544"/>
              <a:ext cx="513904" cy="39052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38.5</a:t>
              </a:r>
              <a:endParaRPr lang="en-GB" sz="2339"/>
            </a:p>
          </p:txBody>
        </p:sp>
        <p:sp>
          <p:nvSpPr>
            <p:cNvPr id="117" name="61.6" descr="s116">
              <a:extLst>
                <a:ext uri="{FF2B5EF4-FFF2-40B4-BE49-F238E27FC236}">
                  <ns2:creationId id="{2D20FDD3-34B8-47D4-AA37-CE08FC83ADEC}"/>
                </a:ext>
              </a:extLst>
            </p:cNvPr>
            <p:cNvSpPr>
              <a:spLocks noGrp="1"/>
            </p:cNvSpPr>
            <p:nvPr/>
          </p:nvSpPr>
          <p:spPr>
            <a:xfrm>
              <a:off x="17680982" y="18441117"/>
              <a:ext cx="465831" cy="3905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61.6</a:t>
              </a:r>
              <a:endParaRPr lang="en-GB" sz="2339"/>
            </a:p>
          </p:txBody>
        </p:sp>
        <p:sp>
          <p:nvSpPr>
            <p:cNvPr id="118" name="52.9" descr="s117">
              <a:extLst>
                <a:ext uri="{FF2B5EF4-FFF2-40B4-BE49-F238E27FC236}">
                  <ns2:creationId id="{9703EF8D-DC24-4B3E-8088-6C4CFA155EE3}"/>
                </a:ext>
              </a:extLst>
            </p:cNvPr>
            <p:cNvSpPr>
              <a:spLocks noGrp="1"/>
            </p:cNvSpPr>
            <p:nvPr/>
          </p:nvSpPr>
          <p:spPr>
            <a:xfrm>
              <a:off x="18156020" y="19149291"/>
              <a:ext cx="513011" cy="3905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52.9</a:t>
              </a:r>
              <a:endParaRPr lang="en-GB" sz="2339"/>
            </a:p>
          </p:txBody>
        </p:sp>
        <p:sp>
          <p:nvSpPr>
            <p:cNvPr id="119" name="72.7" descr="s118">
              <a:extLst>
                <a:ext uri="{FF2B5EF4-FFF2-40B4-BE49-F238E27FC236}">
                  <ns2:creationId id="{49C7C8E9-F6DE-4BFC-B533-16F28376AF34}"/>
                </a:ext>
              </a:extLst>
            </p:cNvPr>
            <p:cNvSpPr>
              <a:spLocks noGrp="1"/>
            </p:cNvSpPr>
            <p:nvPr/>
          </p:nvSpPr>
          <p:spPr>
            <a:xfrm>
              <a:off x="18669138" y="18208474"/>
              <a:ext cx="487978" cy="3905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72.7</a:t>
              </a:r>
              <a:endParaRPr lang="en-GB" sz="2339"/>
            </a:p>
          </p:txBody>
        </p:sp>
        <p:sp>
          <p:nvSpPr>
            <p:cNvPr id="120" name="78.9" descr="s119">
              <a:extLst>
                <a:ext uri="{FF2B5EF4-FFF2-40B4-BE49-F238E27FC236}">
                  <ns2:creationId id="{390A0833-529E-4F44-B414-1D411D2A110F}"/>
                </a:ext>
              </a:extLst>
            </p:cNvPr>
            <p:cNvSpPr>
              <a:spLocks noGrp="1"/>
            </p:cNvSpPr>
            <p:nvPr/>
          </p:nvSpPr>
          <p:spPr>
            <a:xfrm>
              <a:off x="19158985" y="18076323"/>
              <a:ext cx="504080" cy="3905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78.9</a:t>
              </a:r>
              <a:endParaRPr lang="en-GB" sz="2339"/>
            </a:p>
          </p:txBody>
        </p:sp>
        <p:sp>
          <p:nvSpPr>
            <p:cNvPr id="121" name="78.9" descr="s120">
              <a:extLst>
                <a:ext uri="{FF2B5EF4-FFF2-40B4-BE49-F238E27FC236}">
                  <ns2:creationId id="{F4FD7236-C633-4671-881C-18DFE4372FAE}"/>
                </a:ext>
              </a:extLst>
            </p:cNvPr>
            <p:cNvSpPr>
              <a:spLocks noGrp="1"/>
            </p:cNvSpPr>
            <p:nvPr/>
          </p:nvSpPr>
          <p:spPr>
            <a:xfrm>
              <a:off x="19658169" y="18634933"/>
              <a:ext cx="504081" cy="3905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78.9</a:t>
              </a:r>
              <a:endParaRPr lang="en-GB" sz="2339"/>
            </a:p>
          </p:txBody>
        </p:sp>
        <p:sp>
          <p:nvSpPr>
            <p:cNvPr id="122" name="74.7" descr="s121">
              <a:extLst>
                <a:ext uri="{FF2B5EF4-FFF2-40B4-BE49-F238E27FC236}">
                  <ns2:creationId id="{7318ECA1-84A7-4CD5-A8F4-C7BE4058927D}"/>
                </a:ext>
              </a:extLst>
            </p:cNvPr>
            <p:cNvSpPr>
              <a:spLocks noGrp="1"/>
            </p:cNvSpPr>
            <p:nvPr/>
          </p:nvSpPr>
          <p:spPr>
            <a:xfrm>
              <a:off x="20159464" y="18165055"/>
              <a:ext cx="501639" cy="3905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74.7</a:t>
              </a:r>
              <a:endParaRPr lang="en-GB" sz="2339"/>
            </a:p>
          </p:txBody>
        </p:sp>
        <p:sp>
          <p:nvSpPr>
            <p:cNvPr id="216" name="8. Results" descr="t82">
              <a:extLst>
                <a:ext uri="{FF2B5EF4-FFF2-40B4-BE49-F238E27FC236}">
                  <ns2:creationId id="{23EAA222-C778-41C8-ADF6-DBCEA7B55CAD}"/>
                </a:ext>
              </a:extLst>
            </p:cNvPr>
            <p:cNvSpPr>
              <a:spLocks noGrp="1"/>
            </p:cNvSpPr>
            <p:nvPr/>
          </p:nvSpPr>
          <p:spPr>
            <a:xfrm>
              <a:off x="9205971" y="16313200"/>
              <a:ext cx="1395476" cy="46478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800" b="1" i="0" spc="0" kern="0" dirty="0">
                  <a:solidFill>
                    <a:srgbClr val="ffffff"/>
                  </a:solidFill>
                  <a:latin typeface="Barlow Condensed"/>
                  <a:ea typeface="Barlow Condensed"/>
                  <a:cs typeface="Barlow Condensed"/>
                </a:rPr>
                <a:t>8. Results</a:t>
              </a:r>
              <a:endParaRPr lang="en-GB" sz="2800"/>
            </a:p>
          </p:txBody>
        </p:sp>
        <p:sp>
          <p:nvSpPr>
            <p:cNvPr id="217" name="Answer quality Q, %" descr="t83">
              <a:extLst>
                <a:ext uri="{FF2B5EF4-FFF2-40B4-BE49-F238E27FC236}">
                  <ns2:creationId id="{2578612D-F638-4DE3-8DB2-95B026D59E6B}"/>
                </a:ext>
              </a:extLst>
            </p:cNvPr>
            <p:cNvSpPr>
              <a:spLocks noGrp="1"/>
            </p:cNvSpPr>
            <p:nvPr/>
          </p:nvSpPr>
          <p:spPr>
            <a:xfrm>
              <a:off x="9277423" y="16938083"/>
              <a:ext cx="2620425" cy="46581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806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Answer quality Q, %</a:t>
              </a:r>
              <a:endParaRPr lang="en-GB" sz="2806"/>
            </a:p>
          </p:txBody>
        </p:sp>
        <p:sp>
          <p:nvSpPr>
            <p:cNvPr id="218" name="100 questions" descr="t84">
              <a:extLst>
                <a:ext uri="{FF2B5EF4-FFF2-40B4-BE49-F238E27FC236}">
                  <ns2:creationId id="{7C1D2222-A3BD-4BF0-B9E0-1F93810269CD}"/>
                </a:ext>
              </a:extLst>
            </p:cNvPr>
            <p:cNvSpPr>
              <a:spLocks noGrp="1"/>
            </p:cNvSpPr>
            <p:nvPr/>
          </p:nvSpPr>
          <p:spPr>
            <a:xfrm>
              <a:off x="9277778" y="17425170"/>
              <a:ext cx="1386836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100 questions</a:t>
              </a:r>
              <a:endParaRPr lang="en-GB" sz="2245"/>
            </a:p>
          </p:txBody>
        </p:sp>
        <p:sp>
          <p:nvSpPr>
            <p:cNvPr id="219" name="0" descr="t85">
              <a:extLst>
                <a:ext uri="{FF2B5EF4-FFF2-40B4-BE49-F238E27FC236}">
                  <ns2:creationId id="{F2F84D70-59FD-4A1B-B52B-924D9F17CCDE}"/>
                </a:ext>
              </a:extLst>
            </p:cNvPr>
            <p:cNvSpPr>
              <a:spLocks noGrp="1"/>
            </p:cNvSpPr>
            <p:nvPr/>
          </p:nvSpPr>
          <p:spPr>
            <a:xfrm>
              <a:off x="9471821" y="20033397"/>
              <a:ext cx="183769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0</a:t>
              </a:r>
              <a:endParaRPr lang="en-GB" sz="2245"/>
            </a:p>
          </p:txBody>
        </p:sp>
        <p:sp>
          <p:nvSpPr>
            <p:cNvPr id="220" name="50" descr="t86">
              <a:extLst>
                <a:ext uri="{FF2B5EF4-FFF2-40B4-BE49-F238E27FC236}">
                  <ns2:creationId id="{AE5144D3-7AF3-49D6-8E06-DBC72A2E808E}"/>
                </a:ext>
              </a:extLst>
            </p:cNvPr>
            <p:cNvSpPr>
              <a:spLocks noGrp="1"/>
            </p:cNvSpPr>
            <p:nvPr/>
          </p:nvSpPr>
          <p:spPr>
            <a:xfrm>
              <a:off x="9355096" y="18980305"/>
              <a:ext cx="300398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50</a:t>
              </a:r>
              <a:endParaRPr lang="en-GB" sz="2245"/>
            </a:p>
          </p:txBody>
        </p:sp>
        <p:sp>
          <p:nvSpPr>
            <p:cNvPr id="221" name="100" descr="t87">
              <a:extLst>
                <a:ext uri="{FF2B5EF4-FFF2-40B4-BE49-F238E27FC236}">
                  <ns2:creationId id="{77513D09-13CF-4F5B-99E1-4B8445A6FB87}"/>
                </a:ext>
              </a:extLst>
            </p:cNvPr>
            <p:cNvSpPr>
              <a:spLocks noGrp="1"/>
            </p:cNvSpPr>
            <p:nvPr/>
          </p:nvSpPr>
          <p:spPr>
            <a:xfrm>
              <a:off x="9272106" y="17926857"/>
              <a:ext cx="383377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100</a:t>
              </a:r>
              <a:endParaRPr lang="en-GB" sz="2245"/>
            </a:p>
          </p:txBody>
        </p:sp>
        <p:sp>
          <p:nvSpPr>
            <p:cNvPr id="222" name="46.2" descr="t88">
              <a:extLst>
                <a:ext uri="{FF2B5EF4-FFF2-40B4-BE49-F238E27FC236}">
                  <ns2:creationId id="{0E561F1B-DDDC-4CD3-B0CE-462AA91AB051}"/>
                </a:ext>
              </a:extLst>
            </p:cNvPr>
            <p:cNvSpPr>
              <a:spLocks noGrp="1"/>
            </p:cNvSpPr>
            <p:nvPr/>
          </p:nvSpPr>
          <p:spPr>
            <a:xfrm>
              <a:off x="9470053" y="19328642"/>
              <a:ext cx="527789" cy="39448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46.2</a:t>
              </a:r>
              <a:endParaRPr lang="en-GB" sz="2339"/>
            </a:p>
          </p:txBody>
        </p:sp>
        <p:sp>
          <p:nvSpPr>
            <p:cNvPr id="223" name="R0" descr="t89">
              <a:extLst>
                <a:ext uri="{FF2B5EF4-FFF2-40B4-BE49-F238E27FC236}">
                  <ns2:creationId id="{52470322-A1BF-49AE-AC5D-557BFF7CB3C6}"/>
                </a:ext>
              </a:extLst>
            </p:cNvPr>
            <p:cNvSpPr>
              <a:spLocks noGrp="1"/>
            </p:cNvSpPr>
            <p:nvPr/>
          </p:nvSpPr>
          <p:spPr>
            <a:xfrm>
              <a:off x="9578560" y="20470879"/>
              <a:ext cx="310093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R0</a:t>
              </a:r>
              <a:endParaRPr lang="en-GB" sz="2245"/>
            </a:p>
          </p:txBody>
        </p:sp>
        <p:sp>
          <p:nvSpPr>
            <p:cNvPr id="224" name="63.2" descr="t90">
              <a:extLst>
                <a:ext uri="{FF2B5EF4-FFF2-40B4-BE49-F238E27FC236}">
                  <ns2:creationId id="{209802DF-D827-4927-981F-7C576C29B7A2}"/>
                </a:ext>
              </a:extLst>
            </p:cNvPr>
            <p:cNvSpPr>
              <a:spLocks noGrp="1"/>
            </p:cNvSpPr>
            <p:nvPr/>
          </p:nvSpPr>
          <p:spPr>
            <a:xfrm>
              <a:off x="9976224" y="18411935"/>
              <a:ext cx="513537" cy="39448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63.2</a:t>
              </a:r>
              <a:endParaRPr lang="en-GB" sz="2339"/>
            </a:p>
          </p:txBody>
        </p:sp>
        <p:sp>
          <p:nvSpPr>
            <p:cNvPr id="225" name="R1" descr="t91">
              <a:extLst>
                <a:ext uri="{FF2B5EF4-FFF2-40B4-BE49-F238E27FC236}">
                  <ns2:creationId id="{16F2D3BF-5470-4AAE-98B7-193A02D4E76B}"/>
                </a:ext>
              </a:extLst>
            </p:cNvPr>
            <p:cNvSpPr>
              <a:spLocks noGrp="1"/>
            </p:cNvSpPr>
            <p:nvPr/>
          </p:nvSpPr>
          <p:spPr>
            <a:xfrm>
              <a:off x="10104577" y="20470879"/>
              <a:ext cx="256479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R1</a:t>
              </a:r>
              <a:endParaRPr lang="en-GB" sz="2245"/>
            </a:p>
          </p:txBody>
        </p:sp>
        <p:sp>
          <p:nvSpPr>
            <p:cNvPr id="226" name="49.8" descr="t92">
              <a:extLst>
                <a:ext uri="{FF2B5EF4-FFF2-40B4-BE49-F238E27FC236}">
                  <ns2:creationId id="{4E3FB0DB-FD92-4FE8-AEA0-066D0A05193F}"/>
                </a:ext>
              </a:extLst>
            </p:cNvPr>
            <p:cNvSpPr>
              <a:spLocks noGrp="1"/>
            </p:cNvSpPr>
            <p:nvPr/>
          </p:nvSpPr>
          <p:spPr>
            <a:xfrm>
              <a:off x="10468745" y="19217940"/>
              <a:ext cx="526899" cy="39448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49.8</a:t>
              </a:r>
              <a:endParaRPr lang="en-GB" sz="2339"/>
            </a:p>
          </p:txBody>
        </p:sp>
        <p:sp>
          <p:nvSpPr>
            <p:cNvPr id="227" name="R2" descr="t93">
              <a:extLst>
                <a:ext uri="{FF2B5EF4-FFF2-40B4-BE49-F238E27FC236}">
                  <ns2:creationId id="{691086BA-18B8-4581-AF57-1EBDFFA6D08B}"/>
                </a:ext>
              </a:extLst>
            </p:cNvPr>
            <p:cNvSpPr>
              <a:spLocks noGrp="1"/>
            </p:cNvSpPr>
            <p:nvPr/>
          </p:nvSpPr>
          <p:spPr>
            <a:xfrm>
              <a:off x="10583165" y="20470879"/>
              <a:ext cx="298115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R2</a:t>
              </a:r>
              <a:endParaRPr lang="en-GB" sz="2245"/>
            </a:p>
          </p:txBody>
        </p:sp>
        <p:sp>
          <p:nvSpPr>
            <p:cNvPr id="228" name="74.6" descr="t94">
              <a:extLst>
                <a:ext uri="{FF2B5EF4-FFF2-40B4-BE49-F238E27FC236}">
                  <ns2:creationId id="{73C1FAFC-AFE0-44A2-9F70-742BDFD9D87E}"/>
                </a:ext>
              </a:extLst>
            </p:cNvPr>
            <p:cNvSpPr>
              <a:spLocks noGrp="1"/>
            </p:cNvSpPr>
            <p:nvPr/>
          </p:nvSpPr>
          <p:spPr>
            <a:xfrm>
              <a:off x="10971420" y="18171696"/>
              <a:ext cx="518585" cy="39448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74.6</a:t>
              </a:r>
              <a:endParaRPr lang="en-GB" sz="2339"/>
            </a:p>
          </p:txBody>
        </p:sp>
        <p:sp>
          <p:nvSpPr>
            <p:cNvPr id="229" name="R3" descr="t95">
              <a:extLst>
                <a:ext uri="{FF2B5EF4-FFF2-40B4-BE49-F238E27FC236}">
                  <ns2:creationId id="{137CBB74-5700-496D-936C-853742BDBE97}"/>
                </a:ext>
              </a:extLst>
            </p:cNvPr>
            <p:cNvSpPr>
              <a:spLocks noGrp="1"/>
            </p:cNvSpPr>
            <p:nvPr/>
          </p:nvSpPr>
          <p:spPr>
            <a:xfrm>
              <a:off x="11081116" y="20470879"/>
              <a:ext cx="299826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R3</a:t>
              </a:r>
              <a:endParaRPr lang="en-GB" sz="2245"/>
            </a:p>
          </p:txBody>
        </p:sp>
        <p:sp>
          <p:nvSpPr>
            <p:cNvPr id="230" name="84.4" descr="t96">
              <a:extLst>
                <a:ext uri="{FF2B5EF4-FFF2-40B4-BE49-F238E27FC236}">
                  <ns2:creationId id="{9EE392CB-A012-4295-A725-526F7314ACB1}"/>
                </a:ext>
              </a:extLst>
            </p:cNvPr>
            <p:cNvSpPr>
              <a:spLocks noGrp="1"/>
            </p:cNvSpPr>
            <p:nvPr/>
          </p:nvSpPr>
          <p:spPr>
            <a:xfrm>
              <a:off x="11459458" y="17965133"/>
              <a:ext cx="541450" cy="39448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84.4</a:t>
              </a:r>
              <a:endParaRPr lang="en-GB" sz="2339"/>
            </a:p>
          </p:txBody>
        </p:sp>
        <p:sp>
          <p:nvSpPr>
            <p:cNvPr id="231" name="R4" descr="t97">
              <a:extLst>
                <a:ext uri="{FF2B5EF4-FFF2-40B4-BE49-F238E27FC236}">
                  <ns2:creationId id="{8CCC603D-DCA7-4F0B-8F68-E4EEA2BC21AF}"/>
                </a:ext>
              </a:extLst>
            </p:cNvPr>
            <p:cNvSpPr>
              <a:spLocks noGrp="1"/>
            </p:cNvSpPr>
            <p:nvPr/>
          </p:nvSpPr>
          <p:spPr>
            <a:xfrm>
              <a:off x="11579196" y="20470879"/>
              <a:ext cx="301823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R4</a:t>
              </a:r>
              <a:endParaRPr lang="en-GB" sz="2245"/>
            </a:p>
          </p:txBody>
        </p:sp>
        <p:sp>
          <p:nvSpPr>
            <p:cNvPr id="232" name="84.4" descr="t98">
              <a:extLst>
                <a:ext uri="{FF2B5EF4-FFF2-40B4-BE49-F238E27FC236}">
                  <ns2:creationId id="{36DD77CE-9F20-4496-AE2C-0683B050ECEA}"/>
                </a:ext>
              </a:extLst>
            </p:cNvPr>
            <p:cNvSpPr>
              <a:spLocks noGrp="1"/>
            </p:cNvSpPr>
            <p:nvPr/>
          </p:nvSpPr>
          <p:spPr>
            <a:xfrm>
              <a:off x="11958484" y="18523513"/>
              <a:ext cx="541450" cy="39448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84.4</a:t>
              </a:r>
              <a:endParaRPr lang="en-GB" sz="2339"/>
            </a:p>
          </p:txBody>
        </p:sp>
        <p:sp>
          <p:nvSpPr>
            <p:cNvPr id="233" name="R5" descr="t99">
              <a:extLst>
                <a:ext uri="{FF2B5EF4-FFF2-40B4-BE49-F238E27FC236}">
                  <ns2:creationId id="{45BB43A7-BFC6-4E39-9F0C-185A1317196B}"/>
                </a:ext>
              </a:extLst>
            </p:cNvPr>
            <p:cNvSpPr>
              <a:spLocks noGrp="1"/>
            </p:cNvSpPr>
            <p:nvPr/>
          </p:nvSpPr>
          <p:spPr>
            <a:xfrm>
              <a:off x="12079342" y="20470879"/>
              <a:ext cx="300111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R5</a:t>
              </a:r>
              <a:endParaRPr lang="en-GB" sz="2245"/>
            </a:p>
          </p:txBody>
        </p:sp>
        <p:sp>
          <p:nvSpPr>
            <p:cNvPr id="234" name="84.4" descr="t100">
              <a:extLst>
                <a:ext uri="{FF2B5EF4-FFF2-40B4-BE49-F238E27FC236}">
                  <ns2:creationId id="{699972EF-A5E6-4011-963E-80F859EE272B}"/>
                </a:ext>
              </a:extLst>
            </p:cNvPr>
            <p:cNvSpPr>
              <a:spLocks noGrp="1"/>
            </p:cNvSpPr>
            <p:nvPr/>
          </p:nvSpPr>
          <p:spPr>
            <a:xfrm>
              <a:off x="12457567" y="17965133"/>
              <a:ext cx="541450" cy="39448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84.4</a:t>
              </a:r>
              <a:endParaRPr lang="en-GB" sz="2339"/>
            </a:p>
          </p:txBody>
        </p:sp>
        <p:sp>
          <p:nvSpPr>
            <p:cNvPr id="235" name="R6" descr="t101">
              <a:extLst>
                <a:ext uri="{FF2B5EF4-FFF2-40B4-BE49-F238E27FC236}">
                  <ns2:creationId id="{5A28528B-21E7-4467-8E7D-492241D7658D}"/>
                </a:ext>
              </a:extLst>
            </p:cNvPr>
            <p:cNvSpPr>
              <a:spLocks noGrp="1"/>
            </p:cNvSpPr>
            <p:nvPr/>
          </p:nvSpPr>
          <p:spPr>
            <a:xfrm>
              <a:off x="12578057" y="20470879"/>
              <a:ext cx="300396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R6</a:t>
              </a:r>
              <a:endParaRPr lang="en-GB" sz="2245"/>
            </a:p>
          </p:txBody>
        </p:sp>
        <p:sp>
          <p:nvSpPr>
            <p:cNvPr id="236" name="Citation precision, %" descr="t102">
              <a:extLst>
                <a:ext uri="{FF2B5EF4-FFF2-40B4-BE49-F238E27FC236}">
                  <ns2:creationId id="{29A4257E-28E3-4C4F-8EB7-BB0F56257BA9}"/>
                </a:ext>
              </a:extLst>
            </p:cNvPr>
            <p:cNvSpPr>
              <a:spLocks noGrp="1"/>
            </p:cNvSpPr>
            <p:nvPr/>
          </p:nvSpPr>
          <p:spPr>
            <a:xfrm>
              <a:off x="13115357" y="16938083"/>
              <a:ext cx="2752260" cy="46581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806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Citation precision, %</a:t>
              </a:r>
              <a:endParaRPr lang="en-GB" sz="2806"/>
            </a:p>
          </p:txBody>
        </p:sp>
        <p:sp>
          <p:nvSpPr>
            <p:cNvPr id="237" name="95 questions" descr="t103">
              <a:extLst>
                <a:ext uri="{FF2B5EF4-FFF2-40B4-BE49-F238E27FC236}">
                  <ns2:creationId id="{BD3652B3-4CEC-49A6-9D44-BB11584F61D9}"/>
                </a:ext>
              </a:extLst>
            </p:cNvPr>
            <p:cNvSpPr>
              <a:spLocks noGrp="1"/>
            </p:cNvSpPr>
            <p:nvPr/>
          </p:nvSpPr>
          <p:spPr>
            <a:xfrm>
              <a:off x="13115357" y="17425170"/>
              <a:ext cx="1292165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95 questions</a:t>
              </a:r>
              <a:endParaRPr lang="en-GB" sz="2245"/>
            </a:p>
          </p:txBody>
        </p:sp>
        <p:sp>
          <p:nvSpPr>
            <p:cNvPr id="238" name="0" descr="t104">
              <a:extLst>
                <a:ext uri="{FF2B5EF4-FFF2-40B4-BE49-F238E27FC236}">
                  <ns2:creationId id="{57B9596A-5894-4184-A227-78C766293D1A}"/>
                </a:ext>
              </a:extLst>
            </p:cNvPr>
            <p:cNvSpPr>
              <a:spLocks noGrp="1"/>
            </p:cNvSpPr>
            <p:nvPr/>
          </p:nvSpPr>
          <p:spPr>
            <a:xfrm>
              <a:off x="13309814" y="20033397"/>
              <a:ext cx="183769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0</a:t>
              </a:r>
              <a:endParaRPr lang="en-GB" sz="2245"/>
            </a:p>
          </p:txBody>
        </p:sp>
        <p:sp>
          <p:nvSpPr>
            <p:cNvPr id="239" name="50" descr="t105">
              <a:extLst>
                <a:ext uri="{FF2B5EF4-FFF2-40B4-BE49-F238E27FC236}">
                  <ns2:creationId id="{79079D96-FAB4-420C-B4CF-27F7C7261F83}"/>
                </a:ext>
              </a:extLst>
            </p:cNvPr>
            <p:cNvSpPr>
              <a:spLocks noGrp="1"/>
            </p:cNvSpPr>
            <p:nvPr/>
          </p:nvSpPr>
          <p:spPr>
            <a:xfrm>
              <a:off x="13193100" y="18980305"/>
              <a:ext cx="300397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50</a:t>
              </a:r>
              <a:endParaRPr lang="en-GB" sz="2245"/>
            </a:p>
          </p:txBody>
        </p:sp>
        <p:sp>
          <p:nvSpPr>
            <p:cNvPr id="240" name="100" descr="t106">
              <a:extLst>
                <a:ext uri="{FF2B5EF4-FFF2-40B4-BE49-F238E27FC236}">
                  <ns2:creationId id="{52DA1298-901B-4A4A-9274-66021F9F696C}"/>
                </a:ext>
              </a:extLst>
            </p:cNvPr>
            <p:cNvSpPr>
              <a:spLocks noGrp="1"/>
            </p:cNvSpPr>
            <p:nvPr/>
          </p:nvSpPr>
          <p:spPr>
            <a:xfrm>
              <a:off x="13110098" y="17926857"/>
              <a:ext cx="383378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100</a:t>
              </a:r>
              <a:endParaRPr lang="en-GB" sz="2245"/>
            </a:p>
          </p:txBody>
        </p:sp>
        <p:sp>
          <p:nvSpPr>
            <p:cNvPr id="241" name="7.6" descr="t107">
              <a:extLst>
                <a:ext uri="{FF2B5EF4-FFF2-40B4-BE49-F238E27FC236}">
                  <ns2:creationId id="{AD2DB893-DF5E-4B30-AE89-70321301B899}"/>
                </a:ext>
              </a:extLst>
            </p:cNvPr>
            <p:cNvSpPr>
              <a:spLocks noGrp="1"/>
            </p:cNvSpPr>
            <p:nvPr/>
          </p:nvSpPr>
          <p:spPr>
            <a:xfrm>
              <a:off x="13391218" y="19583055"/>
              <a:ext cx="361220" cy="39448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7.6</a:t>
              </a:r>
              <a:endParaRPr lang="en-GB" sz="2339"/>
            </a:p>
          </p:txBody>
        </p:sp>
        <p:sp>
          <p:nvSpPr>
            <p:cNvPr id="242" name="R0" descr="t108">
              <a:extLst>
                <a:ext uri="{FF2B5EF4-FFF2-40B4-BE49-F238E27FC236}">
                  <ns2:creationId id="{2B362FFA-659D-4AB0-89E8-8686D3FC489F}"/>
                </a:ext>
              </a:extLst>
            </p:cNvPr>
            <p:cNvSpPr>
              <a:spLocks noGrp="1"/>
            </p:cNvSpPr>
            <p:nvPr/>
          </p:nvSpPr>
          <p:spPr>
            <a:xfrm>
              <a:off x="13416494" y="20470879"/>
              <a:ext cx="310093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R0</a:t>
              </a:r>
              <a:endParaRPr lang="en-GB" sz="2245"/>
            </a:p>
          </p:txBody>
        </p:sp>
        <p:sp>
          <p:nvSpPr>
            <p:cNvPr id="243" name="11.2" descr="t109">
              <a:extLst>
                <a:ext uri="{FF2B5EF4-FFF2-40B4-BE49-F238E27FC236}">
                  <ns2:creationId id="{F330BCDF-5D38-4B33-9E6A-B6FF837BAEB6}"/>
                </a:ext>
              </a:extLst>
            </p:cNvPr>
            <p:cNvSpPr>
              <a:spLocks noGrp="1"/>
            </p:cNvSpPr>
            <p:nvPr/>
          </p:nvSpPr>
          <p:spPr>
            <a:xfrm>
              <a:off x="13861120" y="19506969"/>
              <a:ext cx="419714" cy="39448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11.2</a:t>
              </a:r>
              <a:endParaRPr lang="en-GB" sz="2339"/>
            </a:p>
          </p:txBody>
        </p:sp>
        <p:sp>
          <p:nvSpPr>
            <p:cNvPr id="244" name="R1" descr="t110">
              <a:extLst>
                <a:ext uri="{FF2B5EF4-FFF2-40B4-BE49-F238E27FC236}">
                  <ns2:creationId id="{9AC201E8-95DD-4A44-9190-ADF30D39C12D}"/>
                </a:ext>
              </a:extLst>
            </p:cNvPr>
            <p:cNvSpPr>
              <a:spLocks noGrp="1"/>
            </p:cNvSpPr>
            <p:nvPr/>
          </p:nvSpPr>
          <p:spPr>
            <a:xfrm>
              <a:off x="13942867" y="20470879"/>
              <a:ext cx="256480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R1</a:t>
              </a:r>
              <a:endParaRPr lang="en-GB" sz="2245"/>
            </a:p>
          </p:txBody>
        </p:sp>
        <p:sp>
          <p:nvSpPr>
            <p:cNvPr id="245" name="14.7" descr="t111">
              <a:extLst>
                <a:ext uri="{FF2B5EF4-FFF2-40B4-BE49-F238E27FC236}">
                  <ns2:creationId id="{2733F812-D470-4CEB-8564-66D173FE3B2F}"/>
                </a:ext>
              </a:extLst>
            </p:cNvPr>
            <p:cNvSpPr>
              <a:spLocks noGrp="1"/>
            </p:cNvSpPr>
            <p:nvPr/>
          </p:nvSpPr>
          <p:spPr>
            <a:xfrm>
              <a:off x="14339171" y="19432891"/>
              <a:ext cx="462167" cy="39448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14.7</a:t>
              </a:r>
              <a:endParaRPr lang="en-GB" sz="2339"/>
            </a:p>
          </p:txBody>
        </p:sp>
        <p:sp>
          <p:nvSpPr>
            <p:cNvPr id="246" name="R2" descr="t112">
              <a:extLst>
                <a:ext uri="{FF2B5EF4-FFF2-40B4-BE49-F238E27FC236}">
                  <ns2:creationId id="{D5BAF5ED-DD73-4BCA-8BCF-124570500505}"/>
                </a:ext>
              </a:extLst>
            </p:cNvPr>
            <p:cNvSpPr>
              <a:spLocks noGrp="1"/>
            </p:cNvSpPr>
            <p:nvPr/>
          </p:nvSpPr>
          <p:spPr>
            <a:xfrm>
              <a:off x="14421100" y="20470879"/>
              <a:ext cx="298115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R2</a:t>
              </a:r>
              <a:endParaRPr lang="en-GB" sz="2245"/>
            </a:p>
          </p:txBody>
        </p:sp>
        <p:sp>
          <p:nvSpPr>
            <p:cNvPr id="247" name="22.2" descr="t113">
              <a:extLst>
                <a:ext uri="{FF2B5EF4-FFF2-40B4-BE49-F238E27FC236}">
                  <ns2:creationId id="{86B39B56-CD81-4ADD-9855-E5B10198115F}"/>
                </a:ext>
              </a:extLst>
            </p:cNvPr>
            <p:cNvSpPr>
              <a:spLocks noGrp="1"/>
            </p:cNvSpPr>
            <p:nvPr/>
          </p:nvSpPr>
          <p:spPr>
            <a:xfrm>
              <a:off x="14812313" y="19276121"/>
              <a:ext cx="513538" cy="39448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22.2</a:t>
              </a:r>
              <a:endParaRPr lang="en-GB" sz="2339"/>
            </a:p>
          </p:txBody>
        </p:sp>
        <p:sp>
          <p:nvSpPr>
            <p:cNvPr id="248" name="R3" descr="t114">
              <a:extLst>
                <a:ext uri="{FF2B5EF4-FFF2-40B4-BE49-F238E27FC236}">
                  <ns2:creationId id="{91DBB160-EA02-4324-B35C-8376FEE89133}"/>
                </a:ext>
              </a:extLst>
            </p:cNvPr>
            <p:cNvSpPr>
              <a:spLocks noGrp="1"/>
            </p:cNvSpPr>
            <p:nvPr/>
          </p:nvSpPr>
          <p:spPr>
            <a:xfrm>
              <a:off x="14919108" y="20470879"/>
              <a:ext cx="299827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R3</a:t>
              </a:r>
              <a:endParaRPr lang="en-GB" sz="2245"/>
            </a:p>
          </p:txBody>
        </p:sp>
        <p:sp>
          <p:nvSpPr>
            <p:cNvPr id="249" name="27.1" descr="t115">
              <a:extLst>
                <a:ext uri="{FF2B5EF4-FFF2-40B4-BE49-F238E27FC236}">
                  <ns2:creationId id="{BBEA96CE-C759-4A43-8933-6E55030A50A9}"/>
                </a:ext>
              </a:extLst>
            </p:cNvPr>
            <p:cNvSpPr>
              <a:spLocks noGrp="1"/>
            </p:cNvSpPr>
            <p:nvPr/>
          </p:nvSpPr>
          <p:spPr>
            <a:xfrm>
              <a:off x="15345955" y="19172818"/>
              <a:ext cx="444936" cy="39448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27.1</a:t>
              </a:r>
              <a:endParaRPr lang="en-GB" sz="2339"/>
            </a:p>
          </p:txBody>
        </p:sp>
        <p:sp>
          <p:nvSpPr>
            <p:cNvPr id="250" name="R4" descr="t116">
              <a:extLst>
                <a:ext uri="{FF2B5EF4-FFF2-40B4-BE49-F238E27FC236}">
                  <ns2:creationId id="{A79F7ED2-AD3A-4141-8A3D-260C3D1C0837}"/>
                </a:ext>
              </a:extLst>
            </p:cNvPr>
            <p:cNvSpPr>
              <a:spLocks noGrp="1"/>
            </p:cNvSpPr>
            <p:nvPr/>
          </p:nvSpPr>
          <p:spPr>
            <a:xfrm>
              <a:off x="15417485" y="20470879"/>
              <a:ext cx="301823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R4</a:t>
              </a:r>
              <a:endParaRPr lang="en-GB" sz="2245"/>
            </a:p>
          </p:txBody>
        </p:sp>
        <p:sp>
          <p:nvSpPr>
            <p:cNvPr id="251" name="27.1" descr="t117">
              <a:extLst>
                <a:ext uri="{FF2B5EF4-FFF2-40B4-BE49-F238E27FC236}">
                  <ns2:creationId id="{035A0AB1-761F-4B22-89F0-FB501E9EE579}"/>
                </a:ext>
              </a:extLst>
            </p:cNvPr>
            <p:cNvSpPr>
              <a:spLocks noGrp="1"/>
            </p:cNvSpPr>
            <p:nvPr/>
          </p:nvSpPr>
          <p:spPr>
            <a:xfrm>
              <a:off x="15844683" y="19696697"/>
              <a:ext cx="444936" cy="39448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27.1</a:t>
              </a:r>
              <a:endParaRPr lang="en-GB" sz="2339"/>
            </a:p>
          </p:txBody>
        </p:sp>
        <p:sp>
          <p:nvSpPr>
            <p:cNvPr id="252" name="R5" descr="t118">
              <a:extLst>
                <a:ext uri="{FF2B5EF4-FFF2-40B4-BE49-F238E27FC236}">
                  <ns2:creationId id="{980323AB-8342-4D18-808C-34A9F606C05E}"/>
                </a:ext>
              </a:extLst>
            </p:cNvPr>
            <p:cNvSpPr>
              <a:spLocks noGrp="1"/>
            </p:cNvSpPr>
            <p:nvPr/>
          </p:nvSpPr>
          <p:spPr>
            <a:xfrm>
              <a:off x="15917277" y="20470879"/>
              <a:ext cx="300112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R5</a:t>
              </a:r>
              <a:endParaRPr lang="en-GB" sz="2245"/>
            </a:p>
          </p:txBody>
        </p:sp>
        <p:sp>
          <p:nvSpPr>
            <p:cNvPr id="253" name="61.8" descr="t119">
              <a:extLst>
                <a:ext uri="{FF2B5EF4-FFF2-40B4-BE49-F238E27FC236}">
                  <ns2:creationId id="{539CE884-A79C-4BE2-996A-8CD44B602E7A}"/>
                </a:ext>
              </a:extLst>
            </p:cNvPr>
            <p:cNvSpPr>
              <a:spLocks noGrp="1"/>
            </p:cNvSpPr>
            <p:nvPr/>
          </p:nvSpPr>
          <p:spPr>
            <a:xfrm>
              <a:off x="16333666" y="18441824"/>
              <a:ext cx="465734" cy="39448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61.8</a:t>
              </a:r>
              <a:endParaRPr lang="en-GB" sz="2339"/>
            </a:p>
          </p:txBody>
        </p:sp>
        <p:sp>
          <p:nvSpPr>
            <p:cNvPr id="254" name="R6" descr="t120">
              <a:extLst>
                <a:ext uri="{FF2B5EF4-FFF2-40B4-BE49-F238E27FC236}">
                  <ns2:creationId id="{F0DDBE8E-3CBF-4B4A-9FD4-B50253F3B490}"/>
                </a:ext>
              </a:extLst>
            </p:cNvPr>
            <p:cNvSpPr>
              <a:spLocks noGrp="1"/>
            </p:cNvSpPr>
            <p:nvPr/>
          </p:nvSpPr>
          <p:spPr>
            <a:xfrm>
              <a:off x="16416063" y="20470879"/>
              <a:ext cx="300397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R6</a:t>
              </a:r>
              <a:endParaRPr lang="en-GB" sz="2245"/>
            </a:p>
          </p:txBody>
        </p:sp>
        <p:sp>
          <p:nvSpPr>
            <p:cNvPr id="255" name="Citation recall, %" descr="t121">
              <a:extLst>
                <a:ext uri="{FF2B5EF4-FFF2-40B4-BE49-F238E27FC236}">
                  <ns2:creationId id="{B5429FB5-FCAA-48CF-8538-A42669231E0C}"/>
                </a:ext>
              </a:extLst>
            </p:cNvPr>
            <p:cNvSpPr>
              <a:spLocks noGrp="1"/>
            </p:cNvSpPr>
            <p:nvPr/>
          </p:nvSpPr>
          <p:spPr>
            <a:xfrm>
              <a:off x="16953720" y="16938083"/>
              <a:ext cx="2283020" cy="46581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806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Citation recall, %</a:t>
              </a:r>
              <a:endParaRPr lang="en-GB" sz="2806"/>
            </a:p>
          </p:txBody>
        </p:sp>
        <p:sp>
          <p:nvSpPr>
            <p:cNvPr id="256" name="95 questions" descr="t122">
              <a:extLst>
                <a:ext uri="{FF2B5EF4-FFF2-40B4-BE49-F238E27FC236}">
                  <ns2:creationId id="{B57A54F7-0392-4E4F-B6C6-873FB4684229}"/>
                </a:ext>
              </a:extLst>
            </p:cNvPr>
            <p:cNvSpPr>
              <a:spLocks noGrp="1"/>
            </p:cNvSpPr>
            <p:nvPr/>
          </p:nvSpPr>
          <p:spPr>
            <a:xfrm>
              <a:off x="16953351" y="17425170"/>
              <a:ext cx="1292163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95 questions</a:t>
              </a:r>
              <a:endParaRPr lang="en-GB" sz="2245"/>
            </a:p>
          </p:txBody>
        </p:sp>
        <p:sp>
          <p:nvSpPr>
            <p:cNvPr id="257" name="0" descr="t123">
              <a:extLst>
                <a:ext uri="{FF2B5EF4-FFF2-40B4-BE49-F238E27FC236}">
                  <ns2:creationId id="{B73A1760-D4D0-4E35-A4A9-316BCC0E58A3}"/>
                </a:ext>
              </a:extLst>
            </p:cNvPr>
            <p:cNvSpPr>
              <a:spLocks noGrp="1"/>
            </p:cNvSpPr>
            <p:nvPr/>
          </p:nvSpPr>
          <p:spPr>
            <a:xfrm>
              <a:off x="17148118" y="20033397"/>
              <a:ext cx="183769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0</a:t>
              </a:r>
              <a:endParaRPr lang="en-GB" sz="2245"/>
            </a:p>
          </p:txBody>
        </p:sp>
        <p:sp>
          <p:nvSpPr>
            <p:cNvPr id="258" name="50" descr="t124">
              <a:extLst>
                <a:ext uri="{FF2B5EF4-FFF2-40B4-BE49-F238E27FC236}">
                  <ns2:creationId id="{7BCF5517-F54F-44E6-A7F5-85342A33AF75}"/>
                </a:ext>
              </a:extLst>
            </p:cNvPr>
            <p:cNvSpPr>
              <a:spLocks noGrp="1"/>
            </p:cNvSpPr>
            <p:nvPr/>
          </p:nvSpPr>
          <p:spPr>
            <a:xfrm>
              <a:off x="17031393" y="18980305"/>
              <a:ext cx="300397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50</a:t>
              </a:r>
              <a:endParaRPr lang="en-GB" sz="2245"/>
            </a:p>
          </p:txBody>
        </p:sp>
        <p:sp>
          <p:nvSpPr>
            <p:cNvPr id="259" name="100" descr="t125">
              <a:extLst>
                <a:ext uri="{FF2B5EF4-FFF2-40B4-BE49-F238E27FC236}">
                  <ns2:creationId id="{1AF40285-BA45-4B11-BF1C-63ECC2CDD846}"/>
                </a:ext>
              </a:extLst>
            </p:cNvPr>
            <p:cNvSpPr>
              <a:spLocks noGrp="1"/>
            </p:cNvSpPr>
            <p:nvPr/>
          </p:nvSpPr>
          <p:spPr>
            <a:xfrm>
              <a:off x="16948046" y="17926857"/>
              <a:ext cx="383378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100</a:t>
              </a:r>
              <a:endParaRPr lang="en-GB" sz="2245"/>
            </a:p>
          </p:txBody>
        </p:sp>
        <p:sp>
          <p:nvSpPr>
            <p:cNvPr id="260" name="38.5" descr="t126">
              <a:extLst>
                <a:ext uri="{FF2B5EF4-FFF2-40B4-BE49-F238E27FC236}">
                  <ns2:creationId id="{61A34FB5-ACBA-4659-9357-AB2AE8537639}"/>
                </a:ext>
              </a:extLst>
            </p:cNvPr>
            <p:cNvSpPr>
              <a:spLocks noGrp="1"/>
            </p:cNvSpPr>
            <p:nvPr/>
          </p:nvSpPr>
          <p:spPr>
            <a:xfrm>
              <a:off x="17152770" y="19490491"/>
              <a:ext cx="513834" cy="39448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38.5</a:t>
              </a:r>
              <a:endParaRPr lang="en-GB" sz="2339"/>
            </a:p>
          </p:txBody>
        </p:sp>
        <p:sp>
          <p:nvSpPr>
            <p:cNvPr id="261" name="R0" descr="t127">
              <a:extLst>
                <a:ext uri="{FF2B5EF4-FFF2-40B4-BE49-F238E27FC236}">
                  <ns2:creationId id="{0874DF7A-F6B2-4CFB-8B94-A248BA6A5B09}"/>
                </a:ext>
              </a:extLst>
            </p:cNvPr>
            <p:cNvSpPr>
              <a:spLocks noGrp="1"/>
            </p:cNvSpPr>
            <p:nvPr/>
          </p:nvSpPr>
          <p:spPr>
            <a:xfrm>
              <a:off x="17254786" y="20470879"/>
              <a:ext cx="310093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R0</a:t>
              </a:r>
              <a:endParaRPr lang="en-GB" sz="2245"/>
            </a:p>
          </p:txBody>
        </p:sp>
        <p:sp>
          <p:nvSpPr>
            <p:cNvPr id="262" name="61.6" descr="t128">
              <a:extLst>
                <a:ext uri="{FF2B5EF4-FFF2-40B4-BE49-F238E27FC236}">
                  <ns2:creationId id="{4693DE97-A443-4A7C-9098-A63AE42B56A7}"/>
                </a:ext>
              </a:extLst>
            </p:cNvPr>
            <p:cNvSpPr>
              <a:spLocks noGrp="1"/>
            </p:cNvSpPr>
            <p:nvPr/>
          </p:nvSpPr>
          <p:spPr>
            <a:xfrm>
              <a:off x="17676313" y="18444893"/>
              <a:ext cx="465734" cy="39448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61.6</a:t>
              </a:r>
              <a:endParaRPr lang="en-GB" sz="2339"/>
            </a:p>
          </p:txBody>
        </p:sp>
        <p:sp>
          <p:nvSpPr>
            <p:cNvPr id="263" name="R1" descr="t129">
              <a:extLst>
                <a:ext uri="{FF2B5EF4-FFF2-40B4-BE49-F238E27FC236}">
                  <ns2:creationId id="{E5770726-F971-473E-A1BB-690F4F27888E}"/>
                </a:ext>
              </a:extLst>
            </p:cNvPr>
            <p:cNvSpPr>
              <a:spLocks noGrp="1"/>
            </p:cNvSpPr>
            <p:nvPr/>
          </p:nvSpPr>
          <p:spPr>
            <a:xfrm>
              <a:off x="17780816" y="20470879"/>
              <a:ext cx="256480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R1</a:t>
              </a:r>
              <a:endParaRPr lang="en-GB" sz="2245"/>
            </a:p>
          </p:txBody>
        </p:sp>
        <p:sp>
          <p:nvSpPr>
            <p:cNvPr id="264" name="52.9" descr="t130">
              <a:extLst>
                <a:ext uri="{FF2B5EF4-FFF2-40B4-BE49-F238E27FC236}">
                  <ns2:creationId id="{5AE99326-558A-4FE3-A4D7-9DE382AF37B1}"/>
                </a:ext>
              </a:extLst>
            </p:cNvPr>
            <p:cNvSpPr>
              <a:spLocks noGrp="1"/>
            </p:cNvSpPr>
            <p:nvPr/>
          </p:nvSpPr>
          <p:spPr>
            <a:xfrm>
              <a:off x="18151405" y="19152731"/>
              <a:ext cx="512944" cy="39448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52.9</a:t>
              </a:r>
              <a:endParaRPr lang="en-GB" sz="2339"/>
            </a:p>
          </p:txBody>
        </p:sp>
        <p:sp>
          <p:nvSpPr>
            <p:cNvPr id="265" name="R2" descr="t131">
              <a:extLst>
                <a:ext uri="{FF2B5EF4-FFF2-40B4-BE49-F238E27FC236}">
                  <ns2:creationId id="{90FDC1F9-DB14-484A-A410-83F611551D7A}"/>
                </a:ext>
              </a:extLst>
            </p:cNvPr>
            <p:cNvSpPr>
              <a:spLocks noGrp="1"/>
            </p:cNvSpPr>
            <p:nvPr/>
          </p:nvSpPr>
          <p:spPr>
            <a:xfrm>
              <a:off x="18259093" y="20470879"/>
              <a:ext cx="298115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R2</a:t>
              </a:r>
              <a:endParaRPr lang="en-GB" sz="2245"/>
            </a:p>
          </p:txBody>
        </p:sp>
        <p:sp>
          <p:nvSpPr>
            <p:cNvPr id="266" name="72.7" descr="t132">
              <a:extLst>
                <a:ext uri="{FF2B5EF4-FFF2-40B4-BE49-F238E27FC236}">
                  <ns2:creationId id="{83083E84-948F-4994-9E67-25AD184BC767}"/>
                </a:ext>
              </a:extLst>
            </p:cNvPr>
            <p:cNvSpPr>
              <a:spLocks noGrp="1"/>
            </p:cNvSpPr>
            <p:nvPr/>
          </p:nvSpPr>
          <p:spPr>
            <a:xfrm>
              <a:off x="18664435" y="18212278"/>
              <a:ext cx="485029" cy="39448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72.7</a:t>
              </a:r>
              <a:endParaRPr lang="en-GB" sz="2339"/>
            </a:p>
          </p:txBody>
        </p:sp>
        <p:sp>
          <p:nvSpPr>
            <p:cNvPr id="267" name="R3" descr="t133">
              <a:extLst>
                <a:ext uri="{FF2B5EF4-FFF2-40B4-BE49-F238E27FC236}">
                  <ns2:creationId id="{57505CCE-0164-43FF-A4BC-10F43A13BA6B}"/>
                </a:ext>
              </a:extLst>
            </p:cNvPr>
            <p:cNvSpPr>
              <a:spLocks noGrp="1"/>
            </p:cNvSpPr>
            <p:nvPr/>
          </p:nvSpPr>
          <p:spPr>
            <a:xfrm>
              <a:off x="18757057" y="20470879"/>
              <a:ext cx="299827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R3</a:t>
              </a:r>
              <a:endParaRPr lang="en-GB" sz="2245"/>
            </a:p>
          </p:txBody>
        </p:sp>
        <p:sp>
          <p:nvSpPr>
            <p:cNvPr id="268" name="78.9" descr="t134">
              <a:extLst>
                <a:ext uri="{FF2B5EF4-FFF2-40B4-BE49-F238E27FC236}">
                  <ns2:creationId id="{01758D72-008C-4ACA-8465-8795667D8CA4}"/>
                </a:ext>
              </a:extLst>
            </p:cNvPr>
            <p:cNvSpPr>
              <a:spLocks noGrp="1"/>
            </p:cNvSpPr>
            <p:nvPr/>
          </p:nvSpPr>
          <p:spPr>
            <a:xfrm>
              <a:off x="19154185" y="18080018"/>
              <a:ext cx="504036" cy="39448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78.9</a:t>
              </a:r>
              <a:endParaRPr lang="en-GB" sz="2339"/>
            </a:p>
          </p:txBody>
        </p:sp>
        <p:sp>
          <p:nvSpPr>
            <p:cNvPr id="269" name="R4" descr="t135">
              <a:extLst>
                <a:ext uri="{FF2B5EF4-FFF2-40B4-BE49-F238E27FC236}">
                  <ns2:creationId id="{4BC34828-672D-4CC1-BC37-04892066DCB6}"/>
                </a:ext>
              </a:extLst>
            </p:cNvPr>
            <p:cNvSpPr>
              <a:spLocks noGrp="1"/>
            </p:cNvSpPr>
            <p:nvPr/>
          </p:nvSpPr>
          <p:spPr>
            <a:xfrm>
              <a:off x="19255422" y="20470879"/>
              <a:ext cx="301823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R4</a:t>
              </a:r>
              <a:endParaRPr lang="en-GB" sz="2245"/>
            </a:p>
          </p:txBody>
        </p:sp>
        <p:sp>
          <p:nvSpPr>
            <p:cNvPr id="270" name="78.9" descr="t136">
              <a:extLst>
                <a:ext uri="{FF2B5EF4-FFF2-40B4-BE49-F238E27FC236}">
                  <ns2:creationId id="{22042202-5490-41E2-9D7D-813BF94E099D}"/>
                </a:ext>
              </a:extLst>
            </p:cNvPr>
            <p:cNvSpPr>
              <a:spLocks noGrp="1"/>
            </p:cNvSpPr>
            <p:nvPr/>
          </p:nvSpPr>
          <p:spPr>
            <a:xfrm>
              <a:off x="19653565" y="18638469"/>
              <a:ext cx="504036" cy="39448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78.9</a:t>
              </a:r>
              <a:endParaRPr lang="en-GB" sz="2339"/>
            </a:p>
          </p:txBody>
        </p:sp>
        <p:sp>
          <p:nvSpPr>
            <p:cNvPr id="271" name="R5" descr="t137">
              <a:extLst>
                <a:ext uri="{FF2B5EF4-FFF2-40B4-BE49-F238E27FC236}">
                  <ns2:creationId id="{3C8D4219-190C-4278-9F54-F67EE32D8E9A}"/>
                </a:ext>
              </a:extLst>
            </p:cNvPr>
            <p:cNvSpPr>
              <a:spLocks noGrp="1"/>
            </p:cNvSpPr>
            <p:nvPr/>
          </p:nvSpPr>
          <p:spPr>
            <a:xfrm>
              <a:off x="19755580" y="20470879"/>
              <a:ext cx="300112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R5</a:t>
              </a:r>
              <a:endParaRPr lang="en-GB" sz="2245"/>
            </a:p>
          </p:txBody>
        </p:sp>
        <p:sp>
          <p:nvSpPr>
            <p:cNvPr id="272" name="74.7" descr="t138">
              <a:extLst>
                <a:ext uri="{FF2B5EF4-FFF2-40B4-BE49-F238E27FC236}">
                  <ns2:creationId id="{3CD11BDE-5EF3-43B9-B4CF-AF063A8C4275}"/>
                </a:ext>
              </a:extLst>
            </p:cNvPr>
            <p:cNvSpPr>
              <a:spLocks noGrp="1"/>
            </p:cNvSpPr>
            <p:nvPr/>
          </p:nvSpPr>
          <p:spPr>
            <a:xfrm>
              <a:off x="20154756" y="18168567"/>
              <a:ext cx="498687" cy="39448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74.7</a:t>
              </a:r>
              <a:endParaRPr lang="en-GB" sz="2339"/>
            </a:p>
          </p:txBody>
        </p:sp>
        <p:sp>
          <p:nvSpPr>
            <p:cNvPr id="273" name="R6" descr="t139">
              <a:extLst>
                <a:ext uri="{FF2B5EF4-FFF2-40B4-BE49-F238E27FC236}">
                  <ns2:creationId id="{8A031AFA-29FB-4575-B644-D1FED3794200}"/>
                </a:ext>
              </a:extLst>
            </p:cNvPr>
            <p:cNvSpPr>
              <a:spLocks noGrp="1"/>
            </p:cNvSpPr>
            <p:nvPr/>
          </p:nvSpPr>
          <p:spPr>
            <a:xfrm>
              <a:off x="20254354" y="20470879"/>
              <a:ext cx="300397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R6</a:t>
              </a:r>
              <a:endParaRPr lang="en-GB" sz="2245"/>
            </a:p>
          </p:txBody>
        </p:sp>
      </p:grpSp>
      <p:grpSp>
        <p:nvGrpSpPr>
          <p:cNvPr id="540" name="9. OCR robustness"/>
          <p:cNvGrpSpPr/>
          <p:nvPr/>
        </p:nvGrpSpPr>
        <p:grpSpPr>
          <a:xfrm>
            <a:off x="20975241" y="1370112"/>
            <a:ext cx="9012734" cy="3960316"/>
            <a:chOff x="20975241" y="1370112"/>
            <a:chExt cx="9012734" cy="3960316"/>
          </a:xfrm>
        </p:grpSpPr>
        <p:sp>
          <p:nvSpPr>
            <p:cNvPr id="42" name="Panel H2" descr="s41">
              <a:extLst>
                <a:ext uri="{FF2B5EF4-FFF2-40B4-BE49-F238E27FC236}">
                  <ns2:creationId id="{D92E3D5F-B694-481C-AE53-617977188FC6}"/>
                </a:ext>
              </a:extLst>
            </p:cNvPr>
            <p:cNvSpPr>
              <a:spLocks noGrp="1"/>
            </p:cNvSpPr>
            <p:nvPr/>
          </p:nvSpPr>
          <p:spPr>
            <a:xfrm>
              <a:off x="20975241" y="1370112"/>
              <a:ext cx="9012734" cy="517327"/>
            </a:xfrm>
            <a:custGeom>
              <a:avLst/>
              <a:gdLst/>
              <a:ahLst/>
              <a:cxnLst/>
              <a:rect l="0" t="0" r="r" b="b"/>
              <a:pathLst>
                <a:path w="946219" h="54312">
                  <a:moveTo>
                    <a:pt x="6000" y="0"/>
                  </a:moveTo>
                  <a:lnTo>
                    <a:pt x="940219" y="0"/>
                  </a:lnTo>
                  <a:cubicBezTo>
                    <a:pt x="943532" y="0"/>
                    <a:pt x="946219" y="2686"/>
                    <a:pt x="946219" y="6000"/>
                  </a:cubicBezTo>
                  <a:lnTo>
                    <a:pt x="946219" y="54312"/>
                  </a:lnTo>
                  <a:cubicBezTo>
                    <a:pt x="946219" y="54312"/>
                    <a:pt x="946219" y="54312"/>
                    <a:pt x="946219" y="54312"/>
                  </a:cubicBezTo>
                  <a:lnTo>
                    <a:pt x="0" y="54312"/>
                  </a:lnTo>
                  <a:cubicBezTo>
                    <a:pt x="0" y="54312"/>
                    <a:pt x="0" y="54312"/>
                    <a:pt x="0" y="54312"/>
                  </a:cubicBezTo>
                  <a:lnTo>
                    <a:pt x="0" y="6000"/>
                  </a:lnTo>
                  <a:cubicBezTo>
                    <a:pt x="0" y="2686"/>
                    <a:pt x="2686" y="0"/>
                    <a:pt x="6000" y="0"/>
                  </a:cubicBezTo>
                  <a:close/>
                </a:path>
              </a:pathLst>
            </a:custGeom>
            <a:gradFill>
              <a:gsLst>
                <a:gs pos="0">
                  <a:srgbClr val="056097"/>
                </a:gs>
                <a:gs pos="100000">
                  <a:srgbClr val="0071AE"/>
                </a:gs>
              </a:gsLst>
              <a:lin ang="0"/>
            </a:gradFill>
            <a:ln w="0">
              <a:noFill/>
            </a:ln>
          </p:spPr>
        </p:sp>
        <p:sp>
          <p:nvSpPr>
            <p:cNvPr id="43" name="Panel content" descr="s42">
              <a:extLst>
                <a:ext uri="{FF2B5EF4-FFF2-40B4-BE49-F238E27FC236}">
                  <ns2:creationId id="{1C201C85-932D-4BCB-9A81-0BDF413A5A64}"/>
                </a:ext>
              </a:extLst>
            </p:cNvPr>
            <p:cNvSpPr>
              <a:spLocks noGrp="1"/>
            </p:cNvSpPr>
            <p:nvPr/>
          </p:nvSpPr>
          <p:spPr>
            <a:xfrm>
              <a:off x="20975241" y="1887438"/>
              <a:ext cx="9012734" cy="3442990"/>
            </a:xfrm>
            <a:custGeom>
              <a:avLst/>
              <a:gdLst/>
              <a:ahLst/>
              <a:cxnLst/>
              <a:rect l="0" t="0" r="r" b="b"/>
              <a:pathLst>
                <a:path w="946219" h="361469">
                  <a:moveTo>
                    <a:pt x="0" y="0"/>
                  </a:moveTo>
                  <a:lnTo>
                    <a:pt x="946219" y="0"/>
                  </a:lnTo>
                  <a:cubicBezTo>
                    <a:pt x="946219" y="0"/>
                    <a:pt x="946219" y="0"/>
                    <a:pt x="946219" y="0"/>
                  </a:cubicBezTo>
                  <a:lnTo>
                    <a:pt x="946219" y="352469"/>
                  </a:lnTo>
                  <a:cubicBezTo>
                    <a:pt x="946219" y="357439"/>
                    <a:pt x="942189" y="361469"/>
                    <a:pt x="937219" y="361469"/>
                  </a:cubicBezTo>
                  <a:lnTo>
                    <a:pt x="9000" y="361469"/>
                  </a:lnTo>
                  <a:cubicBezTo>
                    <a:pt x="4029" y="361469"/>
                    <a:pt x="0" y="357439"/>
                    <a:pt x="0" y="352469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2F8FC"/>
            </a:solidFill>
            <a:ln w="9525">
              <a:solidFill>
                <a:srgbClr val="D9E9F1"/>
              </a:solidFill>
            </a:ln>
          </p:spPr>
        </p:sp>
        <p:grpSp>
          <p:nvGrpSpPr>
            <p:cNvPr id="539" name="ocr-bars"/>
            <p:cNvGrpSpPr/>
            <p:nvPr/>
          </p:nvGrpSpPr>
          <p:grpSpPr>
            <a:xfrm>
              <a:off x="21137166" y="2416522"/>
              <a:ext cx="8688884" cy="2073920"/>
              <a:chOff x="21137166" y="2416522"/>
              <a:chExt cx="8688884" cy="2073920"/>
            </a:xfrm>
          </p:grpSpPr>
          <p:sp>
            <p:nvSpPr>
              <p:cNvPr id="44" name="Panel track" descr="s43">
                <a:extLst>
                  <a:ext uri="{FF2B5EF4-FFF2-40B4-BE49-F238E27FC236}">
                    <ns2:creationId id="{01FE1ED9-55B6-4216-A411-B327059E1C7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1137166" y="2747814"/>
                <a:ext cx="7906792" cy="190500"/>
              </a:xfrm>
              <a:prstGeom prst="rect">
                <a:avLst/>
              </a:prstGeom>
              <a:solidFill>
                <a:srgbClr val="E4EDF3"/>
              </a:solidFill>
              <a:ln w="0">
                <a:noFill/>
              </a:ln>
            </p:spPr>
          </p:sp>
          <p:sp>
            <p:nvSpPr>
              <p:cNvPr id="45" name="Panel bar" descr="s44">
                <a:extLst>
                  <a:ext uri="{FF2B5EF4-FFF2-40B4-BE49-F238E27FC236}">
                    <ns2:creationId id="{6AD940E8-1A29-4F2A-9E7B-7350152B5AD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1137166" y="2747814"/>
                <a:ext cx="5171033" cy="190500"/>
              </a:xfrm>
              <a:prstGeom prst="rect">
                <a:avLst/>
              </a:prstGeom>
              <a:solidFill>
                <a:srgbClr val="087AB9"/>
              </a:solidFill>
              <a:ln w="0">
                <a:noFill/>
              </a:ln>
            </p:spPr>
          </p:sp>
          <p:sp>
            <p:nvSpPr>
              <p:cNvPr id="46" name="Panel track" descr="s45">
                <a:extLst>
                  <a:ext uri="{FF2B5EF4-FFF2-40B4-BE49-F238E27FC236}">
                    <ns2:creationId id="{281E232A-C0B3-4B8B-9158-2AEA91B9D8F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1137166" y="3345805"/>
                <a:ext cx="7906792" cy="190500"/>
              </a:xfrm>
              <a:prstGeom prst="rect">
                <a:avLst/>
              </a:prstGeom>
              <a:solidFill>
                <a:srgbClr val="E4EDF3"/>
              </a:solidFill>
              <a:ln w="0">
                <a:noFill/>
              </a:ln>
            </p:spPr>
          </p:sp>
          <p:sp>
            <p:nvSpPr>
              <p:cNvPr id="47" name="Panel bar" descr="s46">
                <a:extLst>
                  <a:ext uri="{FF2B5EF4-FFF2-40B4-BE49-F238E27FC236}">
                    <ns2:creationId id="{8ECD1539-651F-46DF-A911-28EF7E94434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1137166" y="3345805"/>
                <a:ext cx="3652838" cy="190500"/>
              </a:xfrm>
              <a:prstGeom prst="rect">
                <a:avLst/>
              </a:prstGeom>
              <a:solidFill>
                <a:srgbClr val="087AB9"/>
              </a:solidFill>
              <a:ln w="0">
                <a:noFill/>
              </a:ln>
            </p:spPr>
          </p:sp>
          <p:sp>
            <p:nvSpPr>
              <p:cNvPr id="48" name="Panel track" descr="s47">
                <a:extLst>
                  <a:ext uri="{FF2B5EF4-FFF2-40B4-BE49-F238E27FC236}">
                    <ns2:creationId id="{C7561BDE-7EEE-40AA-9E10-D752104067B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1137166" y="3943796"/>
                <a:ext cx="7906792" cy="190500"/>
              </a:xfrm>
              <a:prstGeom prst="rect">
                <a:avLst/>
              </a:prstGeom>
              <a:solidFill>
                <a:srgbClr val="E4EDF3"/>
              </a:solidFill>
              <a:ln w="0">
                <a:noFill/>
              </a:ln>
            </p:spPr>
          </p:sp>
          <p:sp>
            <p:nvSpPr>
              <p:cNvPr id="49" name="Panel bar" descr="s48">
                <a:extLst>
                  <a:ext uri="{FF2B5EF4-FFF2-40B4-BE49-F238E27FC236}">
                    <ns2:creationId id="{25D72072-C089-4DC9-84D1-BF80AF21421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1137166" y="3943796"/>
                <a:ext cx="4997053" cy="190500"/>
              </a:xfrm>
              <a:prstGeom prst="rect">
                <a:avLst/>
              </a:prstGeom>
              <a:solidFill>
                <a:srgbClr val="087AB9"/>
              </a:solidFill>
              <a:ln w="0">
                <a:noFill/>
              </a:ln>
            </p:spPr>
          </p:sp>
          <p:sp>
            <p:nvSpPr>
              <p:cNvPr id="276" name="Original corpus · R0" descr="t142">
                <a:extLst>
                  <a:ext uri="{FF2B5EF4-FFF2-40B4-BE49-F238E27FC236}">
                    <ns2:creationId id="{B002D015-7DA7-4974-BDD2-DDA9860C8D5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1137290" y="2387739"/>
                <a:ext cx="1906178" cy="373342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2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Original corpus · R0</a:t>
                </a:r>
                <a:endParaRPr lang="en-GB" sz="2200"/>
              </a:p>
            </p:txBody>
          </p:sp>
          <p:sp>
            <p:nvSpPr>
              <p:cNvPr id="277" name="Mixed corpus (original + synthetic scans) · R0" descr="t143">
                <a:extLst>
                  <a:ext uri="{FF2B5EF4-FFF2-40B4-BE49-F238E27FC236}">
                    <ns2:creationId id="{86EF12ED-1E1E-4AD4-A3CA-2C292F4E71D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1137290" y="2978086"/>
                <a:ext cx="4332622" cy="373342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2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Mixed corpus (original + synthetic scans) · R0</a:t>
                </a:r>
                <a:endParaRPr lang="en-GB" sz="2200"/>
              </a:p>
            </p:txBody>
          </p:sp>
          <p:sp>
            <p:nvSpPr>
              <p:cNvPr id="278" name="Mixed corpus + OCR · R1" descr="t144">
                <a:extLst>
                  <a:ext uri="{FF2B5EF4-FFF2-40B4-BE49-F238E27FC236}">
                    <ns2:creationId id="{3A7CB6E3-890D-4B0F-9576-DD617C25D30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1137645" y="3578110"/>
                <a:ext cx="2276039" cy="373342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2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Mixed corpus + OCR · R1</a:t>
                </a:r>
                <a:endParaRPr lang="en-GB" sz="2200"/>
              </a:p>
            </p:txBody>
          </p:sp>
          <p:sp>
            <p:nvSpPr>
              <p:cNvPr id="279" name="0" descr="t145">
                <a:extLst>
                  <a:ext uri="{FF2B5EF4-FFF2-40B4-BE49-F238E27FC236}">
                    <ns2:creationId id="{31EED955-E226-4283-A61B-039A6EBD538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1137645" y="4181481"/>
                <a:ext cx="175564" cy="35814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100" b="0" i="0" spc="0" kern="0" dirty="0">
                    <a:solidFill>
                      <a:srgbClr val="476579"/>
                    </a:solidFill>
                    <a:latin typeface="Barlow Condensed"/>
                    <a:ea typeface="Barlow Condensed"/>
                    <a:cs typeface="Barlow Condensed"/>
                  </a:rPr>
                  <a:t>0</a:t>
                </a:r>
                <a:endParaRPr lang="en-GB" sz="2100"/>
              </a:p>
            </p:txBody>
          </p:sp>
          <p:sp>
            <p:nvSpPr>
              <p:cNvPr id="280" name="50" descr="t146">
                <a:extLst>
                  <a:ext uri="{FF2B5EF4-FFF2-40B4-BE49-F238E27FC236}">
                    <ns2:creationId id="{713639EC-7A6C-4AF1-857F-514A3CD5C6E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4779415" y="4181481"/>
                <a:ext cx="284646" cy="35814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100" b="0" i="0" spc="0" kern="0" dirty="0">
                    <a:solidFill>
                      <a:srgbClr val="476579"/>
                    </a:solidFill>
                    <a:latin typeface="Barlow Condensed"/>
                    <a:ea typeface="Barlow Condensed"/>
                    <a:cs typeface="Barlow Condensed"/>
                  </a:rPr>
                  <a:t>50</a:t>
                </a:r>
                <a:endParaRPr lang="en-GB" sz="2100"/>
              </a:p>
            </p:txBody>
          </p:sp>
          <p:sp>
            <p:nvSpPr>
              <p:cNvPr id="281" name="100%" descr="t147">
                <a:extLst>
                  <a:ext uri="{FF2B5EF4-FFF2-40B4-BE49-F238E27FC236}">
                    <ns2:creationId id="{5F4FD694-2C0C-44D1-8BFA-7600C96A9ED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8530640" y="4181481"/>
                <a:ext cx="570551" cy="35814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100" b="0" i="0" spc="0" kern="0" dirty="0">
                    <a:solidFill>
                      <a:srgbClr val="476579"/>
                    </a:solidFill>
                    <a:latin typeface="Barlow Condensed"/>
                    <a:ea typeface="Barlow Condensed"/>
                    <a:cs typeface="Barlow Condensed"/>
                  </a:rPr>
                  <a:t>100%</a:t>
                </a:r>
                <a:endParaRPr lang="en-GB" sz="2100"/>
              </a:p>
            </p:txBody>
          </p:sp>
          <p:sp>
            <p:nvSpPr>
              <p:cNvPr id="399" name="65.4" descr="t265">
                <a:extLst>
                  <a:ext uri="{FF2B5EF4-FFF2-40B4-BE49-F238E27FC236}">
                    <ns2:creationId id="{E67BD05E-14E0-4DD3-A76F-AB9331CF4D3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6384396" y="2660733"/>
                <a:ext cx="520281" cy="388544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299" b="1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65.4</a:t>
                </a:r>
                <a:endParaRPr lang="en-GB" sz="2299"/>
              </a:p>
            </p:txBody>
          </p:sp>
          <p:sp>
            <p:nvSpPr>
              <p:cNvPr id="400" name="46.2" descr="t266">
                <a:extLst>
                  <a:ext uri="{FF2B5EF4-FFF2-40B4-BE49-F238E27FC236}">
                    <ns2:creationId id="{C66BFD7B-5F18-4819-A1FD-57D557BF70D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4866491" y="3260769"/>
                <a:ext cx="519987" cy="388544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299" b="1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46.2</a:t>
                </a:r>
                <a:endParaRPr lang="en-GB" sz="2299"/>
              </a:p>
            </p:txBody>
          </p:sp>
          <p:sp>
            <p:nvSpPr>
              <p:cNvPr id="401" name="63.2" descr="t267">
                <a:extLst>
                  <a:ext uri="{FF2B5EF4-FFF2-40B4-BE49-F238E27FC236}">
                    <ns2:creationId id="{A595E34E-F011-4D37-9986-72F9A71B09C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6210323" y="3860794"/>
                <a:ext cx="505972" cy="388544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299" b="1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63.2</a:t>
                </a:r>
                <a:endParaRPr lang="en-GB" sz="2299"/>
              </a:p>
            </p:txBody>
          </p:sp>
        </p:grpSp>
        <p:sp>
          <p:nvSpPr>
            <p:cNvPr id="274" name="9. OCR robustness" descr="t140">
              <a:extLst>
                <a:ext uri="{FF2B5EF4-FFF2-40B4-BE49-F238E27FC236}">
                  <ns2:creationId id="{90127CBC-811F-44B6-8FB1-42B1EB977CBE}"/>
                </a:ext>
              </a:extLst>
            </p:cNvPr>
            <p:cNvSpPr>
              <a:spLocks noGrp="1"/>
            </p:cNvSpPr>
            <p:nvPr/>
          </p:nvSpPr>
          <p:spPr>
            <a:xfrm>
              <a:off x="21108588" y="1415809"/>
              <a:ext cx="2463589" cy="46478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800" b="1" i="0" spc="0" kern="0" dirty="0">
                  <a:solidFill>
                    <a:srgbClr val="ffffff"/>
                  </a:solidFill>
                  <a:latin typeface="Barlow Condensed"/>
                  <a:ea typeface="Barlow Condensed"/>
                  <a:cs typeface="Barlow Condensed"/>
                </a:rPr>
                <a:t>9. OCR robustness</a:t>
              </a:r>
              <a:endParaRPr lang="en-GB" sz="2800"/>
            </a:p>
          </p:txBody>
        </p:sp>
        <p:sp>
          <p:nvSpPr>
            <p:cNvPr id="275" name="OCR recovers performance on scanned documents" descr="t141">
              <a:extLst>
                <a:ext uri="{FF2B5EF4-FFF2-40B4-BE49-F238E27FC236}">
                  <ns2:creationId id="{6C55C6A3-0C93-4CCC-8C01-4C936C9E4020}"/>
                </a:ext>
              </a:extLst>
            </p:cNvPr>
            <p:cNvSpPr>
              <a:spLocks noGrp="1"/>
            </p:cNvSpPr>
            <p:nvPr/>
          </p:nvSpPr>
          <p:spPr>
            <a:xfrm>
              <a:off x="21137645" y="1962538"/>
              <a:ext cx="5637436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1" i="0" spc="0" kern="0" dirty="0">
                  <a:solidFill>
                    <a:srgbClr val="073c64"/>
                  </a:solidFill>
                  <a:latin typeface="Barlow Condensed"/>
                  <a:ea typeface="Barlow Condensed"/>
                  <a:cs typeface="Barlow Condensed"/>
                </a:rPr>
                <a:t>OCR recovers performance on scanned documents</a:t>
              </a:r>
              <a:endParaRPr lang="en-GB" sz="2400"/>
            </a:p>
          </p:txBody>
        </p:sp>
        <p:sp>
          <p:nvSpPr>
            <p:cNvPr id="282" name="Converting 10 documents into synthetic scans reduces answer quality fr" descr="t148">
              <a:extLst>
                <a:ext uri="{FF2B5EF4-FFF2-40B4-BE49-F238E27FC236}">
                  <ns2:creationId id="{0467B30A-0313-4123-9AFA-3F2971C37336}"/>
                </a:ext>
              </a:extLst>
            </p:cNvPr>
            <p:cNvSpPr>
              <a:spLocks noGrp="1"/>
            </p:cNvSpPr>
            <p:nvPr/>
          </p:nvSpPr>
          <p:spPr>
            <a:xfrm>
              <a:off x="21137645" y="4562545"/>
              <a:ext cx="8548588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Converting 10 documents into synthetic scans reduces answer quality from 65.4%</a:t>
              </a:r>
              <a:endParaRPr lang="en-GB" sz="2400"/>
            </a:p>
          </p:txBody>
        </p:sp>
        <p:sp>
          <p:nvSpPr>
            <p:cNvPr id="283" name="to 46.2%. OCR restores most of this loss, reaching 63.2%." descr="t149">
              <a:extLst>
                <a:ext uri="{FF2B5EF4-FFF2-40B4-BE49-F238E27FC236}">
                  <ns2:creationId id="{1C73501D-3D44-4492-B413-BCA148703307}"/>
                </a:ext>
              </a:extLst>
            </p:cNvPr>
            <p:cNvSpPr>
              <a:spLocks noGrp="1"/>
            </p:cNvSpPr>
            <p:nvPr/>
          </p:nvSpPr>
          <p:spPr>
            <a:xfrm>
              <a:off x="21137290" y="4886598"/>
              <a:ext cx="6016609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to 46.2%. OCR restores most of this loss, reaching 63.2%.</a:t>
              </a:r>
              <a:endParaRPr lang="en-GB" sz="2400"/>
            </a:p>
          </p:txBody>
        </p:sp>
      </p:grpSp>
      <p:grpSp>
        <p:nvGrpSpPr>
          <p:cNvPr id="538" name="10. Hypothesis evaluation"/>
          <p:cNvGrpSpPr/>
          <p:nvPr/>
        </p:nvGrpSpPr>
        <p:grpSpPr>
          <a:xfrm>
            <a:off x="20975241" y="5426422"/>
            <a:ext cx="9012734" cy="3719215"/>
            <a:chOff x="20975241" y="5426422"/>
            <a:chExt cx="9012734" cy="3719215"/>
          </a:xfrm>
        </p:grpSpPr>
        <p:sp>
          <p:nvSpPr>
            <p:cNvPr id="50" name="Panel H2" descr="s49">
              <a:extLst>
                <a:ext uri="{FF2B5EF4-FFF2-40B4-BE49-F238E27FC236}">
                  <ns2:creationId id="{6F17153C-37CB-4410-95D9-484D1295D4B7}"/>
                </a:ext>
              </a:extLst>
            </p:cNvPr>
            <p:cNvSpPr>
              <a:spLocks noGrp="1"/>
            </p:cNvSpPr>
            <p:nvPr/>
          </p:nvSpPr>
          <p:spPr>
            <a:xfrm>
              <a:off x="20975241" y="5426422"/>
              <a:ext cx="9012734" cy="517327"/>
            </a:xfrm>
            <a:custGeom>
              <a:avLst/>
              <a:gdLst/>
              <a:ahLst/>
              <a:cxnLst/>
              <a:rect l="0" t="0" r="r" b="b"/>
              <a:pathLst>
                <a:path w="946219" h="54312">
                  <a:moveTo>
                    <a:pt x="6000" y="0"/>
                  </a:moveTo>
                  <a:lnTo>
                    <a:pt x="940219" y="0"/>
                  </a:lnTo>
                  <a:cubicBezTo>
                    <a:pt x="943532" y="0"/>
                    <a:pt x="946219" y="2686"/>
                    <a:pt x="946219" y="6000"/>
                  </a:cubicBezTo>
                  <a:lnTo>
                    <a:pt x="946219" y="54312"/>
                  </a:lnTo>
                  <a:cubicBezTo>
                    <a:pt x="946219" y="54312"/>
                    <a:pt x="946219" y="54312"/>
                    <a:pt x="946219" y="54312"/>
                  </a:cubicBezTo>
                  <a:lnTo>
                    <a:pt x="0" y="54312"/>
                  </a:lnTo>
                  <a:cubicBezTo>
                    <a:pt x="0" y="54312"/>
                    <a:pt x="0" y="54312"/>
                    <a:pt x="0" y="54312"/>
                  </a:cubicBezTo>
                  <a:lnTo>
                    <a:pt x="0" y="6000"/>
                  </a:lnTo>
                  <a:cubicBezTo>
                    <a:pt x="0" y="2686"/>
                    <a:pt x="2686" y="0"/>
                    <a:pt x="6000" y="0"/>
                  </a:cubicBezTo>
                  <a:close/>
                </a:path>
              </a:pathLst>
            </a:custGeom>
            <a:gradFill>
              <a:gsLst>
                <a:gs pos="0">
                  <a:srgbClr val="056097"/>
                </a:gs>
                <a:gs pos="100000">
                  <a:srgbClr val="0071AE"/>
                </a:gs>
              </a:gsLst>
              <a:lin ang="0"/>
            </a:gradFill>
            <a:ln w="0">
              <a:noFill/>
            </a:ln>
          </p:spPr>
        </p:sp>
        <p:sp>
          <p:nvSpPr>
            <p:cNvPr id="51" name="Panel content" descr="s50">
              <a:extLst>
                <a:ext uri="{FF2B5EF4-FFF2-40B4-BE49-F238E27FC236}">
                  <ns2:creationId id="{84579EEE-CB06-4743-8550-B0DFFD9AA8A0}"/>
                </a:ext>
              </a:extLst>
            </p:cNvPr>
            <p:cNvSpPr>
              <a:spLocks noGrp="1"/>
            </p:cNvSpPr>
            <p:nvPr/>
          </p:nvSpPr>
          <p:spPr>
            <a:xfrm>
              <a:off x="20975241" y="5943749"/>
              <a:ext cx="9012734" cy="3201888"/>
            </a:xfrm>
            <a:custGeom>
              <a:avLst/>
              <a:gdLst/>
              <a:ahLst/>
              <a:cxnLst/>
              <a:rect l="0" t="0" r="r" b="b"/>
              <a:pathLst>
                <a:path w="946219" h="336156">
                  <a:moveTo>
                    <a:pt x="0" y="0"/>
                  </a:moveTo>
                  <a:lnTo>
                    <a:pt x="946219" y="0"/>
                  </a:lnTo>
                  <a:cubicBezTo>
                    <a:pt x="946219" y="0"/>
                    <a:pt x="946219" y="0"/>
                    <a:pt x="946219" y="0"/>
                  </a:cubicBezTo>
                  <a:lnTo>
                    <a:pt x="946219" y="327156"/>
                  </a:lnTo>
                  <a:cubicBezTo>
                    <a:pt x="946219" y="332127"/>
                    <a:pt x="942189" y="336156"/>
                    <a:pt x="937219" y="336156"/>
                  </a:cubicBezTo>
                  <a:lnTo>
                    <a:pt x="9000" y="336156"/>
                  </a:lnTo>
                  <a:cubicBezTo>
                    <a:pt x="4029" y="336156"/>
                    <a:pt x="0" y="332127"/>
                    <a:pt x="0" y="327156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9E9F1"/>
              </a:solidFill>
            </a:ln>
          </p:spPr>
        </p:sp>
        <p:sp>
          <p:nvSpPr>
            <p:cNvPr id="52" name="Panel hyp-result h1" descr="s51">
              <a:extLst>
                <a:ext uri="{FF2B5EF4-FFF2-40B4-BE49-F238E27FC236}">
                  <ns2:creationId id="{B14694D2-780B-427C-A21E-AF6B2958518D}"/>
                </a:ext>
              </a:extLst>
            </p:cNvPr>
            <p:cNvSpPr>
              <a:spLocks noGrp="1"/>
            </p:cNvSpPr>
            <p:nvPr/>
          </p:nvSpPr>
          <p:spPr>
            <a:xfrm>
              <a:off x="21099066" y="6067574"/>
              <a:ext cx="8765084" cy="1159966"/>
            </a:xfrm>
            <a:custGeom>
              <a:avLst/>
              <a:gdLst/>
              <a:ahLst/>
              <a:cxnLst/>
              <a:rect l="0" t="0" r="r" b="b"/>
              <a:pathLst>
                <a:path w="920219" h="121781">
                  <a:moveTo>
                    <a:pt x="7000" y="0"/>
                  </a:moveTo>
                  <a:lnTo>
                    <a:pt x="913219" y="0"/>
                  </a:lnTo>
                  <a:cubicBezTo>
                    <a:pt x="917085" y="0"/>
                    <a:pt x="920219" y="3134"/>
                    <a:pt x="920219" y="7000"/>
                  </a:cubicBezTo>
                  <a:lnTo>
                    <a:pt x="920219" y="114781"/>
                  </a:lnTo>
                  <a:cubicBezTo>
                    <a:pt x="920219" y="118647"/>
                    <a:pt x="917085" y="121781"/>
                    <a:pt x="913219" y="121781"/>
                  </a:cubicBezTo>
                  <a:lnTo>
                    <a:pt x="7000" y="121781"/>
                  </a:lnTo>
                  <a:cubicBezTo>
                    <a:pt x="3134" y="121781"/>
                    <a:pt x="0" y="118647"/>
                    <a:pt x="0" y="114781"/>
                  </a:cubicBezTo>
                  <a:lnTo>
                    <a:pt x="0" y="7000"/>
                  </a:lnTo>
                  <a:cubicBezTo>
                    <a:pt x="0" y="3134"/>
                    <a:pt x="3134" y="0"/>
                    <a:pt x="7000" y="0"/>
                  </a:cubicBezTo>
                  <a:close/>
                </a:path>
              </a:pathLst>
            </a:custGeom>
            <a:solidFill>
              <a:srgbClr val="EAF4FB"/>
            </a:solidFill>
            <a:ln w="0">
              <a:noFill/>
            </a:ln>
          </p:spPr>
        </p:sp>
        <p:sp>
          <p:nvSpPr>
            <p:cNvPr id="53" name="Panel hyp-result h2" descr="s52">
              <a:extLst>
                <a:ext uri="{FF2B5EF4-FFF2-40B4-BE49-F238E27FC236}">
                  <ns2:creationId id="{D56966A3-1F28-4F1E-A4FB-8450F8801B8B}"/>
                </a:ext>
              </a:extLst>
            </p:cNvPr>
            <p:cNvSpPr>
              <a:spLocks noGrp="1"/>
            </p:cNvSpPr>
            <p:nvPr/>
          </p:nvSpPr>
          <p:spPr>
            <a:xfrm>
              <a:off x="21099066" y="7284690"/>
              <a:ext cx="8765084" cy="839986"/>
            </a:xfrm>
            <a:custGeom>
              <a:avLst/>
              <a:gdLst/>
              <a:ahLst/>
              <a:cxnLst/>
              <a:rect l="0" t="0" r="r" b="b"/>
              <a:pathLst>
                <a:path w="920219" h="88188">
                  <a:moveTo>
                    <a:pt x="7000" y="0"/>
                  </a:moveTo>
                  <a:lnTo>
                    <a:pt x="913219" y="0"/>
                  </a:lnTo>
                  <a:cubicBezTo>
                    <a:pt x="917085" y="0"/>
                    <a:pt x="920219" y="3134"/>
                    <a:pt x="920219" y="7000"/>
                  </a:cubicBezTo>
                  <a:lnTo>
                    <a:pt x="920219" y="81188"/>
                  </a:lnTo>
                  <a:cubicBezTo>
                    <a:pt x="920219" y="85053"/>
                    <a:pt x="917085" y="88188"/>
                    <a:pt x="913219" y="88188"/>
                  </a:cubicBezTo>
                  <a:lnTo>
                    <a:pt x="7000" y="88188"/>
                  </a:lnTo>
                  <a:cubicBezTo>
                    <a:pt x="3134" y="88188"/>
                    <a:pt x="0" y="85053"/>
                    <a:pt x="0" y="81188"/>
                  </a:cubicBezTo>
                  <a:lnTo>
                    <a:pt x="0" y="7000"/>
                  </a:lnTo>
                  <a:cubicBezTo>
                    <a:pt x="0" y="3134"/>
                    <a:pt x="3134" y="0"/>
                    <a:pt x="7000" y="0"/>
                  </a:cubicBezTo>
                  <a:close/>
                </a:path>
              </a:pathLst>
            </a:custGeom>
            <a:solidFill>
              <a:srgbClr val="EFF7E9"/>
            </a:solidFill>
            <a:ln w="0">
              <a:noFill/>
            </a:ln>
          </p:spPr>
        </p:sp>
        <p:sp>
          <p:nvSpPr>
            <p:cNvPr id="54" name="Panel hyp-result h3" descr="s53">
              <a:extLst>
                <a:ext uri="{FF2B5EF4-FFF2-40B4-BE49-F238E27FC236}">
                  <ns2:creationId id="{9CE68E51-7877-4F67-A0DE-7D882D4F2716}"/>
                </a:ext>
              </a:extLst>
            </p:cNvPr>
            <p:cNvSpPr>
              <a:spLocks noGrp="1"/>
            </p:cNvSpPr>
            <p:nvPr/>
          </p:nvSpPr>
          <p:spPr>
            <a:xfrm>
              <a:off x="21099066" y="8181826"/>
              <a:ext cx="8765084" cy="839986"/>
            </a:xfrm>
            <a:custGeom>
              <a:avLst/>
              <a:gdLst/>
              <a:ahLst/>
              <a:cxnLst/>
              <a:rect l="0" t="0" r="r" b="b"/>
              <a:pathLst>
                <a:path w="920219" h="88188">
                  <a:moveTo>
                    <a:pt x="7000" y="0"/>
                  </a:moveTo>
                  <a:lnTo>
                    <a:pt x="913219" y="0"/>
                  </a:lnTo>
                  <a:cubicBezTo>
                    <a:pt x="917085" y="0"/>
                    <a:pt x="920219" y="3134"/>
                    <a:pt x="920219" y="7000"/>
                  </a:cubicBezTo>
                  <a:lnTo>
                    <a:pt x="920219" y="81188"/>
                  </a:lnTo>
                  <a:cubicBezTo>
                    <a:pt x="920219" y="85053"/>
                    <a:pt x="917085" y="88188"/>
                    <a:pt x="913219" y="88188"/>
                  </a:cubicBezTo>
                  <a:lnTo>
                    <a:pt x="7000" y="88188"/>
                  </a:lnTo>
                  <a:cubicBezTo>
                    <a:pt x="3134" y="88188"/>
                    <a:pt x="0" y="85053"/>
                    <a:pt x="0" y="81188"/>
                  </a:cubicBezTo>
                  <a:lnTo>
                    <a:pt x="0" y="7000"/>
                  </a:lnTo>
                  <a:cubicBezTo>
                    <a:pt x="0" y="3134"/>
                    <a:pt x="3134" y="0"/>
                    <a:pt x="7000" y="0"/>
                  </a:cubicBezTo>
                  <a:close/>
                </a:path>
              </a:pathLst>
            </a:custGeom>
            <a:solidFill>
              <a:srgbClr val="F2EBFA"/>
            </a:solidFill>
            <a:ln w="0">
              <a:noFill/>
            </a:ln>
          </p:spPr>
        </p:sp>
        <p:sp>
          <p:nvSpPr>
            <p:cNvPr id="284" name="10. Hypothesis evaluation" descr="t150">
              <a:extLst>
                <a:ext uri="{FF2B5EF4-FFF2-40B4-BE49-F238E27FC236}">
                  <ns2:creationId id="{07BE9E80-07F8-4C3D-BDF7-7CF11FB90F88}"/>
                </a:ext>
              </a:extLst>
            </p:cNvPr>
            <p:cNvSpPr>
              <a:spLocks noGrp="1"/>
            </p:cNvSpPr>
            <p:nvPr/>
          </p:nvSpPr>
          <p:spPr>
            <a:xfrm>
              <a:off x="21108943" y="5473548"/>
              <a:ext cx="3415091" cy="46478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800" b="1" i="0" spc="0" kern="0" dirty="0">
                  <a:solidFill>
                    <a:srgbClr val="ffffff"/>
                  </a:solidFill>
                  <a:latin typeface="Barlow Condensed"/>
                  <a:ea typeface="Barlow Condensed"/>
                  <a:cs typeface="Barlow Condensed"/>
                </a:rPr>
                <a:t>10. Hypothesis evaluation</a:t>
              </a:r>
              <a:endParaRPr lang="en-GB" sz="2800"/>
            </a:p>
          </p:txBody>
        </p:sp>
        <p:sp>
          <p:nvSpPr>
            <p:cNvPr id="285" name="H1 — Retrieval &amp; representation" descr="t151">
              <a:extLst>
                <a:ext uri="{FF2B5EF4-FFF2-40B4-BE49-F238E27FC236}">
                  <ns2:creationId id="{6180580F-83CF-4642-B22D-633917A3365B}"/>
                </a:ext>
              </a:extLst>
            </p:cNvPr>
            <p:cNvSpPr>
              <a:spLocks noGrp="1"/>
            </p:cNvSpPr>
            <p:nvPr/>
          </p:nvSpPr>
          <p:spPr>
            <a:xfrm>
              <a:off x="21223066" y="6143720"/>
              <a:ext cx="3526081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1" i="0" spc="0" kern="0" dirty="0">
                  <a:solidFill>
                    <a:srgbClr val="073c64"/>
                  </a:solidFill>
                  <a:latin typeface="Barlow Condensed"/>
                  <a:ea typeface="Barlow Condensed"/>
                  <a:cs typeface="Barlow Condensed"/>
                </a:rPr>
                <a:t>H1 — Retrieval &amp; representation</a:t>
              </a:r>
              <a:endParaRPr lang="en-GB" sz="2400"/>
            </a:p>
          </p:txBody>
        </p:sp>
        <p:sp>
          <p:nvSpPr>
            <p:cNvPr id="286" name="Partially supported." descr="t152">
              <a:extLst>
                <a:ext uri="{FF2B5EF4-FFF2-40B4-BE49-F238E27FC236}">
                  <ns2:creationId id="{BDCB007C-B850-4965-A1CA-42C9185F336A}"/>
                </a:ext>
              </a:extLst>
            </p:cNvPr>
            <p:cNvSpPr>
              <a:spLocks noGrp="1"/>
            </p:cNvSpPr>
            <p:nvPr/>
          </p:nvSpPr>
          <p:spPr>
            <a:xfrm>
              <a:off x="24848116" y="6143720"/>
              <a:ext cx="2235860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1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Partially supported.</a:t>
              </a:r>
              <a:endParaRPr lang="en-GB" sz="2400"/>
            </a:p>
          </p:txBody>
        </p:sp>
        <p:sp>
          <p:nvSpPr>
            <p:cNvPr id="287" name=" Multi-scale" descr="t153">
              <a:extLst>
                <a:ext uri="{FF2B5EF4-FFF2-40B4-BE49-F238E27FC236}">
                  <ns2:creationId id="{45B17A18-2F0F-4378-9A62-BCC50C6D30B5}"/>
                </a:ext>
              </a:extLst>
            </p:cNvPr>
            <p:cNvSpPr>
              <a:spLocks noGrp="1"/>
            </p:cNvSpPr>
            <p:nvPr/>
          </p:nvSpPr>
          <p:spPr>
            <a:xfrm>
              <a:off x="27027055" y="6143720"/>
              <a:ext cx="1243130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 Multi-scale</a:t>
              </a:r>
              <a:endParaRPr lang="en-GB" sz="2400"/>
            </a:p>
          </p:txBody>
        </p:sp>
        <p:sp>
          <p:nvSpPr>
            <p:cNvPr id="288" name="representations alone reduce Q, but adding lexical retrieval and reran" descr="t154">
              <a:extLst>
                <a:ext uri="{FF2B5EF4-FFF2-40B4-BE49-F238E27FC236}">
                  <ns2:creationId id="{6CFCFE69-6C0D-45B8-9B41-FCFDBEB0EC2B}"/>
                </a:ext>
              </a:extLst>
            </p:cNvPr>
            <p:cNvSpPr>
              <a:spLocks noGrp="1"/>
            </p:cNvSpPr>
            <p:nvPr/>
          </p:nvSpPr>
          <p:spPr>
            <a:xfrm>
              <a:off x="21223421" y="6467785"/>
              <a:ext cx="7657970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representations alone reduce Q, but adding lexical retrieval and reranking</a:t>
              </a:r>
              <a:endParaRPr lang="en-GB" sz="2400"/>
            </a:p>
          </p:txBody>
        </p:sp>
        <p:sp>
          <p:nvSpPr>
            <p:cNvPr id="289" name="substantially improves answer quality and source-page recall." descr="t155">
              <a:extLst>
                <a:ext uri="{FF2B5EF4-FFF2-40B4-BE49-F238E27FC236}">
                  <ns2:creationId id="{5030ABF8-8FED-4AE3-8638-8CF833562F25}"/>
                </a:ext>
              </a:extLst>
            </p:cNvPr>
            <p:cNvSpPr>
              <a:spLocks noGrp="1"/>
            </p:cNvSpPr>
            <p:nvPr/>
          </p:nvSpPr>
          <p:spPr>
            <a:xfrm>
              <a:off x="21223066" y="6782149"/>
              <a:ext cx="6453094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substantially improves answer quality and source-page recall.</a:t>
              </a:r>
              <a:endParaRPr lang="en-GB" sz="2400"/>
            </a:p>
          </p:txBody>
        </p:sp>
        <p:sp>
          <p:nvSpPr>
            <p:cNvPr id="290" name="H2 — Scan robustness" descr="t156">
              <a:extLst>
                <a:ext uri="{FF2B5EF4-FFF2-40B4-BE49-F238E27FC236}">
                  <ns2:creationId id="{C3628BF6-C159-4DB7-AA89-5203B4CAA03C}"/>
                </a:ext>
              </a:extLst>
            </p:cNvPr>
            <p:cNvSpPr>
              <a:spLocks noGrp="1"/>
            </p:cNvSpPr>
            <p:nvPr/>
          </p:nvSpPr>
          <p:spPr>
            <a:xfrm>
              <a:off x="21223066" y="7363161"/>
              <a:ext cx="2474823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1" i="0" spc="0" kern="0" dirty="0">
                  <a:solidFill>
                    <a:srgbClr val="073c64"/>
                  </a:solidFill>
                  <a:latin typeface="Barlow Condensed"/>
                  <a:ea typeface="Barlow Condensed"/>
                  <a:cs typeface="Barlow Condensed"/>
                </a:rPr>
                <a:t>H2 — Scan robustness</a:t>
              </a:r>
              <a:endParaRPr lang="en-GB" sz="2400"/>
            </a:p>
          </p:txBody>
        </p:sp>
        <p:sp>
          <p:nvSpPr>
            <p:cNvPr id="291" name="Supported." descr="t157">
              <a:extLst>
                <a:ext uri="{FF2B5EF4-FFF2-40B4-BE49-F238E27FC236}">
                  <ns2:creationId id="{B7EBAABF-4B2A-4171-927F-6299C600F120}"/>
                </a:ext>
              </a:extLst>
            </p:cNvPr>
            <p:cNvSpPr>
              <a:spLocks noGrp="1"/>
            </p:cNvSpPr>
            <p:nvPr/>
          </p:nvSpPr>
          <p:spPr>
            <a:xfrm>
              <a:off x="23797033" y="7363161"/>
              <a:ext cx="1260500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1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Supported.</a:t>
              </a:r>
              <a:endParaRPr lang="en-GB" sz="2400"/>
            </a:p>
          </p:txBody>
        </p:sp>
        <p:sp>
          <p:nvSpPr>
            <p:cNvPr id="292" name=" OCR restores most of the answer-quality loss" descr="t158">
              <a:extLst>
                <a:ext uri="{FF2B5EF4-FFF2-40B4-BE49-F238E27FC236}">
                  <ns2:creationId id="{53DC3758-B980-4C22-8350-85D20FBB3DF0}"/>
                </a:ext>
              </a:extLst>
            </p:cNvPr>
            <p:cNvSpPr>
              <a:spLocks noGrp="1"/>
            </p:cNvSpPr>
            <p:nvPr/>
          </p:nvSpPr>
          <p:spPr>
            <a:xfrm>
              <a:off x="25000736" y="7363161"/>
              <a:ext cx="4757170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 OCR restores most of the answer-quality loss</a:t>
              </a:r>
              <a:endParaRPr lang="en-GB" sz="2400"/>
            </a:p>
          </p:txBody>
        </p:sp>
        <p:sp>
          <p:nvSpPr>
            <p:cNvPr id="293" name="caused by removing the machine-readable text layer." descr="t159">
              <a:extLst>
                <a:ext uri="{FF2B5EF4-FFF2-40B4-BE49-F238E27FC236}">
                  <ns2:creationId id="{1C7806A9-5685-4F8E-931D-F8CC3B38BBFD}"/>
                </a:ext>
              </a:extLst>
            </p:cNvPr>
            <p:cNvSpPr>
              <a:spLocks noGrp="1"/>
            </p:cNvSpPr>
            <p:nvPr/>
          </p:nvSpPr>
          <p:spPr>
            <a:xfrm>
              <a:off x="21223421" y="7677538"/>
              <a:ext cx="5556359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caused by removing the machine-readable text layer.</a:t>
              </a:r>
              <a:endParaRPr lang="en-GB" sz="2400"/>
            </a:p>
          </p:txBody>
        </p:sp>
        <p:sp>
          <p:nvSpPr>
            <p:cNvPr id="294" name="H3 — Citation selection" descr="t160">
              <a:extLst>
                <a:ext uri="{FF2B5EF4-FFF2-40B4-BE49-F238E27FC236}">
                  <ns2:creationId id="{47FACAA7-42FF-4779-A86E-55999C622473}"/>
                </a:ext>
              </a:extLst>
            </p:cNvPr>
            <p:cNvSpPr>
              <a:spLocks noGrp="1"/>
            </p:cNvSpPr>
            <p:nvPr/>
          </p:nvSpPr>
          <p:spPr>
            <a:xfrm>
              <a:off x="21223421" y="8258549"/>
              <a:ext cx="2571144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1" i="0" spc="0" kern="0" dirty="0">
                  <a:solidFill>
                    <a:srgbClr val="073c64"/>
                  </a:solidFill>
                  <a:latin typeface="Barlow Condensed"/>
                  <a:ea typeface="Barlow Condensed"/>
                  <a:cs typeface="Barlow Condensed"/>
                </a:rPr>
                <a:t>H3 — Citation selection</a:t>
              </a:r>
              <a:endParaRPr lang="en-GB" sz="2400"/>
            </a:p>
          </p:txBody>
        </p:sp>
        <p:sp>
          <p:nvSpPr>
            <p:cNvPr id="295" name="Supported with a trade-off." descr="t161">
              <a:extLst>
                <a:ext uri="{FF2B5EF4-FFF2-40B4-BE49-F238E27FC236}">
                  <ns2:creationId id="{E5016A71-D2A6-4286-967C-20E4F0FA011A}"/>
                </a:ext>
              </a:extLst>
            </p:cNvPr>
            <p:cNvSpPr>
              <a:spLocks noGrp="1"/>
            </p:cNvSpPr>
            <p:nvPr/>
          </p:nvSpPr>
          <p:spPr>
            <a:xfrm>
              <a:off x="23893134" y="8258549"/>
              <a:ext cx="3065528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1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Supported with a trade-off.</a:t>
              </a:r>
              <a:endParaRPr lang="en-GB" sz="2400"/>
            </a:p>
          </p:txBody>
        </p:sp>
        <p:sp>
          <p:nvSpPr>
            <p:cNvPr id="296" name=" Precision rises from 27.1%" descr="t162">
              <a:extLst>
                <a:ext uri="{FF2B5EF4-FFF2-40B4-BE49-F238E27FC236}">
                  <ns2:creationId id="{DA487800-9931-4D8E-9FF2-E90AC759CB5F}"/>
                </a:ext>
              </a:extLst>
            </p:cNvPr>
            <p:cNvSpPr>
              <a:spLocks noGrp="1"/>
            </p:cNvSpPr>
            <p:nvPr/>
          </p:nvSpPr>
          <p:spPr>
            <a:xfrm>
              <a:off x="26901772" y="8258549"/>
              <a:ext cx="2858266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 Precision rises from 27.1%</a:t>
              </a:r>
              <a:endParaRPr lang="en-GB" sz="2400"/>
            </a:p>
          </p:txBody>
        </p:sp>
        <p:sp>
          <p:nvSpPr>
            <p:cNvPr id="297" name="to 61.8%, while recall decreases moderately from 78.9% to 74.7%." descr="t163">
              <a:extLst>
                <a:ext uri="{FF2B5EF4-FFF2-40B4-BE49-F238E27FC236}">
                  <ns2:creationId id="{36750378-C1A9-4702-98AC-8106959E40A2}"/>
                </a:ext>
              </a:extLst>
            </p:cNvPr>
            <p:cNvSpPr>
              <a:spLocks noGrp="1"/>
            </p:cNvSpPr>
            <p:nvPr/>
          </p:nvSpPr>
          <p:spPr>
            <a:xfrm>
              <a:off x="21223421" y="8582247"/>
              <a:ext cx="6884067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to 61.8%, while recall decreases moderately from 78.9% to 74.7%.</a:t>
              </a:r>
              <a:endParaRPr lang="en-GB" sz="2400"/>
            </a:p>
          </p:txBody>
        </p:sp>
      </p:grpSp>
      <p:grpSp>
        <p:nvGrpSpPr>
          <p:cNvPr id="537" name="11. Conclusion and takeaways"/>
          <p:cNvGrpSpPr/>
          <p:nvPr/>
        </p:nvGrpSpPr>
        <p:grpSpPr>
          <a:xfrm>
            <a:off x="20975241" y="9241631"/>
            <a:ext cx="9012734" cy="6221909"/>
            <a:chOff x="20975241" y="9241631"/>
            <a:chExt cx="9012734" cy="6221909"/>
          </a:xfrm>
        </p:grpSpPr>
        <p:sp>
          <p:nvSpPr>
            <p:cNvPr id="55" name="Panel H2" descr="s54">
              <a:extLst>
                <a:ext uri="{FF2B5EF4-FFF2-40B4-BE49-F238E27FC236}">
                  <ns2:creationId id="{D91F9D23-3B31-4882-8AC7-F7B57E8B8B93}"/>
                </a:ext>
              </a:extLst>
            </p:cNvPr>
            <p:cNvSpPr>
              <a:spLocks noGrp="1"/>
            </p:cNvSpPr>
            <p:nvPr/>
          </p:nvSpPr>
          <p:spPr>
            <a:xfrm>
              <a:off x="20975241" y="9241631"/>
              <a:ext cx="9012734" cy="517327"/>
            </a:xfrm>
            <a:custGeom>
              <a:avLst/>
              <a:gdLst/>
              <a:ahLst/>
              <a:cxnLst/>
              <a:rect l="0" t="0" r="r" b="b"/>
              <a:pathLst>
                <a:path w="946219" h="54312">
                  <a:moveTo>
                    <a:pt x="6000" y="0"/>
                  </a:moveTo>
                  <a:lnTo>
                    <a:pt x="940219" y="0"/>
                  </a:lnTo>
                  <a:cubicBezTo>
                    <a:pt x="943532" y="0"/>
                    <a:pt x="946219" y="2686"/>
                    <a:pt x="946219" y="6000"/>
                  </a:cubicBezTo>
                  <a:lnTo>
                    <a:pt x="946219" y="54312"/>
                  </a:lnTo>
                  <a:cubicBezTo>
                    <a:pt x="946219" y="54312"/>
                    <a:pt x="946219" y="54312"/>
                    <a:pt x="946219" y="54312"/>
                  </a:cubicBezTo>
                  <a:lnTo>
                    <a:pt x="0" y="54312"/>
                  </a:lnTo>
                  <a:cubicBezTo>
                    <a:pt x="0" y="54312"/>
                    <a:pt x="0" y="54312"/>
                    <a:pt x="0" y="54312"/>
                  </a:cubicBezTo>
                  <a:lnTo>
                    <a:pt x="0" y="6000"/>
                  </a:lnTo>
                  <a:cubicBezTo>
                    <a:pt x="0" y="2686"/>
                    <a:pt x="2686" y="0"/>
                    <a:pt x="6000" y="0"/>
                  </a:cubicBezTo>
                  <a:close/>
                </a:path>
              </a:pathLst>
            </a:custGeom>
            <a:gradFill>
              <a:gsLst>
                <a:gs pos="0">
                  <a:srgbClr val="056097"/>
                </a:gs>
                <a:gs pos="100000">
                  <a:srgbClr val="0071AE"/>
                </a:gs>
              </a:gsLst>
              <a:lin ang="0"/>
            </a:gradFill>
            <a:ln w="0">
              <a:noFill/>
            </a:ln>
          </p:spPr>
        </p:sp>
        <p:sp>
          <p:nvSpPr>
            <p:cNvPr id="56" name="Panel content" descr="s55">
              <a:extLst>
                <a:ext uri="{FF2B5EF4-FFF2-40B4-BE49-F238E27FC236}">
                  <ns2:creationId id="{C6CBF5E1-1596-4CF4-A634-9E1C0EEF7AF3}"/>
                </a:ext>
              </a:extLst>
            </p:cNvPr>
            <p:cNvSpPr>
              <a:spLocks noGrp="1"/>
            </p:cNvSpPr>
            <p:nvPr/>
          </p:nvSpPr>
          <p:spPr>
            <a:xfrm>
              <a:off x="20975241" y="9758958"/>
              <a:ext cx="9012734" cy="5704582"/>
            </a:xfrm>
            <a:custGeom>
              <a:avLst/>
              <a:gdLst/>
              <a:ahLst/>
              <a:cxnLst/>
              <a:rect l="0" t="0" r="r" b="b"/>
              <a:pathLst>
                <a:path w="946219" h="598906">
                  <a:moveTo>
                    <a:pt x="0" y="0"/>
                  </a:moveTo>
                  <a:lnTo>
                    <a:pt x="946219" y="0"/>
                  </a:lnTo>
                  <a:cubicBezTo>
                    <a:pt x="946219" y="0"/>
                    <a:pt x="946219" y="0"/>
                    <a:pt x="946219" y="0"/>
                  </a:cubicBezTo>
                  <a:lnTo>
                    <a:pt x="946219" y="589906"/>
                  </a:lnTo>
                  <a:cubicBezTo>
                    <a:pt x="946219" y="594877"/>
                    <a:pt x="942189" y="598906"/>
                    <a:pt x="937219" y="598906"/>
                  </a:cubicBezTo>
                  <a:lnTo>
                    <a:pt x="9000" y="598906"/>
                  </a:lnTo>
                  <a:cubicBezTo>
                    <a:pt x="4029" y="598906"/>
                    <a:pt x="0" y="594877"/>
                    <a:pt x="0" y="589906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2F8FC"/>
            </a:solidFill>
            <a:ln w="9525">
              <a:solidFill>
                <a:srgbClr val="D9E9F1"/>
              </a:solidFill>
            </a:ln>
          </p:spPr>
        </p:sp>
        <p:sp>
          <p:nvSpPr>
            <p:cNvPr id="57" name="Panel main-takeaway" descr="s56">
              <a:extLst>
                <a:ext uri="{FF2B5EF4-FFF2-40B4-BE49-F238E27FC236}">
                  <ns2:creationId id="{DCFFB352-4A25-423C-9C55-ABA686299973}"/>
                </a:ext>
              </a:extLst>
            </p:cNvPr>
            <p:cNvSpPr>
              <a:spLocks noGrp="1"/>
            </p:cNvSpPr>
            <p:nvPr/>
          </p:nvSpPr>
          <p:spPr>
            <a:xfrm>
              <a:off x="21137166" y="9854208"/>
              <a:ext cx="8688884" cy="1866602"/>
            </a:xfrm>
            <a:custGeom>
              <a:avLst/>
              <a:gdLst/>
              <a:ahLst/>
              <a:cxnLst/>
              <a:rect l="0" t="0" r="r" b="b"/>
              <a:pathLst>
                <a:path w="912219" h="195969">
                  <a:moveTo>
                    <a:pt x="8000" y="0"/>
                  </a:moveTo>
                  <a:lnTo>
                    <a:pt x="904219" y="0"/>
                  </a:lnTo>
                  <a:cubicBezTo>
                    <a:pt x="908637" y="0"/>
                    <a:pt x="912219" y="3582"/>
                    <a:pt x="912219" y="8000"/>
                  </a:cubicBezTo>
                  <a:lnTo>
                    <a:pt x="912219" y="187969"/>
                  </a:lnTo>
                  <a:cubicBezTo>
                    <a:pt x="912219" y="192387"/>
                    <a:pt x="908637" y="195969"/>
                    <a:pt x="904219" y="195969"/>
                  </a:cubicBezTo>
                  <a:lnTo>
                    <a:pt x="8000" y="195969"/>
                  </a:lnTo>
                  <a:cubicBezTo>
                    <a:pt x="3582" y="195969"/>
                    <a:pt x="0" y="192387"/>
                    <a:pt x="0" y="187969"/>
                  </a:cubicBezTo>
                  <a:lnTo>
                    <a:pt x="0" y="8000"/>
                  </a:lnTo>
                  <a:cubicBezTo>
                    <a:pt x="0" y="3582"/>
                    <a:pt x="3582" y="0"/>
                    <a:pt x="8000" y="0"/>
                  </a:cubicBezTo>
                  <a:close/>
                </a:path>
              </a:pathLst>
            </a:custGeom>
            <a:solidFill>
              <a:srgbClr val="075C91"/>
            </a:solidFill>
            <a:ln w="0">
              <a:noFill/>
            </a:ln>
          </p:spPr>
        </p:sp>
        <p:sp>
          <p:nvSpPr>
            <p:cNvPr id="58" name="Rule" descr="s57">
              <a:extLst>
                <a:ext uri="{FF2B5EF4-FFF2-40B4-BE49-F238E27FC236}">
                  <ns2:creationId id="{BBD764D5-D87E-4D3C-9440-6034B65B79BC}"/>
                </a:ext>
              </a:extLst>
            </p:cNvPr>
            <p:cNvSpPr>
              <a:spLocks noGrp="1"/>
            </p:cNvSpPr>
            <p:nvPr/>
          </p:nvSpPr>
          <p:spPr>
            <a:xfrm>
              <a:off x="21137166" y="14623554"/>
              <a:ext cx="8688884" cy="9525"/>
            </a:xfrm>
            <a:prstGeom prst="rect">
              <a:avLst/>
            </a:prstGeom>
            <a:solidFill>
              <a:srgbClr val="C8DCE7"/>
            </a:solidFill>
            <a:ln w="0">
              <a:noFill/>
            </a:ln>
          </p:spPr>
        </p:sp>
        <p:sp>
          <p:nvSpPr>
            <p:cNvPr id="298" name="11. Conclusion and takeaways" descr="t164">
              <a:extLst>
                <a:ext uri="{FF2B5EF4-FFF2-40B4-BE49-F238E27FC236}">
                  <ns2:creationId id="{F4818B04-D6F0-4956-8DBC-FC80EE249CA8}"/>
                </a:ext>
              </a:extLst>
            </p:cNvPr>
            <p:cNvSpPr>
              <a:spLocks noGrp="1"/>
            </p:cNvSpPr>
            <p:nvPr/>
          </p:nvSpPr>
          <p:spPr>
            <a:xfrm>
              <a:off x="21108943" y="9283661"/>
              <a:ext cx="3915346" cy="46478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800" b="1" i="0" spc="0" kern="0" dirty="0">
                  <a:solidFill>
                    <a:srgbClr val="ffffff"/>
                  </a:solidFill>
                  <a:latin typeface="Barlow Condensed"/>
                  <a:ea typeface="Barlow Condensed"/>
                  <a:cs typeface="Barlow Condensed"/>
                </a:rPr>
                <a:t>11. Conclusion and takeaways</a:t>
              </a:r>
              <a:endParaRPr lang="en-GB" sz="2800"/>
            </a:p>
          </p:txBody>
        </p:sp>
        <p:sp>
          <p:nvSpPr>
            <p:cNvPr id="299" name="Legal RAG should be designed as a multi-stage pipeline: OCR improves" descr="t165">
              <a:extLst>
                <a:ext uri="{FF2B5EF4-FFF2-40B4-BE49-F238E27FC236}">
                  <ns2:creationId id="{FDE83B51-1754-42B7-8D7C-7412C3EDC597}"/>
                </a:ext>
              </a:extLst>
            </p:cNvPr>
            <p:cNvSpPr>
              <a:spLocks noGrp="1"/>
            </p:cNvSpPr>
            <p:nvPr/>
          </p:nvSpPr>
          <p:spPr>
            <a:xfrm>
              <a:off x="21270437" y="9963537"/>
              <a:ext cx="7296169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ffffff"/>
                  </a:solidFill>
                  <a:latin typeface="Barlow Condensed"/>
                  <a:ea typeface="Barlow Condensed"/>
                  <a:cs typeface="Barlow Condensed"/>
                </a:rPr>
                <a:t>Legal RAG should be designed as a multi-stage pipeline: OCR improves</a:t>
              </a:r>
              <a:endParaRPr lang="en-GB" sz="2400"/>
            </a:p>
          </p:txBody>
        </p:sp>
        <p:sp>
          <p:nvSpPr>
            <p:cNvPr id="300" name="robustness to unreadable PDFs, hybrid retrieval and reranking improve " descr="t166">
              <a:extLst>
                <a:ext uri="{FF2B5EF4-FFF2-40B4-BE49-F238E27FC236}">
                  <ns2:creationId id="{34500D83-FF37-4A39-9388-7CB6CF6ECFCB}"/>
                </a:ext>
              </a:extLst>
            </p:cNvPr>
            <p:cNvSpPr>
              <a:spLocks noGrp="1"/>
            </p:cNvSpPr>
            <p:nvPr/>
          </p:nvSpPr>
          <p:spPr>
            <a:xfrm>
              <a:off x="21270437" y="10277544"/>
              <a:ext cx="8149310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ffffff"/>
                  </a:solidFill>
                  <a:latin typeface="Barlow Condensed"/>
                  <a:ea typeface="Barlow Condensed"/>
                  <a:cs typeface="Barlow Condensed"/>
                </a:rPr>
                <a:t>robustness to unreadable PDFs, hybrid retrieval and reranking improve answer</a:t>
              </a:r>
              <a:endParaRPr lang="en-GB" sz="2400"/>
            </a:p>
          </p:txBody>
        </p:sp>
        <p:sp>
          <p:nvSpPr>
            <p:cNvPr id="301" name="quality, and post-answer citation selection improves citation precisio" descr="t167">
              <a:extLst>
                <a:ext uri="{FF2B5EF4-FFF2-40B4-BE49-F238E27FC236}">
                  <ns2:creationId id="{F36933D4-27B4-4DEA-BE76-77151C2D1BA9}"/>
                </a:ext>
              </a:extLst>
            </p:cNvPr>
            <p:cNvSpPr>
              <a:spLocks noGrp="1"/>
            </p:cNvSpPr>
            <p:nvPr/>
          </p:nvSpPr>
          <p:spPr>
            <a:xfrm>
              <a:off x="21270792" y="10601598"/>
              <a:ext cx="8401062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ffffff"/>
                  </a:solidFill>
                  <a:latin typeface="Barlow Condensed"/>
                  <a:ea typeface="Barlow Condensed"/>
                  <a:cs typeface="Barlow Condensed"/>
                </a:rPr>
                <a:t>quality, and post-answer citation selection improves citation precision. However,</a:t>
              </a:r>
              <a:endParaRPr lang="en-GB" sz="2400"/>
            </a:p>
          </p:txBody>
        </p:sp>
        <p:sp>
          <p:nvSpPr>
            <p:cNvPr id="302" name="citation selection introduces a precision–recall trade-off, so answer " descr="t168">
              <a:extLst>
                <a:ext uri="{FF2B5EF4-FFF2-40B4-BE49-F238E27FC236}">
                  <ns2:creationId id="{83C24129-AD9E-485C-BD41-ED8B2EC14A6B}"/>
                </a:ext>
              </a:extLst>
            </p:cNvPr>
            <p:cNvSpPr>
              <a:spLocks noGrp="1"/>
            </p:cNvSpPr>
            <p:nvPr/>
          </p:nvSpPr>
          <p:spPr>
            <a:xfrm>
              <a:off x="21270437" y="10915973"/>
              <a:ext cx="8278230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ffffff"/>
                  </a:solidFill>
                  <a:latin typeface="Barlow Condensed"/>
                  <a:ea typeface="Barlow Condensed"/>
                  <a:cs typeface="Barlow Condensed"/>
                </a:rPr>
                <a:t>citation selection introduces a precision–recall trade-off, so answer quality and</a:t>
              </a:r>
              <a:endParaRPr lang="en-GB" sz="2400"/>
            </a:p>
          </p:txBody>
        </p:sp>
        <p:sp>
          <p:nvSpPr>
            <p:cNvPr id="303" name="citation quality should be optimized and evaluated separately." descr="t169">
              <a:extLst>
                <a:ext uri="{FF2B5EF4-FFF2-40B4-BE49-F238E27FC236}">
                  <ns2:creationId id="{9FA88BDF-A46E-4632-9FE9-542FC7C49873}"/>
                </a:ext>
              </a:extLst>
            </p:cNvPr>
            <p:cNvSpPr>
              <a:spLocks noGrp="1"/>
            </p:cNvSpPr>
            <p:nvPr/>
          </p:nvSpPr>
          <p:spPr>
            <a:xfrm>
              <a:off x="21270792" y="11239671"/>
              <a:ext cx="6464058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ffffff"/>
                  </a:solidFill>
                  <a:latin typeface="Barlow Condensed"/>
                  <a:ea typeface="Barlow Condensed"/>
                  <a:cs typeface="Barlow Condensed"/>
                </a:rPr>
                <a:t>citation quality should be optimized and evaluated separately.</a:t>
              </a:r>
              <a:endParaRPr lang="en-GB" sz="2400"/>
            </a:p>
          </p:txBody>
        </p:sp>
        <p:sp>
          <p:nvSpPr>
            <p:cNvPr id="304" name="1 · Ensure document robustness" descr="t170">
              <a:extLst>
                <a:ext uri="{FF2B5EF4-FFF2-40B4-BE49-F238E27FC236}">
                  <ns2:creationId id="{C17BAA0B-607B-41A3-9FE9-9A383D672380}"/>
                </a:ext>
              </a:extLst>
            </p:cNvPr>
            <p:cNvSpPr>
              <a:spLocks noGrp="1"/>
            </p:cNvSpPr>
            <p:nvPr/>
          </p:nvSpPr>
          <p:spPr>
            <a:xfrm>
              <a:off x="21137290" y="11792337"/>
              <a:ext cx="3554115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1" i="0" spc="0" kern="0" dirty="0">
                  <a:solidFill>
                    <a:srgbClr val="073c64"/>
                  </a:solidFill>
                  <a:latin typeface="Barlow Condensed"/>
                  <a:ea typeface="Barlow Condensed"/>
                  <a:cs typeface="Barlow Condensed"/>
                </a:rPr>
                <a:t>1 · Ensure document robustness</a:t>
              </a:r>
              <a:endParaRPr lang="en-GB" sz="2400"/>
            </a:p>
          </p:txBody>
        </p:sp>
        <p:sp>
          <p:nvSpPr>
            <p:cNvPr id="305" name=" OCR provides robustness when machine-" descr="t171">
              <a:extLst>
                <a:ext uri="{FF2B5EF4-FFF2-40B4-BE49-F238E27FC236}">
                  <ns2:creationId id="{B49A8276-20CA-43C0-AC6D-8FA8952493F3}"/>
                </a:ext>
              </a:extLst>
            </p:cNvPr>
            <p:cNvSpPr>
              <a:spLocks noGrp="1"/>
            </p:cNvSpPr>
            <p:nvPr/>
          </p:nvSpPr>
          <p:spPr>
            <a:xfrm>
              <a:off x="24710763" y="11792337"/>
              <a:ext cx="4337217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 OCR provides robustness when machine-</a:t>
              </a:r>
              <a:endParaRPr lang="en-GB" sz="2400"/>
            </a:p>
          </p:txBody>
        </p:sp>
        <p:sp>
          <p:nvSpPr>
            <p:cNvPr id="306" name="readable text is unavailable. It recovered most of the performance los" descr="t172">
              <a:extLst>
                <a:ext uri="{FF2B5EF4-FFF2-40B4-BE49-F238E27FC236}">
                  <ns2:creationId id="{394CB051-3B46-4B48-A36D-1A4BE9D23E02}"/>
                </a:ext>
              </a:extLst>
            </p:cNvPr>
            <p:cNvSpPr>
              <a:spLocks noGrp="1"/>
            </p:cNvSpPr>
            <p:nvPr/>
          </p:nvSpPr>
          <p:spPr>
            <a:xfrm>
              <a:off x="21137290" y="12106344"/>
              <a:ext cx="8549801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readable text is unavailable. It recovered most of the performance loss introduced</a:t>
              </a:r>
              <a:endParaRPr lang="en-GB" sz="2400"/>
            </a:p>
          </p:txBody>
        </p:sp>
        <p:sp>
          <p:nvSpPr>
            <p:cNvPr id="307" name="by synthetic scans." descr="t173">
              <a:extLst>
                <a:ext uri="{FF2B5EF4-FFF2-40B4-BE49-F238E27FC236}">
                  <ns2:creationId id="{B1E359DF-7F17-426E-9E8E-351F646CC01E}"/>
                </a:ext>
              </a:extLst>
            </p:cNvPr>
            <p:cNvSpPr>
              <a:spLocks noGrp="1"/>
            </p:cNvSpPr>
            <p:nvPr/>
          </p:nvSpPr>
          <p:spPr>
            <a:xfrm>
              <a:off x="21137645" y="12430398"/>
              <a:ext cx="2036220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by synthetic scans.</a:t>
              </a:r>
              <a:endParaRPr lang="en-GB" sz="2400"/>
            </a:p>
          </p:txBody>
        </p:sp>
        <p:sp>
          <p:nvSpPr>
            <p:cNvPr id="308" name="2 · Optimize retrieval" descr="t174">
              <a:extLst>
                <a:ext uri="{FF2B5EF4-FFF2-40B4-BE49-F238E27FC236}">
                  <ns2:creationId id="{10CFD1E0-8A4F-4F87-ADCF-C23C6C1EDC8A}"/>
                </a:ext>
              </a:extLst>
            </p:cNvPr>
            <p:cNvSpPr>
              <a:spLocks noGrp="1"/>
            </p:cNvSpPr>
            <p:nvPr/>
          </p:nvSpPr>
          <p:spPr>
            <a:xfrm>
              <a:off x="21137645" y="12820859"/>
              <a:ext cx="2337053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1" i="0" spc="0" kern="0" dirty="0">
                  <a:solidFill>
                    <a:srgbClr val="073c64"/>
                  </a:solidFill>
                  <a:latin typeface="Barlow Condensed"/>
                  <a:ea typeface="Barlow Condensed"/>
                  <a:cs typeface="Barlow Condensed"/>
                </a:rPr>
                <a:t>2 · Optimize retrieval</a:t>
              </a:r>
              <a:endParaRPr lang="en-GB" sz="2400"/>
            </a:p>
          </p:txBody>
        </p:sp>
        <p:sp>
          <p:nvSpPr>
            <p:cNvPr id="309" name=" Hybrid retrieval and reranking produced the largest" descr="t175">
              <a:extLst>
                <a:ext uri="{FF2B5EF4-FFF2-40B4-BE49-F238E27FC236}">
                  <ns2:creationId id="{C4373D66-19A2-4488-A56E-15B167AD8EF2}"/>
                </a:ext>
              </a:extLst>
            </p:cNvPr>
            <p:cNvSpPr>
              <a:spLocks noGrp="1"/>
            </p:cNvSpPr>
            <p:nvPr/>
          </p:nvSpPr>
          <p:spPr>
            <a:xfrm>
              <a:off x="23493984" y="12820859"/>
              <a:ext cx="5419263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 Hybrid retrieval and reranking produced the largest</a:t>
              </a:r>
              <a:endParaRPr lang="en-GB" sz="2400"/>
            </a:p>
          </p:txBody>
        </p:sp>
        <p:sp>
          <p:nvSpPr>
            <p:cNvPr id="310" name="observed gains in answer quality. Additional representation complexity" descr="t176">
              <a:extLst>
                <a:ext uri="{FF2B5EF4-FFF2-40B4-BE49-F238E27FC236}">
                  <ns2:creationId id="{2647602D-1C13-446F-8F48-BE9226422C92}"/>
                </a:ext>
              </a:extLst>
            </p:cNvPr>
            <p:cNvSpPr>
              <a:spLocks noGrp="1"/>
            </p:cNvSpPr>
            <p:nvPr/>
          </p:nvSpPr>
          <p:spPr>
            <a:xfrm>
              <a:off x="21137290" y="13144556"/>
              <a:ext cx="8150823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observed gains in answer quality. Additional representation complexity did not</a:t>
              </a:r>
              <a:endParaRPr lang="en-GB" sz="2400"/>
            </a:p>
          </p:txBody>
        </p:sp>
        <p:sp>
          <p:nvSpPr>
            <p:cNvPr id="311" name="consistently improve performance." descr="t177">
              <a:extLst>
                <a:ext uri="{FF2B5EF4-FFF2-40B4-BE49-F238E27FC236}">
                  <ns2:creationId id="{2B28DCE7-1441-4F23-A2C4-B06C0F459A51}"/>
                </a:ext>
              </a:extLst>
            </p:cNvPr>
            <p:cNvSpPr>
              <a:spLocks noGrp="1"/>
            </p:cNvSpPr>
            <p:nvPr/>
          </p:nvSpPr>
          <p:spPr>
            <a:xfrm>
              <a:off x="21137290" y="13468610"/>
              <a:ext cx="3669342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consistently improve performance.</a:t>
              </a:r>
              <a:endParaRPr lang="en-GB" sz="2400"/>
            </a:p>
          </p:txBody>
        </p:sp>
        <p:sp>
          <p:nvSpPr>
            <p:cNvPr id="312" name="3 · Optimize citations separately" descr="t178">
              <a:extLst>
                <a:ext uri="{FF2B5EF4-FFF2-40B4-BE49-F238E27FC236}">
                  <ns2:creationId id="{AEE9E768-D2E2-4002-8877-336710543E42}"/>
                </a:ext>
              </a:extLst>
            </p:cNvPr>
            <p:cNvSpPr>
              <a:spLocks noGrp="1"/>
            </p:cNvSpPr>
            <p:nvPr/>
          </p:nvSpPr>
          <p:spPr>
            <a:xfrm>
              <a:off x="21137290" y="13859058"/>
              <a:ext cx="3611731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1" i="0" spc="0" kern="0" dirty="0">
                  <a:solidFill>
                    <a:srgbClr val="073c64"/>
                  </a:solidFill>
                  <a:latin typeface="Barlow Condensed"/>
                  <a:ea typeface="Barlow Condensed"/>
                  <a:cs typeface="Barlow Condensed"/>
                </a:rPr>
                <a:t>3 · Optimize citations separately</a:t>
              </a:r>
              <a:endParaRPr lang="en-GB" sz="2400"/>
            </a:p>
          </p:txBody>
        </p:sp>
        <p:sp>
          <p:nvSpPr>
            <p:cNvPr id="313" name=" Post-answer citation selection substantially" descr="t179">
              <a:extLst>
                <a:ext uri="{FF2B5EF4-FFF2-40B4-BE49-F238E27FC236}">
                  <ns2:creationId id="{3D947704-6DB4-4594-9F36-A1A9A9A723B7}"/>
                </a:ext>
              </a:extLst>
            </p:cNvPr>
            <p:cNvSpPr>
              <a:spLocks noGrp="1"/>
            </p:cNvSpPr>
            <p:nvPr/>
          </p:nvSpPr>
          <p:spPr>
            <a:xfrm>
              <a:off x="24767994" y="13859058"/>
              <a:ext cx="4648107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 Post-answer citation selection substantially</a:t>
              </a:r>
              <a:endParaRPr lang="en-GB" sz="2400"/>
            </a:p>
          </p:txBody>
        </p:sp>
        <p:sp>
          <p:nvSpPr>
            <p:cNvPr id="314" name="increased precision, with a small reduction in recall." descr="t180">
              <a:extLst>
                <a:ext uri="{FF2B5EF4-FFF2-40B4-BE49-F238E27FC236}">
                  <ns2:creationId id="{6C098B37-71BF-4B4C-8786-4DD9CA4E1E23}"/>
                </a:ext>
              </a:extLst>
            </p:cNvPr>
            <p:cNvSpPr>
              <a:spLocks noGrp="1"/>
            </p:cNvSpPr>
            <p:nvPr/>
          </p:nvSpPr>
          <p:spPr>
            <a:xfrm>
              <a:off x="21137645" y="14183125"/>
              <a:ext cx="5443283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increased precision, with a small reduction in recall.</a:t>
              </a:r>
              <a:endParaRPr lang="en-GB" sz="2400"/>
            </a:p>
          </p:txBody>
        </p:sp>
        <p:sp>
          <p:nvSpPr>
            <p:cNvPr id="315" name="Unexpected outcome:" descr="t181">
              <a:extLst>
                <a:ext uri="{FF2B5EF4-FFF2-40B4-BE49-F238E27FC236}">
                  <ns2:creationId id="{14F4EF93-F52E-43D1-8162-C5AF77614681}"/>
                </a:ext>
              </a:extLst>
            </p:cNvPr>
            <p:cNvSpPr>
              <a:spLocks noGrp="1"/>
            </p:cNvSpPr>
            <p:nvPr/>
          </p:nvSpPr>
          <p:spPr>
            <a:xfrm>
              <a:off x="21137645" y="14697385"/>
              <a:ext cx="2473297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1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Unexpected outcome:</a:t>
              </a:r>
              <a:endParaRPr lang="en-GB" sz="2400"/>
            </a:p>
          </p:txBody>
        </p:sp>
        <p:sp>
          <p:nvSpPr>
            <p:cNvPr id="316" name=" Multi-scale representations did not improve performance; Q" descr="t182">
              <a:extLst>
                <a:ext uri="{FF2B5EF4-FFF2-40B4-BE49-F238E27FC236}">
                  <ns2:creationId id="{4D0AAF5E-BFF8-4689-8543-7C6166461B6C}"/>
                </a:ext>
              </a:extLst>
            </p:cNvPr>
            <p:cNvSpPr>
              <a:spLocks noGrp="1"/>
            </p:cNvSpPr>
            <p:nvPr/>
          </p:nvSpPr>
          <p:spPr>
            <a:xfrm>
              <a:off x="23553401" y="14697385"/>
              <a:ext cx="6285139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 Multi-scale representations did not improve performance; Q</a:t>
              </a:r>
              <a:endParaRPr lang="en-GB" sz="2400"/>
            </a:p>
          </p:txBody>
        </p:sp>
        <p:sp>
          <p:nvSpPr>
            <p:cNvPr id="317" name="decreased from 63.2% to 49.8% after R2." descr="t183">
              <a:extLst>
                <a:ext uri="{FF2B5EF4-FFF2-40B4-BE49-F238E27FC236}">
                  <ns2:creationId id="{C572DBAB-3687-4B2F-804F-EB6D65B42945}"/>
                </a:ext>
              </a:extLst>
            </p:cNvPr>
            <p:cNvSpPr>
              <a:spLocks noGrp="1"/>
            </p:cNvSpPr>
            <p:nvPr/>
          </p:nvSpPr>
          <p:spPr>
            <a:xfrm>
              <a:off x="21137290" y="15021083"/>
              <a:ext cx="4367944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decreased from 63.2% to 49.8% after R2.</a:t>
              </a:r>
              <a:endParaRPr lang="en-GB" sz="2400"/>
            </a:p>
          </p:txBody>
        </p:sp>
      </p:grpSp>
      <p:grpSp>
        <p:nvGrpSpPr>
          <p:cNvPr id="536" name="12. Limitations"/>
          <p:cNvGrpSpPr/>
          <p:nvPr/>
        </p:nvGrpSpPr>
        <p:grpSpPr>
          <a:xfrm>
            <a:off x="20975241" y="15559534"/>
            <a:ext cx="9012734" cy="1366838"/>
            <a:chOff x="20975241" y="15559534"/>
            <a:chExt cx="9012734" cy="1366838"/>
          </a:xfrm>
        </p:grpSpPr>
        <p:sp>
          <p:nvSpPr>
            <p:cNvPr id="59" name="Panel H2" descr="s58">
              <a:extLst>
                <a:ext uri="{FF2B5EF4-FFF2-40B4-BE49-F238E27FC236}">
                  <ns2:creationId id="{42023CE8-1038-4AA0-8CE6-A807C4C97215}"/>
                </a:ext>
              </a:extLst>
            </p:cNvPr>
            <p:cNvSpPr>
              <a:spLocks noGrp="1"/>
            </p:cNvSpPr>
            <p:nvPr/>
          </p:nvSpPr>
          <p:spPr>
            <a:xfrm>
              <a:off x="20975241" y="15559534"/>
              <a:ext cx="9012734" cy="517327"/>
            </a:xfrm>
            <a:custGeom>
              <a:avLst/>
              <a:gdLst/>
              <a:ahLst/>
              <a:cxnLst/>
              <a:rect l="0" t="0" r="r" b="b"/>
              <a:pathLst>
                <a:path w="946219" h="54312">
                  <a:moveTo>
                    <a:pt x="6000" y="0"/>
                  </a:moveTo>
                  <a:lnTo>
                    <a:pt x="940219" y="0"/>
                  </a:lnTo>
                  <a:cubicBezTo>
                    <a:pt x="943532" y="0"/>
                    <a:pt x="946219" y="2686"/>
                    <a:pt x="946219" y="6000"/>
                  </a:cubicBezTo>
                  <a:lnTo>
                    <a:pt x="946219" y="54312"/>
                  </a:lnTo>
                  <a:cubicBezTo>
                    <a:pt x="946219" y="54312"/>
                    <a:pt x="946219" y="54312"/>
                    <a:pt x="946219" y="54312"/>
                  </a:cubicBezTo>
                  <a:lnTo>
                    <a:pt x="0" y="54312"/>
                  </a:lnTo>
                  <a:cubicBezTo>
                    <a:pt x="0" y="54312"/>
                    <a:pt x="0" y="54312"/>
                    <a:pt x="0" y="54312"/>
                  </a:cubicBezTo>
                  <a:lnTo>
                    <a:pt x="0" y="6000"/>
                  </a:lnTo>
                  <a:cubicBezTo>
                    <a:pt x="0" y="2686"/>
                    <a:pt x="2686" y="0"/>
                    <a:pt x="6000" y="0"/>
                  </a:cubicBezTo>
                  <a:close/>
                </a:path>
              </a:pathLst>
            </a:custGeom>
            <a:gradFill>
              <a:gsLst>
                <a:gs pos="0">
                  <a:srgbClr val="056097"/>
                </a:gs>
                <a:gs pos="100000">
                  <a:srgbClr val="0071AE"/>
                </a:gs>
              </a:gsLst>
              <a:lin ang="0"/>
            </a:gradFill>
            <a:ln w="0">
              <a:noFill/>
            </a:ln>
          </p:spPr>
        </p:sp>
        <p:sp>
          <p:nvSpPr>
            <p:cNvPr id="60" name="Panel content" descr="s59">
              <a:extLst>
                <a:ext uri="{FF2B5EF4-FFF2-40B4-BE49-F238E27FC236}">
                  <ns2:creationId id="{1F9D4052-D0E8-4706-BD6E-11393C46D8E0}"/>
                </a:ext>
              </a:extLst>
            </p:cNvPr>
            <p:cNvSpPr>
              <a:spLocks noGrp="1"/>
            </p:cNvSpPr>
            <p:nvPr/>
          </p:nvSpPr>
          <p:spPr>
            <a:xfrm>
              <a:off x="20975241" y="16076861"/>
              <a:ext cx="9012734" cy="849511"/>
            </a:xfrm>
            <a:custGeom>
              <a:avLst/>
              <a:gdLst/>
              <a:ahLst/>
              <a:cxnLst/>
              <a:rect l="0" t="0" r="r" b="b"/>
              <a:pathLst>
                <a:path w="946219" h="89188">
                  <a:moveTo>
                    <a:pt x="0" y="0"/>
                  </a:moveTo>
                  <a:lnTo>
                    <a:pt x="946219" y="0"/>
                  </a:lnTo>
                  <a:cubicBezTo>
                    <a:pt x="946219" y="0"/>
                    <a:pt x="946219" y="0"/>
                    <a:pt x="946219" y="0"/>
                  </a:cubicBezTo>
                  <a:lnTo>
                    <a:pt x="946219" y="80188"/>
                  </a:lnTo>
                  <a:cubicBezTo>
                    <a:pt x="946219" y="85158"/>
                    <a:pt x="942189" y="89188"/>
                    <a:pt x="937219" y="89188"/>
                  </a:cubicBezTo>
                  <a:lnTo>
                    <a:pt x="9000" y="89188"/>
                  </a:lnTo>
                  <a:cubicBezTo>
                    <a:pt x="4029" y="89188"/>
                    <a:pt x="0" y="85158"/>
                    <a:pt x="0" y="80188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2F8FC"/>
            </a:solidFill>
            <a:ln w="9525">
              <a:solidFill>
                <a:srgbClr val="D9E9F1"/>
              </a:solidFill>
            </a:ln>
          </p:spPr>
        </p:sp>
        <p:sp>
          <p:nvSpPr>
            <p:cNvPr id="318" name="12. Limitations" descr="t184">
              <a:extLst>
                <a:ext uri="{FF2B5EF4-FFF2-40B4-BE49-F238E27FC236}">
                  <ns2:creationId id="{0D29FB2E-A504-4E99-B11F-9BA5B7F2FC3C}"/>
                </a:ext>
              </a:extLst>
            </p:cNvPr>
            <p:cNvSpPr>
              <a:spLocks noGrp="1"/>
            </p:cNvSpPr>
            <p:nvPr/>
          </p:nvSpPr>
          <p:spPr>
            <a:xfrm>
              <a:off x="21108588" y="15608387"/>
              <a:ext cx="2005505" cy="46478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800" b="1" i="0" spc="0" kern="0" dirty="0">
                  <a:solidFill>
                    <a:srgbClr val="ffffff"/>
                  </a:solidFill>
                  <a:latin typeface="Barlow Condensed"/>
                  <a:ea typeface="Barlow Condensed"/>
                  <a:cs typeface="Barlow Condensed"/>
                </a:rPr>
                <a:t>12. Limitations</a:t>
              </a:r>
              <a:endParaRPr lang="en-GB" sz="2800"/>
            </a:p>
          </p:txBody>
        </p:sp>
        <p:sp>
          <p:nvSpPr>
            <p:cNvPr id="319" name="one DIFC corpus and 100 questions; one run per condition with no signi" descr="t185">
              <a:extLst>
                <a:ext uri="{FF2B5EF4-FFF2-40B4-BE49-F238E27FC236}">
                  <ns2:creationId id="{00B79AD4-6A67-4A5E-8FE7-804ACA39B168}"/>
                </a:ext>
              </a:extLst>
            </p:cNvPr>
            <p:cNvSpPr>
              <a:spLocks noGrp="1"/>
            </p:cNvSpPr>
            <p:nvPr/>
          </p:nvSpPr>
          <p:spPr>
            <a:xfrm>
              <a:off x="21137290" y="16154749"/>
              <a:ext cx="8157831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one DIFC corpus and 100 questions; one run per condition with no significance</a:t>
              </a:r>
              <a:endParaRPr lang="en-GB" sz="2400"/>
            </a:p>
          </p:txBody>
        </p:sp>
        <p:sp>
          <p:nvSpPr>
            <p:cNvPr id="320" name="testing; LLM-based evaluation of free-text answers." descr="t186">
              <a:extLst>
                <a:ext uri="{FF2B5EF4-FFF2-40B4-BE49-F238E27FC236}">
                  <ns2:creationId id="{976A31AB-C5BE-4C5A-BDD4-30C3A48E01D5}"/>
                </a:ext>
              </a:extLst>
            </p:cNvPr>
            <p:cNvSpPr>
              <a:spLocks noGrp="1"/>
            </p:cNvSpPr>
            <p:nvPr/>
          </p:nvSpPr>
          <p:spPr>
            <a:xfrm>
              <a:off x="21137645" y="16469125"/>
              <a:ext cx="5375616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testing; LLM-based evaluation of free-text answers.</a:t>
              </a:r>
              <a:endParaRPr lang="en-GB" sz="2400"/>
            </a:p>
          </p:txBody>
        </p:sp>
      </p:grpSp>
      <p:grpSp>
        <p:nvGrpSpPr>
          <p:cNvPr id="535" name="13. References"/>
          <p:cNvGrpSpPr/>
          <p:nvPr/>
        </p:nvGrpSpPr>
        <p:grpSpPr>
          <a:xfrm>
            <a:off x="20975241" y="17022366"/>
            <a:ext cx="9012734" cy="4073575"/>
            <a:chOff x="20975241" y="17022366"/>
            <a:chExt cx="9012734" cy="4073575"/>
          </a:xfrm>
        </p:grpSpPr>
        <p:sp>
          <p:nvSpPr>
            <p:cNvPr id="61" name="Panel H2" descr="s60">
              <a:extLst>
                <a:ext uri="{FF2B5EF4-FFF2-40B4-BE49-F238E27FC236}">
                  <ns2:creationId id="{16CE1C3B-7758-4B55-8C5B-1E9AF609D1B0}"/>
                </a:ext>
              </a:extLst>
            </p:cNvPr>
            <p:cNvSpPr>
              <a:spLocks noGrp="1"/>
            </p:cNvSpPr>
            <p:nvPr/>
          </p:nvSpPr>
          <p:spPr>
            <a:xfrm>
              <a:off x="20975241" y="17022366"/>
              <a:ext cx="9012734" cy="462409"/>
            </a:xfrm>
            <a:custGeom>
              <a:avLst/>
              <a:gdLst/>
              <a:ahLst/>
              <a:cxnLst/>
              <a:rect l="0" t="0" r="r" b="b"/>
              <a:pathLst>
                <a:path w="946219" h="48547">
                  <a:moveTo>
                    <a:pt x="6000" y="0"/>
                  </a:moveTo>
                  <a:lnTo>
                    <a:pt x="940219" y="0"/>
                  </a:lnTo>
                  <a:cubicBezTo>
                    <a:pt x="943532" y="0"/>
                    <a:pt x="946219" y="2686"/>
                    <a:pt x="946219" y="6000"/>
                  </a:cubicBezTo>
                  <a:lnTo>
                    <a:pt x="946219" y="48547"/>
                  </a:lnTo>
                  <a:cubicBezTo>
                    <a:pt x="946219" y="48547"/>
                    <a:pt x="946219" y="48547"/>
                    <a:pt x="946219" y="48547"/>
                  </a:cubicBezTo>
                  <a:lnTo>
                    <a:pt x="0" y="48547"/>
                  </a:lnTo>
                  <a:cubicBezTo>
                    <a:pt x="0" y="48547"/>
                    <a:pt x="0" y="48547"/>
                    <a:pt x="0" y="48547"/>
                  </a:cubicBezTo>
                  <a:lnTo>
                    <a:pt x="0" y="6000"/>
                  </a:lnTo>
                  <a:cubicBezTo>
                    <a:pt x="0" y="2686"/>
                    <a:pt x="2686" y="0"/>
                    <a:pt x="6000" y="0"/>
                  </a:cubicBezTo>
                  <a:close/>
                </a:path>
              </a:pathLst>
            </a:custGeom>
            <a:gradFill>
              <a:gsLst>
                <a:gs pos="0">
                  <a:srgbClr val="056097"/>
                </a:gs>
                <a:gs pos="100000">
                  <a:srgbClr val="0071AE"/>
                </a:gs>
              </a:gsLst>
              <a:lin ang="0"/>
            </a:gradFill>
            <a:ln w="0">
              <a:noFill/>
            </a:ln>
          </p:spPr>
        </p:sp>
        <p:sp>
          <p:nvSpPr>
            <p:cNvPr id="62" name="Panel content" descr="s61">
              <a:extLst>
                <a:ext uri="{FF2B5EF4-FFF2-40B4-BE49-F238E27FC236}">
                  <ns2:creationId id="{980ABD42-76EC-4126-AF72-93162F8AEB53}"/>
                </a:ext>
              </a:extLst>
            </p:cNvPr>
            <p:cNvSpPr>
              <a:spLocks noGrp="1"/>
            </p:cNvSpPr>
            <p:nvPr/>
          </p:nvSpPr>
          <p:spPr>
            <a:xfrm>
              <a:off x="20975241" y="17484775"/>
              <a:ext cx="9012734" cy="3611166"/>
            </a:xfrm>
            <a:custGeom>
              <a:avLst/>
              <a:gdLst/>
              <a:ahLst/>
              <a:cxnLst/>
              <a:rect l="0" t="0" r="r" b="b"/>
              <a:pathLst>
                <a:path w="946219" h="379125">
                  <a:moveTo>
                    <a:pt x="0" y="0"/>
                  </a:moveTo>
                  <a:lnTo>
                    <a:pt x="946219" y="0"/>
                  </a:lnTo>
                  <a:cubicBezTo>
                    <a:pt x="946219" y="0"/>
                    <a:pt x="946219" y="0"/>
                    <a:pt x="946219" y="0"/>
                  </a:cubicBezTo>
                  <a:lnTo>
                    <a:pt x="946219" y="370125"/>
                  </a:lnTo>
                  <a:cubicBezTo>
                    <a:pt x="946219" y="375096"/>
                    <a:pt x="942189" y="379125"/>
                    <a:pt x="937219" y="379125"/>
                  </a:cubicBezTo>
                  <a:lnTo>
                    <a:pt x="9000" y="379125"/>
                  </a:lnTo>
                  <a:cubicBezTo>
                    <a:pt x="4029" y="379125"/>
                    <a:pt x="0" y="375096"/>
                    <a:pt x="0" y="370125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8FBFD"/>
            </a:solidFill>
            <a:ln w="9525">
              <a:solidFill>
                <a:srgbClr val="D9E9F1"/>
              </a:solidFill>
            </a:ln>
          </p:spPr>
        </p:sp>
        <p:sp>
          <p:nvSpPr>
            <p:cNvPr id="63" name="Rule" descr="s62">
              <a:extLst>
                <a:ext uri="{FF2B5EF4-FFF2-40B4-BE49-F238E27FC236}">
                  <ns2:creationId id="{3F0EB1A4-2A8E-4981-84F6-64482F4DAB74}"/>
                </a:ext>
              </a:extLst>
            </p:cNvPr>
            <p:cNvSpPr>
              <a:spLocks noGrp="1"/>
            </p:cNvSpPr>
            <p:nvPr/>
          </p:nvSpPr>
          <p:spPr>
            <a:xfrm>
              <a:off x="21099066" y="20265479"/>
              <a:ext cx="8765084" cy="9525"/>
            </a:xfrm>
            <a:prstGeom prst="rect">
              <a:avLst/>
            </a:prstGeom>
            <a:solidFill>
              <a:srgbClr val="C8DCE7"/>
            </a:solidFill>
            <a:ln w="0">
              <a:noFill/>
            </a:ln>
          </p:spPr>
        </p:sp>
        <p:sp>
          <p:nvSpPr>
            <p:cNvPr id="321" name="13. References" descr="t187">
              <a:extLst>
                <a:ext uri="{FF2B5EF4-FFF2-40B4-BE49-F238E27FC236}">
                  <ns2:creationId id="{5D3EB9D9-0271-47C0-8D07-C89B8AAA284A}"/>
                </a:ext>
              </a:extLst>
            </p:cNvPr>
            <p:cNvSpPr>
              <a:spLocks noGrp="1"/>
            </p:cNvSpPr>
            <p:nvPr/>
          </p:nvSpPr>
          <p:spPr>
            <a:xfrm>
              <a:off x="21108588" y="17069149"/>
              <a:ext cx="1746399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1" i="0" spc="0" kern="0" dirty="0">
                  <a:solidFill>
                    <a:srgbClr val="ffffff"/>
                  </a:solidFill>
                  <a:latin typeface="Barlow Condensed"/>
                  <a:ea typeface="Barlow Condensed"/>
                  <a:cs typeface="Barlow Condensed"/>
                </a:rPr>
                <a:t>13. References</a:t>
              </a:r>
              <a:endParaRPr lang="en-GB" sz="2400"/>
            </a:p>
          </p:txBody>
        </p:sp>
        <p:sp>
          <p:nvSpPr>
            <p:cNvPr id="322" name="1. Lewis, P., Perez, E., Piktus, A., Petroni, F., Karpukhin, V., Goyal" descr="t188">
              <a:extLst>
                <a:ext uri="{FF2B5EF4-FFF2-40B4-BE49-F238E27FC236}">
                  <ns2:creationId id="{E2B606A6-5485-47BC-8B96-76023758B99A}"/>
                </a:ext>
              </a:extLst>
            </p:cNvPr>
            <p:cNvSpPr>
              <a:spLocks noGrp="1"/>
            </p:cNvSpPr>
            <p:nvPr/>
          </p:nvSpPr>
          <p:spPr>
            <a:xfrm>
              <a:off x="21236829" y="17570563"/>
              <a:ext cx="8580927" cy="28190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16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1. Lewis, P., Perez, E., Piktus, A., Petroni, F., Karpukhin, V., Goyal, N., ... &amp; Kiela, D. (2020). Retrieval-augmented generation for</a:t>
              </a:r>
              <a:endParaRPr lang="en-GB" sz="1600"/>
            </a:p>
          </p:txBody>
        </p:sp>
        <p:sp>
          <p:nvSpPr>
            <p:cNvPr id="323" name="knowledge-intensive nlp tasks. Advances in neural information processi" descr="t189">
              <a:extLst>
                <a:ext uri="{FF2B5EF4-FFF2-40B4-BE49-F238E27FC236}">
                  <ns2:creationId id="{BF7FAD7B-D5F4-41AA-9FEC-739897DEDE0D}"/>
                </a:ext>
              </a:extLst>
            </p:cNvPr>
            <p:cNvSpPr>
              <a:spLocks noGrp="1"/>
            </p:cNvSpPr>
            <p:nvPr/>
          </p:nvSpPr>
          <p:spPr>
            <a:xfrm>
              <a:off x="21442332" y="17770449"/>
              <a:ext cx="6844450" cy="28190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16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knowledge-intensive nlp tasks. Advances in neural information processing systems, 33, 9459-9474.</a:t>
              </a:r>
              <a:endParaRPr lang="en-GB" sz="1600"/>
            </a:p>
          </p:txBody>
        </p:sp>
        <p:sp>
          <p:nvSpPr>
            <p:cNvPr id="324" name="2. Pipitone, Nicholas, and Ghita Houir Alami. &quot;Legalbench-rag: A bench" descr="t190">
              <a:extLst>
                <a:ext uri="{FF2B5EF4-FFF2-40B4-BE49-F238E27FC236}">
                  <ns2:creationId id="{CC2A6095-4EDE-4A6C-8CE7-9B22E7D83B26}"/>
                </a:ext>
              </a:extLst>
            </p:cNvPr>
            <p:cNvSpPr>
              <a:spLocks noGrp="1"/>
            </p:cNvSpPr>
            <p:nvPr/>
          </p:nvSpPr>
          <p:spPr>
            <a:xfrm>
              <a:off x="21236829" y="17999049"/>
              <a:ext cx="8529944" cy="28190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16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2. Pipitone, Nicholas, and Ghita Houir Alami. "Legalbench-rag: A benchmark for retrieval-augmented generation in the legal</a:t>
              </a:r>
              <a:endParaRPr lang="en-GB" sz="1600"/>
            </a:p>
          </p:txBody>
        </p:sp>
        <p:sp>
          <p:nvSpPr>
            <p:cNvPr id="325" name="domain.&quot; arXiv preprint arXiv:2408.10343 (2024)." descr="t191">
              <a:extLst>
                <a:ext uri="{FF2B5EF4-FFF2-40B4-BE49-F238E27FC236}">
                  <ns2:creationId id="{443F57DB-9F23-40B9-9F0B-47C9A1395ABF}"/>
                </a:ext>
              </a:extLst>
            </p:cNvPr>
            <p:cNvSpPr>
              <a:spLocks noGrp="1"/>
            </p:cNvSpPr>
            <p:nvPr/>
          </p:nvSpPr>
          <p:spPr>
            <a:xfrm>
              <a:off x="21442332" y="18208636"/>
              <a:ext cx="3357958" cy="28190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16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domain." arXiv preprint arXiv:2408.10343 (2024).</a:t>
              </a:r>
              <a:endParaRPr lang="en-GB" sz="1600"/>
            </a:p>
          </p:txBody>
        </p:sp>
        <p:sp>
          <p:nvSpPr>
            <p:cNvPr id="326" name="3. Gokhan, T., &amp; Briscoe, T. (2025, November). Grounded Answers from M" descr="t192">
              <a:extLst>
                <a:ext uri="{FF2B5EF4-FFF2-40B4-BE49-F238E27FC236}">
                  <ns2:creationId id="{C8CC2096-3BB7-4F12-995F-5931787EF367}"/>
                </a:ext>
              </a:extLst>
            </p:cNvPr>
            <p:cNvSpPr>
              <a:spLocks noGrp="1"/>
            </p:cNvSpPr>
            <p:nvPr/>
          </p:nvSpPr>
          <p:spPr>
            <a:xfrm>
              <a:off x="21236829" y="18437236"/>
              <a:ext cx="8250402" cy="28190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16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3. Gokhan, T., &amp; Briscoe, T. (2025, November). Grounded Answers from Multi-Passage Regulations: Learning-to-Rank for</a:t>
              </a:r>
              <a:endParaRPr lang="en-GB" sz="1600"/>
            </a:p>
          </p:txBody>
        </p:sp>
        <p:sp>
          <p:nvSpPr>
            <p:cNvPr id="327" name="Regulatory RAG. In Proceedings of the Natural Legal Language Processin" descr="t193">
              <a:extLst>
                <a:ext uri="{FF2B5EF4-FFF2-40B4-BE49-F238E27FC236}">
                  <ns2:creationId id="{F3A090B7-2F49-46ED-B688-522F90ABC94F}"/>
                </a:ext>
              </a:extLst>
            </p:cNvPr>
            <p:cNvSpPr>
              <a:spLocks noGrp="1"/>
            </p:cNvSpPr>
            <p:nvPr/>
          </p:nvSpPr>
          <p:spPr>
            <a:xfrm>
              <a:off x="21441975" y="18637490"/>
              <a:ext cx="7124799" cy="28190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16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Regulatory RAG. In Proceedings of the Natural Legal Language Processing Workshop 2025 (pp. 135-146).</a:t>
              </a:r>
              <a:endParaRPr lang="en-GB" sz="1600"/>
            </a:p>
          </p:txBody>
        </p:sp>
        <p:sp>
          <p:nvSpPr>
            <p:cNvPr id="328" name="4. Butler, A. R., &amp; Butler, U. (2026). Legal RAG Bench: an end-to-end " descr="t194">
              <a:extLst>
                <a:ext uri="{FF2B5EF4-FFF2-40B4-BE49-F238E27FC236}">
                  <ns2:creationId id="{06C9652E-85CA-45CD-8768-8BE98F29268C}"/>
                </a:ext>
              </a:extLst>
            </p:cNvPr>
            <p:cNvSpPr>
              <a:spLocks noGrp="1"/>
            </p:cNvSpPr>
            <p:nvPr/>
          </p:nvSpPr>
          <p:spPr>
            <a:xfrm>
              <a:off x="21236474" y="18875412"/>
              <a:ext cx="8603059" cy="28190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16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4. Butler, A. R., &amp; Butler, U. (2026). Legal RAG Bench: an end-to-end benchmark for legal RAG. arXiv preprint arXiv:2603.01710.</a:t>
              </a:r>
              <a:endParaRPr lang="en-GB" sz="1600"/>
            </a:p>
          </p:txBody>
        </p:sp>
        <p:sp>
          <p:nvSpPr>
            <p:cNvPr id="329" name="5. Trautmann, D., Ostapuk, N., Grail, Q., Pol, A., Bonifazi, G., Gao, " descr="t195">
              <a:extLst>
                <a:ext uri="{FF2B5EF4-FFF2-40B4-BE49-F238E27FC236}">
                  <ns2:creationId id="{58321AA9-8B06-4B2E-92B2-0890294F11B7}"/>
                </a:ext>
              </a:extLst>
            </p:cNvPr>
            <p:cNvSpPr>
              <a:spLocks noGrp="1"/>
            </p:cNvSpPr>
            <p:nvPr/>
          </p:nvSpPr>
          <p:spPr>
            <a:xfrm>
              <a:off x="21236829" y="19104012"/>
              <a:ext cx="8659344" cy="28190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16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5. Trautmann, D., Ostapuk, N., Grail, Q., Pol, A., Bonifazi, G., Gao, S., &amp; Gajek, M. (2024, November). Measuring the groundedness</a:t>
              </a:r>
              <a:endParaRPr lang="en-GB" sz="1600"/>
            </a:p>
          </p:txBody>
        </p:sp>
        <p:sp>
          <p:nvSpPr>
            <p:cNvPr id="330" name="of legal question-answering systems. In Proceedings of the Natural Leg" descr="t196">
              <a:extLst>
                <a:ext uri="{FF2B5EF4-FFF2-40B4-BE49-F238E27FC236}">
                  <ns2:creationId id="{845832F2-4FF2-4C63-AB33-716EC8E2EA45}"/>
                </a:ext>
              </a:extLst>
            </p:cNvPr>
            <p:cNvSpPr>
              <a:spLocks noGrp="1"/>
            </p:cNvSpPr>
            <p:nvPr/>
          </p:nvSpPr>
          <p:spPr>
            <a:xfrm>
              <a:off x="21442332" y="19304265"/>
              <a:ext cx="8297385" cy="28190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16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of legal question-answering systems. In Proceedings of the Natural Legal Language Processing Workshop 2024 (pp. 176-</a:t>
              </a:r>
              <a:endParaRPr lang="en-GB" sz="1600"/>
            </a:p>
          </p:txBody>
        </p:sp>
        <p:sp>
          <p:nvSpPr>
            <p:cNvPr id="331" name="186)." descr="t197">
              <a:extLst>
                <a:ext uri="{FF2B5EF4-FFF2-40B4-BE49-F238E27FC236}">
                  <ns2:creationId id="{27135F4D-545B-437B-A977-C2C4BF507147}"/>
                </a:ext>
              </a:extLst>
            </p:cNvPr>
            <p:cNvSpPr>
              <a:spLocks noGrp="1"/>
            </p:cNvSpPr>
            <p:nvPr/>
          </p:nvSpPr>
          <p:spPr>
            <a:xfrm>
              <a:off x="21441975" y="19513841"/>
              <a:ext cx="361880" cy="28190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16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186).</a:t>
              </a:r>
              <a:endParaRPr lang="en-GB" sz="1600"/>
            </a:p>
          </p:txBody>
        </p:sp>
        <p:sp>
          <p:nvSpPr>
            <p:cNvPr id="332" name="6. Gao, T., Yen, H., Yu, J., &amp; Chen, D. (2023, December). Enabling lar" descr="t198">
              <a:extLst>
                <a:ext uri="{FF2B5EF4-FFF2-40B4-BE49-F238E27FC236}">
                  <ns2:creationId id="{A52F8A0A-8BED-41A0-95BC-78402351ECC2}"/>
                </a:ext>
              </a:extLst>
            </p:cNvPr>
            <p:cNvSpPr>
              <a:spLocks noGrp="1"/>
            </p:cNvSpPr>
            <p:nvPr/>
          </p:nvSpPr>
          <p:spPr>
            <a:xfrm>
              <a:off x="21236474" y="19742441"/>
              <a:ext cx="8307682" cy="28190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16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6. Gao, T., Yen, H., Yu, J., &amp; Chen, D. (2023, December). Enabling large language models to generate text with citations. In</a:t>
              </a:r>
              <a:endParaRPr lang="en-GB" sz="1600"/>
            </a:p>
          </p:txBody>
        </p:sp>
        <p:sp>
          <p:nvSpPr>
            <p:cNvPr id="333" name="Proceedings of the 2023 Conference on Empirical Methods in Natural Lan" descr="t199">
              <a:extLst>
                <a:ext uri="{FF2B5EF4-FFF2-40B4-BE49-F238E27FC236}">
                  <ns2:creationId id="{71F6654C-DA7C-412D-A2ED-DD22D1C7F6B7}"/>
                </a:ext>
              </a:extLst>
            </p:cNvPr>
            <p:cNvSpPr>
              <a:spLocks noGrp="1"/>
            </p:cNvSpPr>
            <p:nvPr/>
          </p:nvSpPr>
          <p:spPr>
            <a:xfrm>
              <a:off x="21441975" y="19942339"/>
              <a:ext cx="7459393" cy="28190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16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Proceedings of the 2023 Conference on Empirical Methods in Natural Language Processing (pp. 6465-6488).</a:t>
              </a:r>
              <a:endParaRPr lang="en-GB" sz="1600"/>
            </a:p>
          </p:txBody>
        </p:sp>
        <p:sp>
          <p:nvSpPr>
            <p:cNvPr id="334" name="Code, protocol &amp; results" descr="t200">
              <a:extLst>
                <a:ext uri="{FF2B5EF4-FFF2-40B4-BE49-F238E27FC236}">
                  <ns2:creationId id="{DCAB6D59-186A-4078-AA3A-2035709021B2}"/>
                </a:ext>
              </a:extLst>
            </p:cNvPr>
            <p:cNvSpPr>
              <a:spLocks noGrp="1"/>
            </p:cNvSpPr>
            <p:nvPr/>
          </p:nvSpPr>
          <p:spPr>
            <a:xfrm>
              <a:off x="21098897" y="20326610"/>
              <a:ext cx="2721406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1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Code, protocol &amp; results</a:t>
              </a:r>
              <a:endParaRPr lang="en-GB" sz="2400"/>
            </a:p>
          </p:txBody>
        </p:sp>
        <p:sp>
          <p:nvSpPr>
            <p:cNvPr id="335" name="github.com/SteinVR/Trends-in-NLP-Poster" descr="t201">
              <a:extLst>
                <a:ext uri="{FF2B5EF4-FFF2-40B4-BE49-F238E27FC236}">
                  <ns2:creationId id="{6377A29B-1AC5-413F-9673-A60D4A6B6032}"/>
                </a:ext>
              </a:extLst>
            </p:cNvPr>
            <p:cNvSpPr>
              <a:spLocks noGrp="1"/>
            </p:cNvSpPr>
            <p:nvPr/>
          </p:nvSpPr>
          <p:spPr>
            <a:xfrm>
              <a:off x="21098897" y="20640985"/>
              <a:ext cx="4470056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075a8b"/>
                  </a:solidFill>
                  <a:latin typeface="Barlow Condensed"/>
                  <a:ea typeface="Barlow Condensed"/>
                  <a:cs typeface="Barlow Condensed"/>
                </a:rPr>
                <a:t>github.com/SteinVR/Trends-in-NLP-Poster</a:t>
              </a:r>
              <a:endParaRPr lang="en-GB" sz="2400"/>
            </a:p>
          </p:txBody>
        </p:sp>
      </p:grpSp>
      <p:pic>
        <p:nvPicPr>
          <p:cNvPr id="534" name="Universität Trier" descr="s132"/>
          <p:cNvPicPr>
            <a:picLocks noChangeAspect="1"/>
          </p:cNvPicPr>
          <p:nvPr/>
        </p:nvPicPr>
        <p:blipFill>
          <a:blip r:embed="Rea475a0cb4b64a65">
            <a:extLst>
              <a:ext uri="{96DAC541-7B7A-43D3-8B79-37D633B846F1}">
                <ns4:svgBlip r:embed="Rf9eb3c8ec0254adf"/>
              </a:ext>
            </a:extLst>
          </a:blip>
          <a:stretch/>
        </p:blipFill>
        <p:spPr>
          <a:xfrm>
            <a:off x="27035224" y="287982"/>
            <a:ext cx="2857500" cy="720179"/>
          </a:xfrm>
          <a:prstGeom prst="rect">
            <a:avLst/>
          </a:prstGeom>
        </p:spPr>
      </p:pic>
      <p:sp>
        <p:nvSpPr>
          <p:cNvPr id="134" name="Building Legal RAG: what each component contributes" descr="t0">
            <a:extLst>
              <a:ext uri="{FF2B5EF4-FFF2-40B4-BE49-F238E27FC236}">
                <ns2:creationId id="{B0D202B7-B56A-4653-863E-52844A9C3D8C}"/>
              </a:ext>
            </a:extLst>
          </p:cNvPr>
          <p:cNvSpPr>
            <a:spLocks noGrp="1"/>
          </p:cNvSpPr>
          <p:nvPr/>
        </p:nvSpPr>
        <p:spPr>
          <a:xfrm>
            <a:off x="383064" y="228796"/>
            <a:ext cx="18019103" cy="972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spcBef>
                <a:spcPts val="0"/>
              </a:spcBef>
              <a:spcAft>
                <a:spcPts val="0"/>
              </a:spcAft>
            </a:pPr>
            <a:r>
              <a:rPr lang="en-GB" sz="5400" b="1" i="0" spc="-98" kern="0" dirty="0">
                <a:solidFill>
                  <a:srgbClr val="082b51"/>
                </a:solidFill>
                <a:latin typeface="Noto Sans"/>
                <a:ea typeface="Noto Sans"/>
                <a:cs typeface="Noto Sans"/>
              </a:rPr>
              <a:t>Building Legal RAG: what each component contributes</a:t>
            </a:r>
            <a:endParaRPr lang="en-GB" sz="5400"/>
          </a:p>
        </p:txBody>
      </p:sp>
    </p:spTree>
    <p:extLst>
      <p:ext uri="{BB962C8B-B14F-4D97-AF65-F5344CB8AC3E}">
        <ns5:creationId val="2599560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2026-09-28T23:12:59.8550000Z</dcterms:created>
  <dcterms:modified xsi:type="dcterms:W3CDTF">2026-09-28T23:12:59.8550000Z</dcterms:modified>
</coreProperties>
</file>